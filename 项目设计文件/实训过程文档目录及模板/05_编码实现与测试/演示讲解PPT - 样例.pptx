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93" r:id="rId2"/>
    <p:sldId id="276" r:id="rId3"/>
    <p:sldId id="277" r:id="rId4"/>
    <p:sldId id="257" r:id="rId5"/>
    <p:sldId id="258" r:id="rId6"/>
    <p:sldId id="300" r:id="rId7"/>
    <p:sldId id="301" r:id="rId8"/>
    <p:sldId id="259" r:id="rId9"/>
    <p:sldId id="289" r:id="rId10"/>
    <p:sldId id="309" r:id="rId11"/>
    <p:sldId id="263" r:id="rId12"/>
    <p:sldId id="260" r:id="rId13"/>
    <p:sldId id="305" r:id="rId14"/>
    <p:sldId id="264" r:id="rId15"/>
    <p:sldId id="268" r:id="rId16"/>
    <p:sldId id="302" r:id="rId17"/>
    <p:sldId id="307" r:id="rId18"/>
    <p:sldId id="308" r:id="rId19"/>
    <p:sldId id="261" r:id="rId20"/>
    <p:sldId id="269" r:id="rId21"/>
    <p:sldId id="274" r:id="rId22"/>
    <p:sldId id="275" r:id="rId23"/>
    <p:sldId id="288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0A83877-F7E7-4CE3-96D4-60F491128B07}">
          <p14:sldIdLst>
            <p14:sldId id="293"/>
            <p14:sldId id="276"/>
            <p14:sldId id="277"/>
            <p14:sldId id="257"/>
          </p14:sldIdLst>
        </p14:section>
        <p14:section name="1" id="{896A7D6F-E51A-43FD-B56B-21155766335D}">
          <p14:sldIdLst>
            <p14:sldId id="258"/>
            <p14:sldId id="300"/>
            <p14:sldId id="301"/>
          </p14:sldIdLst>
        </p14:section>
        <p14:section name="2" id="{73DEC150-2A3D-4EA5-8F7E-232B08D63CBF}">
          <p14:sldIdLst>
            <p14:sldId id="259"/>
            <p14:sldId id="289"/>
            <p14:sldId id="309"/>
            <p14:sldId id="263"/>
          </p14:sldIdLst>
        </p14:section>
        <p14:section name="3" id="{D23C75EA-2612-4E8B-B8AA-AD5467714412}">
          <p14:sldIdLst>
            <p14:sldId id="260"/>
            <p14:sldId id="305"/>
            <p14:sldId id="264"/>
            <p14:sldId id="268"/>
            <p14:sldId id="302"/>
            <p14:sldId id="307"/>
            <p14:sldId id="308"/>
            <p14:sldId id="261"/>
            <p14:sldId id="269"/>
            <p14:sldId id="274"/>
            <p14:sldId id="275"/>
          </p14:sldIdLst>
        </p14:section>
        <p14:section name="4" id="{BF67AB36-6939-4030-8157-43EDA6AF1CC3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pos="7015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  <p15:guide id="6" orient="horz" pos="913" userDrawn="1">
          <p15:clr>
            <a:srgbClr val="A4A3A4"/>
          </p15:clr>
        </p15:guide>
        <p15:guide id="7" pos="7242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2683" userDrawn="1">
          <p15:clr>
            <a:srgbClr val="A4A3A4"/>
          </p15:clr>
        </p15:guide>
        <p15:guide id="10" pos="3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ABE2"/>
    <a:srgbClr val="2D527B"/>
    <a:srgbClr val="73E14F"/>
    <a:srgbClr val="ED1E79"/>
    <a:srgbClr val="FBCB1D"/>
    <a:srgbClr val="5AD33E"/>
    <a:srgbClr val="3C85B9"/>
    <a:srgbClr val="1F203F"/>
    <a:srgbClr val="4DBEFE"/>
    <a:srgbClr val="60D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1" y="53"/>
      </p:cViewPr>
      <p:guideLst>
        <p:guide orient="horz" pos="2160"/>
        <p:guide pos="3840"/>
        <p:guide pos="665"/>
        <p:guide pos="7015"/>
        <p:guide orient="horz" pos="3861"/>
        <p:guide orient="horz" pos="913"/>
        <p:guide pos="7242"/>
        <p:guide pos="438"/>
        <p:guide pos="2683"/>
        <p:guide pos="397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26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100509338803633E-2"/>
          <c:y val="0.27980369291399759"/>
          <c:w val="0.72572403148034048"/>
          <c:h val="0.666199103190318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type 1</c:v>
                </c:pt>
                <c:pt idx="1">
                  <c:v>type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2.5</c:v>
                </c:pt>
                <c:pt idx="2">
                  <c:v>3.5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3D-45E9-BFB2-9E6FAF618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type 1</c:v>
                </c:pt>
                <c:pt idx="1">
                  <c:v>type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33D-45E9-BFB2-9E6FAF6187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type 1</c:v>
                </c:pt>
                <c:pt idx="1">
                  <c:v>type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E33D-45E9-BFB2-9E6FAF618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1626320"/>
        <c:axId val="1511611088"/>
      </c:barChart>
      <c:catAx>
        <c:axId val="1511626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11611088"/>
        <c:crosses val="autoZero"/>
        <c:auto val="1"/>
        <c:lblAlgn val="ctr"/>
        <c:lblOffset val="100"/>
        <c:noMultiLvlLbl val="0"/>
      </c:catAx>
      <c:valAx>
        <c:axId val="1511611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16263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76252661091461"/>
          <c:y val="3.3651753853853016E-2"/>
          <c:w val="0.88576455501329454"/>
          <c:h val="0.689318517207348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</c:v>
                </c:pt>
              </c:strCache>
            </c:strRef>
          </c:tx>
          <c:spPr>
            <a:ln w="28575" cap="rnd">
              <a:solidFill>
                <a:srgbClr val="4EC0FF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19050">
                <a:solidFill>
                  <a:srgbClr val="4EC0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等额本息</c:v>
                </c:pt>
                <c:pt idx="1">
                  <c:v>等额本金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1027.48</c:v>
                </c:pt>
                <c:pt idx="1">
                  <c:v>1027.3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C6-45CB-858F-BB01AE6111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ln w="31750" cap="rnd">
              <a:solidFill>
                <a:srgbClr val="ED1E7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19050">
                <a:solidFill>
                  <a:srgbClr val="ED1E7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等额本息</c:v>
                </c:pt>
                <c:pt idx="1">
                  <c:v>等额本金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1045.6300000000001</c:v>
                </c:pt>
                <c:pt idx="1">
                  <c:v>1045.1500000000001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C6-45CB-858F-BB01AE6111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</c:v>
                </c:pt>
              </c:strCache>
            </c:strRef>
          </c:tx>
          <c:spPr>
            <a:ln w="28575" cap="rnd">
              <a:solidFill>
                <a:srgbClr val="73E14F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19050">
                <a:solidFill>
                  <a:srgbClr val="73E14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等额本息</c:v>
                </c:pt>
                <c:pt idx="1">
                  <c:v>等额本金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1056.3800000000001</c:v>
                </c:pt>
                <c:pt idx="1">
                  <c:v>1055.6500000000001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C6-45CB-858F-BB01AE6111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等额本息</c:v>
                </c:pt>
                <c:pt idx="1">
                  <c:v>等额本金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1067.18</c:v>
                </c:pt>
                <c:pt idx="1">
                  <c:v>1066.1500000000001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66-44A6-A148-21FFFE884E2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1630672"/>
        <c:axId val="1510221648"/>
      </c:lineChart>
      <c:catAx>
        <c:axId val="1511630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10221648"/>
        <c:crosses val="autoZero"/>
        <c:auto val="1"/>
        <c:lblAlgn val="ctr"/>
        <c:lblOffset val="100"/>
        <c:noMultiLvlLbl val="0"/>
      </c:catAx>
      <c:valAx>
        <c:axId val="1510221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116306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AFC12-62F0-4630-9CEF-2006BBAEDA82}" type="datetimeFigureOut">
              <a:rPr lang="zh-CN" altLang="en-US" smtClean="0"/>
              <a:t>2023/8/11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212F6-E527-4D7B-AD99-BB9D70FAAA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23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212F6-E527-4D7B-AD99-BB9D70FAAA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68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46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6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97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1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29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01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083084" y="7397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prstClr val="white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83084" y="2400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  <a:endParaRPr lang="zh-CN" altLang="en-US" sz="4000" b="1" dirty="0">
              <a:solidFill>
                <a:prstClr val="white"/>
              </a:solidFill>
              <a:latin typeface="Arial" panose="020B0604020202020204" pitchFamily="34" charset="0"/>
              <a:ea typeface="经典行楷繁" panose="0201060900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" name="矩形 9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40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083084" y="7397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prstClr val="white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83084" y="2400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  <a:endParaRPr lang="zh-CN" altLang="en-US" sz="4000" b="1" dirty="0">
              <a:solidFill>
                <a:prstClr val="white"/>
              </a:solidFill>
              <a:latin typeface="Arial" panose="020B0604020202020204" pitchFamily="34" charset="0"/>
              <a:ea typeface="经典行楷繁" panose="0201060900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" name="矩形 9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22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083084" y="7397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prstClr val="white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83084" y="2400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  <a:endParaRPr lang="zh-CN" altLang="en-US" sz="4000" b="1" dirty="0">
              <a:solidFill>
                <a:prstClr val="white"/>
              </a:solidFill>
              <a:latin typeface="Arial" panose="020B0604020202020204" pitchFamily="34" charset="0"/>
              <a:ea typeface="经典行楷繁" panose="0201060900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" name="矩形 9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27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083084" y="7397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prstClr val="white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prstClr val="white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83084" y="2400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  <a:endParaRPr lang="zh-CN" altLang="en-US" sz="4000" b="1" dirty="0">
              <a:solidFill>
                <a:prstClr val="white"/>
              </a:solidFill>
              <a:latin typeface="Arial" panose="020B0604020202020204" pitchFamily="34" charset="0"/>
              <a:ea typeface="经典行楷繁" panose="0201060900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" name="矩形 9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415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56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1F203F"/>
              </a:gs>
              <a:gs pos="22000">
                <a:schemeClr val="bg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圆角矩形 16"/>
          <p:cNvSpPr/>
          <p:nvPr userDrawn="1"/>
        </p:nvSpPr>
        <p:spPr>
          <a:xfrm>
            <a:off x="11849597" y="6143612"/>
            <a:ext cx="26887" cy="720000"/>
          </a:xfrm>
          <a:prstGeom prst="roundRect">
            <a:avLst/>
          </a:prstGeom>
          <a:gradFill>
            <a:gsLst>
              <a:gs pos="0">
                <a:srgbClr val="FBCB1D"/>
              </a:gs>
              <a:gs pos="100000">
                <a:srgbClr val="1F203F"/>
              </a:gs>
              <a:gs pos="21000">
                <a:srgbClr val="FBCB1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1083084" y="7397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FBCB1D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srgbClr val="FBCB1D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srgbClr val="FBCB1D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srgbClr val="FBCB1D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083084" y="2400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FBCB1D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  <a:endParaRPr lang="zh-CN" altLang="en-US" sz="4000" b="1" dirty="0">
              <a:solidFill>
                <a:srgbClr val="FBCB1D"/>
              </a:solidFill>
              <a:latin typeface="Arial" panose="020B0604020202020204" pitchFamily="34" charset="0"/>
              <a:ea typeface="经典行楷繁" panose="0201060900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21" name="矩形 20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srgbClr val="FBCB1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5400" dirty="0">
                <a:solidFill>
                  <a:srgbClr val="FBCB1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rgbClr val="FBCB1D"/>
                  </a:gs>
                  <a:gs pos="34000">
                    <a:srgbClr val="FBCB1D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68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35484" y="8921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ED1E79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srgbClr val="ED1E79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srgbClr val="ED1E79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srgbClr val="ED1E79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235484" y="38607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ED1E79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492724" y="419101"/>
            <a:ext cx="828000" cy="946108"/>
            <a:chOff x="2599725" y="1526218"/>
            <a:chExt cx="1810839" cy="2069142"/>
          </a:xfrm>
        </p:grpSpPr>
        <p:sp>
          <p:nvSpPr>
            <p:cNvPr id="10" name="矩形 9"/>
            <p:cNvSpPr/>
            <p:nvPr/>
          </p:nvSpPr>
          <p:spPr>
            <a:xfrm>
              <a:off x="2948073" y="1526218"/>
              <a:ext cx="1159974" cy="20691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srgbClr val="ED1E7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5400" dirty="0">
                <a:solidFill>
                  <a:srgbClr val="ED1E7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99725" y="1655369"/>
              <a:ext cx="1810839" cy="1810839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rgbClr val="ED1E79"/>
                  </a:gs>
                  <a:gs pos="34000">
                    <a:srgbClr val="ED1E79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圆角矩形 11"/>
          <p:cNvSpPr/>
          <p:nvPr userDrawn="1"/>
        </p:nvSpPr>
        <p:spPr>
          <a:xfrm>
            <a:off x="12001997" y="6296012"/>
            <a:ext cx="26887" cy="720000"/>
          </a:xfrm>
          <a:prstGeom prst="roundRect">
            <a:avLst/>
          </a:prstGeom>
          <a:gradFill>
            <a:gsLst>
              <a:gs pos="0">
                <a:srgbClr val="ED1E79"/>
              </a:gs>
              <a:gs pos="100000">
                <a:srgbClr val="1F203F"/>
              </a:gs>
              <a:gs pos="21000">
                <a:srgbClr val="ED1E79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05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35484" y="8921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73E14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srgbClr val="73E14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srgbClr val="73E14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srgbClr val="73E14F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235484" y="38607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73E14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492724" y="419101"/>
            <a:ext cx="828000" cy="946108"/>
            <a:chOff x="2599725" y="1526218"/>
            <a:chExt cx="1810839" cy="2069142"/>
          </a:xfrm>
        </p:grpSpPr>
        <p:sp>
          <p:nvSpPr>
            <p:cNvPr id="10" name="矩形 9"/>
            <p:cNvSpPr/>
            <p:nvPr/>
          </p:nvSpPr>
          <p:spPr>
            <a:xfrm>
              <a:off x="2948073" y="1526218"/>
              <a:ext cx="1159974" cy="20691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srgbClr val="73E1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srgbClr val="73E1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99725" y="1655369"/>
              <a:ext cx="1810839" cy="1810839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rgbClr val="73E14F"/>
                  </a:gs>
                  <a:gs pos="34000">
                    <a:srgbClr val="73E14F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圆角矩形 11"/>
          <p:cNvSpPr/>
          <p:nvPr userDrawn="1"/>
        </p:nvSpPr>
        <p:spPr>
          <a:xfrm>
            <a:off x="12001997" y="6296012"/>
            <a:ext cx="26887" cy="720000"/>
          </a:xfrm>
          <a:prstGeom prst="roundRect">
            <a:avLst/>
          </a:prstGeom>
          <a:gradFill>
            <a:gsLst>
              <a:gs pos="0">
                <a:srgbClr val="73E14F"/>
              </a:gs>
              <a:gs pos="100000">
                <a:srgbClr val="1F203F"/>
              </a:gs>
              <a:gs pos="21000">
                <a:srgbClr val="73E14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50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35484" y="892155"/>
            <a:ext cx="4088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4EC0F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Report  </a:t>
            </a:r>
            <a:r>
              <a:rPr lang="en-US" altLang="zh-CN" sz="2400" i="1" dirty="0" err="1">
                <a:solidFill>
                  <a:srgbClr val="4EC0F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Powerpoint</a:t>
            </a:r>
            <a:r>
              <a:rPr lang="en-US" altLang="zh-CN" sz="2400" i="1" dirty="0">
                <a:solidFill>
                  <a:srgbClr val="4EC0FF"/>
                </a:solidFill>
                <a:latin typeface="FreesiaUPC" panose="020B0604020202020204" pitchFamily="34" charset="-34"/>
                <a:ea typeface="经典行楷繁" panose="02010609000101010101" pitchFamily="49" charset="-122"/>
                <a:cs typeface="FreesiaUPC" panose="020B0604020202020204" pitchFamily="34" charset="-34"/>
              </a:rPr>
              <a:t>  Presentation  Template </a:t>
            </a:r>
            <a:endParaRPr lang="zh-CN" altLang="en-US" sz="4000" i="1" dirty="0">
              <a:solidFill>
                <a:srgbClr val="4EC0FF"/>
              </a:solidFill>
              <a:latin typeface="Agency FB" panose="020B0503020202020204" pitchFamily="34" charset="0"/>
              <a:ea typeface="经典行楷繁" panose="02010609000101010101" pitchFamily="49" charset="-122"/>
              <a:cs typeface="经典行楷繁" panose="0201060900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235484" y="392429"/>
            <a:ext cx="4783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4EC0F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Add Your Title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492724" y="419101"/>
            <a:ext cx="828000" cy="946108"/>
            <a:chOff x="2599725" y="1526218"/>
            <a:chExt cx="1810839" cy="2069142"/>
          </a:xfrm>
        </p:grpSpPr>
        <p:sp>
          <p:nvSpPr>
            <p:cNvPr id="10" name="矩形 9"/>
            <p:cNvSpPr/>
            <p:nvPr/>
          </p:nvSpPr>
          <p:spPr>
            <a:xfrm>
              <a:off x="2948073" y="1526218"/>
              <a:ext cx="1159974" cy="20691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srgbClr val="4EC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5400" dirty="0">
                <a:solidFill>
                  <a:srgbClr val="4EC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3500000">
              <a:off x="2599725" y="1655369"/>
              <a:ext cx="1810839" cy="1810839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rgbClr val="4EC0FF"/>
                  </a:gs>
                  <a:gs pos="34000">
                    <a:srgbClr val="4EC0FF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圆角矩形 11"/>
          <p:cNvSpPr/>
          <p:nvPr userDrawn="1"/>
        </p:nvSpPr>
        <p:spPr>
          <a:xfrm>
            <a:off x="12001997" y="6296012"/>
            <a:ext cx="26887" cy="720000"/>
          </a:xfrm>
          <a:prstGeom prst="roundRect">
            <a:avLst/>
          </a:prstGeom>
          <a:gradFill>
            <a:gsLst>
              <a:gs pos="0">
                <a:srgbClr val="4EC0FF"/>
              </a:gs>
              <a:gs pos="100000">
                <a:srgbClr val="1F203F"/>
              </a:gs>
              <a:gs pos="21000">
                <a:srgbClr val="4EC0F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22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31600" y="1009400"/>
            <a:ext cx="6749059" cy="5335518"/>
          </a:xfrm>
          <a:custGeom>
            <a:avLst/>
            <a:gdLst>
              <a:gd name="connsiteX0" fmla="*/ 0 w 6749059"/>
              <a:gd name="connsiteY0" fmla="*/ 1 h 5335518"/>
              <a:gd name="connsiteX1" fmla="*/ 3644136 w 6749059"/>
              <a:gd name="connsiteY1" fmla="*/ 1 h 5335518"/>
              <a:gd name="connsiteX2" fmla="*/ 3644136 w 6749059"/>
              <a:gd name="connsiteY2" fmla="*/ 5335517 h 5335518"/>
              <a:gd name="connsiteX3" fmla="*/ 3644137 w 6749059"/>
              <a:gd name="connsiteY3" fmla="*/ 5335515 h 5335518"/>
              <a:gd name="connsiteX4" fmla="*/ 3644137 w 6749059"/>
              <a:gd name="connsiteY4" fmla="*/ 5335518 h 5335518"/>
              <a:gd name="connsiteX5" fmla="*/ 0 w 6749059"/>
              <a:gd name="connsiteY5" fmla="*/ 5335518 h 5335518"/>
              <a:gd name="connsiteX6" fmla="*/ 3644136 w 6749059"/>
              <a:gd name="connsiteY6" fmla="*/ 0 h 5335518"/>
              <a:gd name="connsiteX7" fmla="*/ 6749059 w 6749059"/>
              <a:gd name="connsiteY7" fmla="*/ 0 h 5335518"/>
              <a:gd name="connsiteX8" fmla="*/ 3644137 w 6749059"/>
              <a:gd name="connsiteY8" fmla="*/ 5335515 h 5335518"/>
              <a:gd name="connsiteX9" fmla="*/ 3644137 w 6749059"/>
              <a:gd name="connsiteY9" fmla="*/ 1 h 5335518"/>
              <a:gd name="connsiteX10" fmla="*/ 3644136 w 6749059"/>
              <a:gd name="connsiteY10" fmla="*/ 1 h 533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49059" h="5335518">
                <a:moveTo>
                  <a:pt x="0" y="1"/>
                </a:moveTo>
                <a:lnTo>
                  <a:pt x="3644136" y="1"/>
                </a:lnTo>
                <a:lnTo>
                  <a:pt x="3644136" y="5335517"/>
                </a:lnTo>
                <a:lnTo>
                  <a:pt x="3644137" y="5335515"/>
                </a:lnTo>
                <a:lnTo>
                  <a:pt x="3644137" y="5335518"/>
                </a:lnTo>
                <a:lnTo>
                  <a:pt x="0" y="5335518"/>
                </a:lnTo>
                <a:close/>
                <a:moveTo>
                  <a:pt x="3644136" y="0"/>
                </a:moveTo>
                <a:lnTo>
                  <a:pt x="6749059" y="0"/>
                </a:lnTo>
                <a:lnTo>
                  <a:pt x="3644137" y="5335515"/>
                </a:lnTo>
                <a:lnTo>
                  <a:pt x="3644137" y="1"/>
                </a:lnTo>
                <a:lnTo>
                  <a:pt x="3644136" y="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等腰三角形 8"/>
          <p:cNvSpPr/>
          <p:nvPr userDrawn="1"/>
        </p:nvSpPr>
        <p:spPr>
          <a:xfrm>
            <a:off x="3675887" y="1009402"/>
            <a:ext cx="3104923" cy="5335517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 useBgFill="1">
        <p:nvSpPr>
          <p:cNvPr id="10" name="等腰三角形 9"/>
          <p:cNvSpPr/>
          <p:nvPr userDrawn="1"/>
        </p:nvSpPr>
        <p:spPr>
          <a:xfrm>
            <a:off x="5283911" y="1009401"/>
            <a:ext cx="1496899" cy="5335517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28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>
            <a:off x="1326486" y="2247122"/>
            <a:ext cx="8655714" cy="1402860"/>
          </a:xfrm>
          <a:custGeom>
            <a:avLst/>
            <a:gdLst>
              <a:gd name="connsiteX0" fmla="*/ 7948605 w 8655714"/>
              <a:gd name="connsiteY0" fmla="*/ 529622 h 1402860"/>
              <a:gd name="connsiteX1" fmla="*/ 7742718 w 8655714"/>
              <a:gd name="connsiteY1" fmla="*/ 670192 h 1402860"/>
              <a:gd name="connsiteX2" fmla="*/ 8234003 w 8655714"/>
              <a:gd name="connsiteY2" fmla="*/ 657412 h 1402860"/>
              <a:gd name="connsiteX3" fmla="*/ 8103374 w 8655714"/>
              <a:gd name="connsiteY3" fmla="*/ 572220 h 1402860"/>
              <a:gd name="connsiteX4" fmla="*/ 8164429 w 8655714"/>
              <a:gd name="connsiteY4" fmla="*/ 529622 h 1402860"/>
              <a:gd name="connsiteX5" fmla="*/ 7536833 w 8655714"/>
              <a:gd name="connsiteY5" fmla="*/ 376272 h 1402860"/>
              <a:gd name="connsiteX6" fmla="*/ 8431371 w 8655714"/>
              <a:gd name="connsiteY6" fmla="*/ 376272 h 1402860"/>
              <a:gd name="connsiteX7" fmla="*/ 8431371 w 8655714"/>
              <a:gd name="connsiteY7" fmla="*/ 529622 h 1402860"/>
              <a:gd name="connsiteX8" fmla="*/ 8310678 w 8655714"/>
              <a:gd name="connsiteY8" fmla="*/ 529622 h 1402860"/>
              <a:gd name="connsiteX9" fmla="*/ 8638677 w 8655714"/>
              <a:gd name="connsiteY9" fmla="*/ 728408 h 1402860"/>
              <a:gd name="connsiteX10" fmla="*/ 8533602 w 8655714"/>
              <a:gd name="connsiteY10" fmla="*/ 860459 h 1402860"/>
              <a:gd name="connsiteX11" fmla="*/ 8441309 w 8655714"/>
              <a:gd name="connsiteY11" fmla="*/ 796564 h 1402860"/>
              <a:gd name="connsiteX12" fmla="*/ 8086335 w 8655714"/>
              <a:gd name="connsiteY12" fmla="*/ 806503 h 1402860"/>
              <a:gd name="connsiteX13" fmla="*/ 8086335 w 8655714"/>
              <a:gd name="connsiteY13" fmla="*/ 905896 h 1402860"/>
              <a:gd name="connsiteX14" fmla="*/ 8566262 w 8655714"/>
              <a:gd name="connsiteY14" fmla="*/ 905896 h 1402860"/>
              <a:gd name="connsiteX15" fmla="*/ 8566262 w 8655714"/>
              <a:gd name="connsiteY15" fmla="*/ 1079123 h 1402860"/>
              <a:gd name="connsiteX16" fmla="*/ 8086335 w 8655714"/>
              <a:gd name="connsiteY16" fmla="*/ 1079123 h 1402860"/>
              <a:gd name="connsiteX17" fmla="*/ 8086335 w 8655714"/>
              <a:gd name="connsiteY17" fmla="*/ 1175676 h 1402860"/>
              <a:gd name="connsiteX18" fmla="*/ 8655714 w 8655714"/>
              <a:gd name="connsiteY18" fmla="*/ 1175676 h 1402860"/>
              <a:gd name="connsiteX19" fmla="*/ 8655714 w 8655714"/>
              <a:gd name="connsiteY19" fmla="*/ 1354585 h 1402860"/>
              <a:gd name="connsiteX20" fmla="*/ 7313909 w 8655714"/>
              <a:gd name="connsiteY20" fmla="*/ 1354585 h 1402860"/>
              <a:gd name="connsiteX21" fmla="*/ 7313909 w 8655714"/>
              <a:gd name="connsiteY21" fmla="*/ 1175676 h 1402860"/>
              <a:gd name="connsiteX22" fmla="*/ 7880450 w 8655714"/>
              <a:gd name="connsiteY22" fmla="*/ 1175676 h 1402860"/>
              <a:gd name="connsiteX23" fmla="*/ 7880450 w 8655714"/>
              <a:gd name="connsiteY23" fmla="*/ 1079123 h 1402860"/>
              <a:gd name="connsiteX24" fmla="*/ 7401941 w 8655714"/>
              <a:gd name="connsiteY24" fmla="*/ 1079123 h 1402860"/>
              <a:gd name="connsiteX25" fmla="*/ 7401941 w 8655714"/>
              <a:gd name="connsiteY25" fmla="*/ 905896 h 1402860"/>
              <a:gd name="connsiteX26" fmla="*/ 7880450 w 8655714"/>
              <a:gd name="connsiteY26" fmla="*/ 905896 h 1402860"/>
              <a:gd name="connsiteX27" fmla="*/ 7880450 w 8655714"/>
              <a:gd name="connsiteY27" fmla="*/ 813603 h 1402860"/>
              <a:gd name="connsiteX28" fmla="*/ 7465837 w 8655714"/>
              <a:gd name="connsiteY28" fmla="*/ 837741 h 1402860"/>
              <a:gd name="connsiteX29" fmla="*/ 7399103 w 8655714"/>
              <a:gd name="connsiteY29" fmla="*/ 691491 h 1402860"/>
              <a:gd name="connsiteX30" fmla="*/ 7675984 w 8655714"/>
              <a:gd name="connsiteY30" fmla="*/ 529622 h 1402860"/>
              <a:gd name="connsiteX31" fmla="*/ 7536833 w 8655714"/>
              <a:gd name="connsiteY31" fmla="*/ 529622 h 1402860"/>
              <a:gd name="connsiteX32" fmla="*/ 48278 w 8655714"/>
              <a:gd name="connsiteY32" fmla="*/ 309538 h 1402860"/>
              <a:gd name="connsiteX33" fmla="*/ 550923 w 8655714"/>
              <a:gd name="connsiteY33" fmla="*/ 309538 h 1402860"/>
              <a:gd name="connsiteX34" fmla="*/ 550923 w 8655714"/>
              <a:gd name="connsiteY34" fmla="*/ 481347 h 1402860"/>
              <a:gd name="connsiteX35" fmla="*/ 99394 w 8655714"/>
              <a:gd name="connsiteY35" fmla="*/ 1276491 h 1402860"/>
              <a:gd name="connsiteX36" fmla="*/ 0 w 8655714"/>
              <a:gd name="connsiteY36" fmla="*/ 1076285 h 1402860"/>
              <a:gd name="connsiteX37" fmla="*/ 363495 w 8655714"/>
              <a:gd name="connsiteY37" fmla="*/ 496964 h 1402860"/>
              <a:gd name="connsiteX38" fmla="*/ 48278 w 8655714"/>
              <a:gd name="connsiteY38" fmla="*/ 496964 h 1402860"/>
              <a:gd name="connsiteX39" fmla="*/ 4461328 w 8655714"/>
              <a:gd name="connsiteY39" fmla="*/ 110751 h 1402860"/>
              <a:gd name="connsiteX40" fmla="*/ 5693801 w 8655714"/>
              <a:gd name="connsiteY40" fmla="*/ 110751 h 1402860"/>
              <a:gd name="connsiteX41" fmla="*/ 5693801 w 8655714"/>
              <a:gd name="connsiteY41" fmla="*/ 312376 h 1402860"/>
              <a:gd name="connsiteX42" fmla="*/ 5188317 w 8655714"/>
              <a:gd name="connsiteY42" fmla="*/ 312376 h 1402860"/>
              <a:gd name="connsiteX43" fmla="*/ 5188317 w 8655714"/>
              <a:gd name="connsiteY43" fmla="*/ 1125979 h 1402860"/>
              <a:gd name="connsiteX44" fmla="*/ 5766216 w 8655714"/>
              <a:gd name="connsiteY44" fmla="*/ 1125979 h 1402860"/>
              <a:gd name="connsiteX45" fmla="*/ 5766216 w 8655714"/>
              <a:gd name="connsiteY45" fmla="*/ 1327607 h 1402860"/>
              <a:gd name="connsiteX46" fmla="*/ 4384653 w 8655714"/>
              <a:gd name="connsiteY46" fmla="*/ 1327607 h 1402860"/>
              <a:gd name="connsiteX47" fmla="*/ 4384653 w 8655714"/>
              <a:gd name="connsiteY47" fmla="*/ 1125979 h 1402860"/>
              <a:gd name="connsiteX48" fmla="*/ 4955454 w 8655714"/>
              <a:gd name="connsiteY48" fmla="*/ 1125979 h 1402860"/>
              <a:gd name="connsiteX49" fmla="*/ 4955454 w 8655714"/>
              <a:gd name="connsiteY49" fmla="*/ 312376 h 1402860"/>
              <a:gd name="connsiteX50" fmla="*/ 4461328 w 8655714"/>
              <a:gd name="connsiteY50" fmla="*/ 312376 h 1402860"/>
              <a:gd name="connsiteX51" fmla="*/ 6101314 w 8655714"/>
              <a:gd name="connsiteY51" fmla="*/ 11358 h 1402860"/>
              <a:gd name="connsiteX52" fmla="*/ 6291581 w 8655714"/>
              <a:gd name="connsiteY52" fmla="*/ 66734 h 1402860"/>
              <a:gd name="connsiteX53" fmla="*/ 6189346 w 8655714"/>
              <a:gd name="connsiteY53" fmla="*/ 343615 h 1402860"/>
              <a:gd name="connsiteX54" fmla="*/ 6189346 w 8655714"/>
              <a:gd name="connsiteY54" fmla="*/ 1401441 h 1402860"/>
              <a:gd name="connsiteX55" fmla="*/ 5996241 w 8655714"/>
              <a:gd name="connsiteY55" fmla="*/ 1401441 h 1402860"/>
              <a:gd name="connsiteX56" fmla="*/ 5996241 w 8655714"/>
              <a:gd name="connsiteY56" fmla="*/ 722019 h 1402860"/>
              <a:gd name="connsiteX57" fmla="*/ 5872710 w 8655714"/>
              <a:gd name="connsiteY57" fmla="*/ 907315 h 1402860"/>
              <a:gd name="connsiteX58" fmla="*/ 5824433 w 8655714"/>
              <a:gd name="connsiteY58" fmla="*/ 643214 h 1402860"/>
              <a:gd name="connsiteX59" fmla="*/ 6101314 w 8655714"/>
              <a:gd name="connsiteY59" fmla="*/ 11358 h 1402860"/>
              <a:gd name="connsiteX60" fmla="*/ 626177 w 8655714"/>
              <a:gd name="connsiteY60" fmla="*/ 9939 h 1402860"/>
              <a:gd name="connsiteX61" fmla="*/ 823544 w 8655714"/>
              <a:gd name="connsiteY61" fmla="*/ 9939 h 1402860"/>
              <a:gd name="connsiteX62" fmla="*/ 823544 w 8655714"/>
              <a:gd name="connsiteY62" fmla="*/ 247773 h 1402860"/>
              <a:gd name="connsiteX63" fmla="*/ 924357 w 8655714"/>
              <a:gd name="connsiteY63" fmla="*/ 484896 h 1402860"/>
              <a:gd name="connsiteX64" fmla="*/ 1226794 w 8655714"/>
              <a:gd name="connsiteY64" fmla="*/ 186007 h 1402860"/>
              <a:gd name="connsiteX65" fmla="*/ 1388664 w 8655714"/>
              <a:gd name="connsiteY65" fmla="*/ 326575 h 1402860"/>
              <a:gd name="connsiteX66" fmla="*/ 1021620 w 8655714"/>
              <a:gd name="connsiteY66" fmla="*/ 651733 h 1402860"/>
              <a:gd name="connsiteX67" fmla="*/ 1418483 w 8655714"/>
              <a:gd name="connsiteY67" fmla="*/ 1050726 h 1402860"/>
              <a:gd name="connsiteX68" fmla="*/ 1299210 w 8655714"/>
              <a:gd name="connsiteY68" fmla="*/ 1252351 h 1402860"/>
              <a:gd name="connsiteX69" fmla="*/ 823544 w 8655714"/>
              <a:gd name="connsiteY69" fmla="*/ 640375 h 1402860"/>
              <a:gd name="connsiteX70" fmla="*/ 823544 w 8655714"/>
              <a:gd name="connsiteY70" fmla="*/ 1150119 h 1402860"/>
              <a:gd name="connsiteX71" fmla="*/ 780590 w 8655714"/>
              <a:gd name="connsiteY71" fmla="*/ 1305597 h 1402860"/>
              <a:gd name="connsiteX72" fmla="*/ 659900 w 8655714"/>
              <a:gd name="connsiteY72" fmla="*/ 1375529 h 1402860"/>
              <a:gd name="connsiteX73" fmla="*/ 383375 w 8655714"/>
              <a:gd name="connsiteY73" fmla="*/ 1388661 h 1402860"/>
              <a:gd name="connsiteX74" fmla="*/ 332259 w 8655714"/>
              <a:gd name="connsiteY74" fmla="*/ 1167159 h 1402860"/>
              <a:gd name="connsiteX75" fmla="*/ 535303 w 8655714"/>
              <a:gd name="connsiteY75" fmla="*/ 1178517 h 1402860"/>
              <a:gd name="connsiteX76" fmla="*/ 626177 w 8655714"/>
              <a:gd name="connsiteY76" fmla="*/ 1067765 h 1402860"/>
              <a:gd name="connsiteX77" fmla="*/ 2063116 w 8655714"/>
              <a:gd name="connsiteY77" fmla="*/ 7098 h 1402860"/>
              <a:gd name="connsiteX78" fmla="*/ 2269003 w 8655714"/>
              <a:gd name="connsiteY78" fmla="*/ 7098 h 1402860"/>
              <a:gd name="connsiteX79" fmla="*/ 2269003 w 8655714"/>
              <a:gd name="connsiteY79" fmla="*/ 310957 h 1402860"/>
              <a:gd name="connsiteX80" fmla="*/ 2822764 w 8655714"/>
              <a:gd name="connsiteY80" fmla="*/ 310957 h 1402860"/>
              <a:gd name="connsiteX81" fmla="*/ 2822764 w 8655714"/>
              <a:gd name="connsiteY81" fmla="*/ 501224 h 1402860"/>
              <a:gd name="connsiteX82" fmla="*/ 2317989 w 8655714"/>
              <a:gd name="connsiteY82" fmla="*/ 501224 h 1402860"/>
              <a:gd name="connsiteX83" fmla="*/ 2875299 w 8655714"/>
              <a:gd name="connsiteY83" fmla="*/ 1046466 h 1402860"/>
              <a:gd name="connsiteX84" fmla="*/ 2712011 w 8655714"/>
              <a:gd name="connsiteY84" fmla="*/ 1226794 h 1402860"/>
              <a:gd name="connsiteX85" fmla="*/ 2269003 w 8655714"/>
              <a:gd name="connsiteY85" fmla="*/ 731249 h 1402860"/>
              <a:gd name="connsiteX86" fmla="*/ 2269003 w 8655714"/>
              <a:gd name="connsiteY86" fmla="*/ 1397181 h 1402860"/>
              <a:gd name="connsiteX87" fmla="*/ 2063116 w 8655714"/>
              <a:gd name="connsiteY87" fmla="*/ 1397181 h 1402860"/>
              <a:gd name="connsiteX88" fmla="*/ 2063116 w 8655714"/>
              <a:gd name="connsiteY88" fmla="*/ 721308 h 1402860"/>
              <a:gd name="connsiteX89" fmla="*/ 1607328 w 8655714"/>
              <a:gd name="connsiteY89" fmla="*/ 1236733 h 1402860"/>
              <a:gd name="connsiteX90" fmla="*/ 1459660 w 8655714"/>
              <a:gd name="connsiteY90" fmla="*/ 1063506 h 1402860"/>
              <a:gd name="connsiteX91" fmla="*/ 1997801 w 8655714"/>
              <a:gd name="connsiteY91" fmla="*/ 501224 h 1402860"/>
              <a:gd name="connsiteX92" fmla="*/ 1515036 w 8655714"/>
              <a:gd name="connsiteY92" fmla="*/ 501224 h 1402860"/>
              <a:gd name="connsiteX93" fmla="*/ 1515036 w 8655714"/>
              <a:gd name="connsiteY93" fmla="*/ 310957 h 1402860"/>
              <a:gd name="connsiteX94" fmla="*/ 2063116 w 8655714"/>
              <a:gd name="connsiteY94" fmla="*/ 310957 h 1402860"/>
              <a:gd name="connsiteX95" fmla="*/ 3535552 w 8655714"/>
              <a:gd name="connsiteY95" fmla="*/ 5679 h 1402860"/>
              <a:gd name="connsiteX96" fmla="*/ 3755638 w 8655714"/>
              <a:gd name="connsiteY96" fmla="*/ 5679 h 1402860"/>
              <a:gd name="connsiteX97" fmla="*/ 3755638 w 8655714"/>
              <a:gd name="connsiteY97" fmla="*/ 272621 h 1402860"/>
              <a:gd name="connsiteX98" fmla="*/ 4194386 w 8655714"/>
              <a:gd name="connsiteY98" fmla="*/ 272621 h 1402860"/>
              <a:gd name="connsiteX99" fmla="*/ 4194386 w 8655714"/>
              <a:gd name="connsiteY99" fmla="*/ 458628 h 1402860"/>
              <a:gd name="connsiteX100" fmla="*/ 3755638 w 8655714"/>
              <a:gd name="connsiteY100" fmla="*/ 458628 h 1402860"/>
              <a:gd name="connsiteX101" fmla="*/ 3755638 w 8655714"/>
              <a:gd name="connsiteY101" fmla="*/ 744026 h 1402860"/>
              <a:gd name="connsiteX102" fmla="*/ 4310819 w 8655714"/>
              <a:gd name="connsiteY102" fmla="*/ 744026 h 1402860"/>
              <a:gd name="connsiteX103" fmla="*/ 4310819 w 8655714"/>
              <a:gd name="connsiteY103" fmla="*/ 930033 h 1402860"/>
              <a:gd name="connsiteX104" fmla="*/ 3755638 w 8655714"/>
              <a:gd name="connsiteY104" fmla="*/ 930033 h 1402860"/>
              <a:gd name="connsiteX105" fmla="*/ 3755638 w 8655714"/>
              <a:gd name="connsiteY105" fmla="*/ 1402860 h 1402860"/>
              <a:gd name="connsiteX106" fmla="*/ 3535552 w 8655714"/>
              <a:gd name="connsiteY106" fmla="*/ 1402860 h 1402860"/>
              <a:gd name="connsiteX107" fmla="*/ 3535552 w 8655714"/>
              <a:gd name="connsiteY107" fmla="*/ 930033 h 1402860"/>
              <a:gd name="connsiteX108" fmla="*/ 2930675 w 8655714"/>
              <a:gd name="connsiteY108" fmla="*/ 930033 h 1402860"/>
              <a:gd name="connsiteX109" fmla="*/ 2930675 w 8655714"/>
              <a:gd name="connsiteY109" fmla="*/ 744026 h 1402860"/>
              <a:gd name="connsiteX110" fmla="*/ 3535552 w 8655714"/>
              <a:gd name="connsiteY110" fmla="*/ 744026 h 1402860"/>
              <a:gd name="connsiteX111" fmla="*/ 3535552 w 8655714"/>
              <a:gd name="connsiteY111" fmla="*/ 458628 h 1402860"/>
              <a:gd name="connsiteX112" fmla="*/ 3254414 w 8655714"/>
              <a:gd name="connsiteY112" fmla="*/ 458628 h 1402860"/>
              <a:gd name="connsiteX113" fmla="*/ 3106743 w 8655714"/>
              <a:gd name="connsiteY113" fmla="*/ 738347 h 1402860"/>
              <a:gd name="connsiteX114" fmla="*/ 2942035 w 8655714"/>
              <a:gd name="connsiteY114" fmla="*/ 620495 h 1402860"/>
              <a:gd name="connsiteX115" fmla="*/ 3172058 w 8655714"/>
              <a:gd name="connsiteY115" fmla="*/ 76673 h 1402860"/>
              <a:gd name="connsiteX116" fmla="*/ 3373685 w 8655714"/>
              <a:gd name="connsiteY116" fmla="*/ 117852 h 1402860"/>
              <a:gd name="connsiteX117" fmla="*/ 3326118 w 8655714"/>
              <a:gd name="connsiteY117" fmla="*/ 272621 h 1402860"/>
              <a:gd name="connsiteX118" fmla="*/ 3535552 w 8655714"/>
              <a:gd name="connsiteY118" fmla="*/ 272621 h 1402860"/>
              <a:gd name="connsiteX119" fmla="*/ 6470487 w 8655714"/>
              <a:gd name="connsiteY119" fmla="*/ 2838 h 1402860"/>
              <a:gd name="connsiteX120" fmla="*/ 6655075 w 8655714"/>
              <a:gd name="connsiteY120" fmla="*/ 46856 h 1402860"/>
              <a:gd name="connsiteX121" fmla="*/ 6598278 w 8655714"/>
              <a:gd name="connsiteY121" fmla="*/ 225763 h 1402860"/>
              <a:gd name="connsiteX122" fmla="*/ 7232974 w 8655714"/>
              <a:gd name="connsiteY122" fmla="*/ 225763 h 1402860"/>
              <a:gd name="connsiteX123" fmla="*/ 7232974 w 8655714"/>
              <a:gd name="connsiteY123" fmla="*/ 408932 h 1402860"/>
              <a:gd name="connsiteX124" fmla="*/ 6767247 w 8655714"/>
              <a:gd name="connsiteY124" fmla="*/ 408932 h 1402860"/>
              <a:gd name="connsiteX125" fmla="*/ 6767247 w 8655714"/>
              <a:gd name="connsiteY125" fmla="*/ 583578 h 1402860"/>
              <a:gd name="connsiteX126" fmla="*/ 7152039 w 8655714"/>
              <a:gd name="connsiteY126" fmla="*/ 583578 h 1402860"/>
              <a:gd name="connsiteX127" fmla="*/ 7152039 w 8655714"/>
              <a:gd name="connsiteY127" fmla="*/ 762485 h 1402860"/>
              <a:gd name="connsiteX128" fmla="*/ 6767247 w 8655714"/>
              <a:gd name="connsiteY128" fmla="*/ 762485 h 1402860"/>
              <a:gd name="connsiteX129" fmla="*/ 6767247 w 8655714"/>
              <a:gd name="connsiteY129" fmla="*/ 937134 h 1402860"/>
              <a:gd name="connsiteX130" fmla="*/ 7184699 w 8655714"/>
              <a:gd name="connsiteY130" fmla="*/ 937134 h 1402860"/>
              <a:gd name="connsiteX131" fmla="*/ 7184699 w 8655714"/>
              <a:gd name="connsiteY131" fmla="*/ 1116041 h 1402860"/>
              <a:gd name="connsiteX132" fmla="*/ 6767247 w 8655714"/>
              <a:gd name="connsiteY132" fmla="*/ 1116041 h 1402860"/>
              <a:gd name="connsiteX133" fmla="*/ 6767247 w 8655714"/>
              <a:gd name="connsiteY133" fmla="*/ 1402860 h 1402860"/>
              <a:gd name="connsiteX134" fmla="*/ 6567042 w 8655714"/>
              <a:gd name="connsiteY134" fmla="*/ 1402860 h 1402860"/>
              <a:gd name="connsiteX135" fmla="*/ 6567042 w 8655714"/>
              <a:gd name="connsiteY135" fmla="*/ 408932 h 1402860"/>
              <a:gd name="connsiteX136" fmla="*/ 6525154 w 8655714"/>
              <a:gd name="connsiteY136" fmla="*/ 408932 h 1402860"/>
              <a:gd name="connsiteX137" fmla="*/ 6327078 w 8655714"/>
              <a:gd name="connsiteY137" fmla="*/ 749708 h 1402860"/>
              <a:gd name="connsiteX138" fmla="*/ 6217746 w 8655714"/>
              <a:gd name="connsiteY138" fmla="*/ 565120 h 1402860"/>
              <a:gd name="connsiteX139" fmla="*/ 6470487 w 8655714"/>
              <a:gd name="connsiteY139" fmla="*/ 2838 h 1402860"/>
              <a:gd name="connsiteX140" fmla="*/ 8077815 w 8655714"/>
              <a:gd name="connsiteY140" fmla="*/ 0 h 1402860"/>
              <a:gd name="connsiteX141" fmla="*/ 8126093 w 8655714"/>
              <a:gd name="connsiteY141" fmla="*/ 129210 h 1402860"/>
              <a:gd name="connsiteX142" fmla="*/ 8651454 w 8655714"/>
              <a:gd name="connsiteY142" fmla="*/ 129210 h 1402860"/>
              <a:gd name="connsiteX143" fmla="*/ 8651454 w 8655714"/>
              <a:gd name="connsiteY143" fmla="*/ 471405 h 1402860"/>
              <a:gd name="connsiteX144" fmla="*/ 8476807 w 8655714"/>
              <a:gd name="connsiteY144" fmla="*/ 471405 h 1402860"/>
              <a:gd name="connsiteX145" fmla="*/ 8476807 w 8655714"/>
              <a:gd name="connsiteY145" fmla="*/ 291080 h 1402860"/>
              <a:gd name="connsiteX146" fmla="*/ 7491396 w 8655714"/>
              <a:gd name="connsiteY146" fmla="*/ 291080 h 1402860"/>
              <a:gd name="connsiteX147" fmla="*/ 7491396 w 8655714"/>
              <a:gd name="connsiteY147" fmla="*/ 471405 h 1402860"/>
              <a:gd name="connsiteX148" fmla="*/ 7316749 w 8655714"/>
              <a:gd name="connsiteY148" fmla="*/ 471405 h 1402860"/>
              <a:gd name="connsiteX149" fmla="*/ 7316749 w 8655714"/>
              <a:gd name="connsiteY149" fmla="*/ 129210 h 1402860"/>
              <a:gd name="connsiteX150" fmla="*/ 7877609 w 8655714"/>
              <a:gd name="connsiteY150" fmla="*/ 129210 h 1402860"/>
              <a:gd name="connsiteX151" fmla="*/ 7830753 w 8655714"/>
              <a:gd name="connsiteY151" fmla="*/ 25557 h 1402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8655714" h="1402860">
                <a:moveTo>
                  <a:pt x="7948605" y="529622"/>
                </a:moveTo>
                <a:cubicBezTo>
                  <a:pt x="7881395" y="576005"/>
                  <a:pt x="7812767" y="622861"/>
                  <a:pt x="7742718" y="670192"/>
                </a:cubicBezTo>
                <a:cubicBezTo>
                  <a:pt x="7903641" y="666407"/>
                  <a:pt x="8067401" y="662147"/>
                  <a:pt x="8234003" y="657412"/>
                </a:cubicBezTo>
                <a:cubicBezTo>
                  <a:pt x="8190460" y="629015"/>
                  <a:pt x="8146917" y="600618"/>
                  <a:pt x="8103374" y="572220"/>
                </a:cubicBezTo>
                <a:lnTo>
                  <a:pt x="8164429" y="529622"/>
                </a:lnTo>
                <a:close/>
                <a:moveTo>
                  <a:pt x="7536833" y="376272"/>
                </a:moveTo>
                <a:lnTo>
                  <a:pt x="8431371" y="376272"/>
                </a:lnTo>
                <a:lnTo>
                  <a:pt x="8431371" y="529622"/>
                </a:lnTo>
                <a:lnTo>
                  <a:pt x="8310678" y="529622"/>
                </a:lnTo>
                <a:cubicBezTo>
                  <a:pt x="8403445" y="585472"/>
                  <a:pt x="8512778" y="651733"/>
                  <a:pt x="8638677" y="728408"/>
                </a:cubicBezTo>
                <a:lnTo>
                  <a:pt x="8533602" y="860459"/>
                </a:lnTo>
                <a:cubicBezTo>
                  <a:pt x="8502367" y="839634"/>
                  <a:pt x="8471601" y="818335"/>
                  <a:pt x="8441309" y="796564"/>
                </a:cubicBezTo>
                <a:cubicBezTo>
                  <a:pt x="8319197" y="800349"/>
                  <a:pt x="8200873" y="803662"/>
                  <a:pt x="8086335" y="806503"/>
                </a:cubicBezTo>
                <a:lnTo>
                  <a:pt x="8086335" y="905896"/>
                </a:lnTo>
                <a:lnTo>
                  <a:pt x="8566262" y="905896"/>
                </a:lnTo>
                <a:lnTo>
                  <a:pt x="8566262" y="1079123"/>
                </a:lnTo>
                <a:lnTo>
                  <a:pt x="8086335" y="1079123"/>
                </a:lnTo>
                <a:lnTo>
                  <a:pt x="8086335" y="1175676"/>
                </a:lnTo>
                <a:lnTo>
                  <a:pt x="8655714" y="1175676"/>
                </a:lnTo>
                <a:lnTo>
                  <a:pt x="8655714" y="1354585"/>
                </a:lnTo>
                <a:lnTo>
                  <a:pt x="7313909" y="1354585"/>
                </a:lnTo>
                <a:lnTo>
                  <a:pt x="7313909" y="1175676"/>
                </a:lnTo>
                <a:lnTo>
                  <a:pt x="7880450" y="1175676"/>
                </a:lnTo>
                <a:lnTo>
                  <a:pt x="7880450" y="1079123"/>
                </a:lnTo>
                <a:lnTo>
                  <a:pt x="7401941" y="1079123"/>
                </a:lnTo>
                <a:lnTo>
                  <a:pt x="7401941" y="905896"/>
                </a:lnTo>
                <a:lnTo>
                  <a:pt x="7880450" y="905896"/>
                </a:lnTo>
                <a:lnTo>
                  <a:pt x="7880450" y="813603"/>
                </a:lnTo>
                <a:cubicBezTo>
                  <a:pt x="7690183" y="817388"/>
                  <a:pt x="7551979" y="825436"/>
                  <a:pt x="7465837" y="837741"/>
                </a:cubicBezTo>
                <a:lnTo>
                  <a:pt x="7399103" y="691491"/>
                </a:lnTo>
                <a:cubicBezTo>
                  <a:pt x="7472937" y="657412"/>
                  <a:pt x="7565231" y="603456"/>
                  <a:pt x="7675984" y="529622"/>
                </a:cubicBezTo>
                <a:lnTo>
                  <a:pt x="7536833" y="529622"/>
                </a:lnTo>
                <a:close/>
                <a:moveTo>
                  <a:pt x="48278" y="309538"/>
                </a:moveTo>
                <a:lnTo>
                  <a:pt x="550923" y="309538"/>
                </a:lnTo>
                <a:lnTo>
                  <a:pt x="550923" y="481347"/>
                </a:lnTo>
                <a:cubicBezTo>
                  <a:pt x="483715" y="810762"/>
                  <a:pt x="333204" y="1075810"/>
                  <a:pt x="99394" y="1276491"/>
                </a:cubicBezTo>
                <a:cubicBezTo>
                  <a:pt x="64370" y="1195082"/>
                  <a:pt x="31238" y="1128348"/>
                  <a:pt x="0" y="1076285"/>
                </a:cubicBezTo>
                <a:cubicBezTo>
                  <a:pt x="172283" y="929561"/>
                  <a:pt x="293448" y="736453"/>
                  <a:pt x="363495" y="496964"/>
                </a:cubicBezTo>
                <a:lnTo>
                  <a:pt x="48278" y="496964"/>
                </a:lnTo>
                <a:close/>
                <a:moveTo>
                  <a:pt x="4461328" y="110751"/>
                </a:moveTo>
                <a:lnTo>
                  <a:pt x="5693801" y="110751"/>
                </a:lnTo>
                <a:lnTo>
                  <a:pt x="5693801" y="312376"/>
                </a:lnTo>
                <a:lnTo>
                  <a:pt x="5188317" y="312376"/>
                </a:lnTo>
                <a:lnTo>
                  <a:pt x="5188317" y="1125979"/>
                </a:lnTo>
                <a:lnTo>
                  <a:pt x="5766216" y="1125979"/>
                </a:lnTo>
                <a:lnTo>
                  <a:pt x="5766216" y="1327607"/>
                </a:lnTo>
                <a:lnTo>
                  <a:pt x="4384653" y="1327607"/>
                </a:lnTo>
                <a:lnTo>
                  <a:pt x="4384653" y="1125979"/>
                </a:lnTo>
                <a:lnTo>
                  <a:pt x="4955454" y="1125979"/>
                </a:lnTo>
                <a:lnTo>
                  <a:pt x="4955454" y="312376"/>
                </a:lnTo>
                <a:lnTo>
                  <a:pt x="4461328" y="312376"/>
                </a:lnTo>
                <a:close/>
                <a:moveTo>
                  <a:pt x="6101314" y="11358"/>
                </a:moveTo>
                <a:lnTo>
                  <a:pt x="6291581" y="66734"/>
                </a:lnTo>
                <a:cubicBezTo>
                  <a:pt x="6261289" y="161867"/>
                  <a:pt x="6227210" y="254162"/>
                  <a:pt x="6189346" y="343615"/>
                </a:cubicBezTo>
                <a:lnTo>
                  <a:pt x="6189346" y="1401441"/>
                </a:lnTo>
                <a:lnTo>
                  <a:pt x="5996241" y="1401441"/>
                </a:lnTo>
                <a:lnTo>
                  <a:pt x="5996241" y="722019"/>
                </a:lnTo>
                <a:cubicBezTo>
                  <a:pt x="5957430" y="785442"/>
                  <a:pt x="5916253" y="847207"/>
                  <a:pt x="5872710" y="907315"/>
                </a:cubicBezTo>
                <a:cubicBezTo>
                  <a:pt x="5862297" y="834428"/>
                  <a:pt x="5846204" y="746395"/>
                  <a:pt x="5824433" y="643214"/>
                </a:cubicBezTo>
                <a:cubicBezTo>
                  <a:pt x="5938972" y="462413"/>
                  <a:pt x="6031265" y="251794"/>
                  <a:pt x="6101314" y="11358"/>
                </a:cubicBezTo>
                <a:close/>
                <a:moveTo>
                  <a:pt x="626177" y="9939"/>
                </a:moveTo>
                <a:lnTo>
                  <a:pt x="823544" y="9939"/>
                </a:lnTo>
                <a:lnTo>
                  <a:pt x="823544" y="247773"/>
                </a:lnTo>
                <a:cubicBezTo>
                  <a:pt x="852889" y="331546"/>
                  <a:pt x="886493" y="410587"/>
                  <a:pt x="924357" y="484896"/>
                </a:cubicBezTo>
                <a:cubicBezTo>
                  <a:pt x="1040315" y="381715"/>
                  <a:pt x="1141128" y="282085"/>
                  <a:pt x="1226794" y="186007"/>
                </a:cubicBezTo>
                <a:lnTo>
                  <a:pt x="1388664" y="326575"/>
                </a:lnTo>
                <a:cubicBezTo>
                  <a:pt x="1281698" y="433541"/>
                  <a:pt x="1159350" y="541929"/>
                  <a:pt x="1021620" y="651733"/>
                </a:cubicBezTo>
                <a:cubicBezTo>
                  <a:pt x="1129531" y="813603"/>
                  <a:pt x="1261820" y="946601"/>
                  <a:pt x="1418483" y="1050726"/>
                </a:cubicBezTo>
                <a:cubicBezTo>
                  <a:pt x="1381563" y="1102789"/>
                  <a:pt x="1341808" y="1169997"/>
                  <a:pt x="1299210" y="1252351"/>
                </a:cubicBezTo>
                <a:cubicBezTo>
                  <a:pt x="1104683" y="1111781"/>
                  <a:pt x="946128" y="907790"/>
                  <a:pt x="823544" y="640375"/>
                </a:cubicBezTo>
                <a:lnTo>
                  <a:pt x="823544" y="1150119"/>
                </a:lnTo>
                <a:cubicBezTo>
                  <a:pt x="823544" y="1215909"/>
                  <a:pt x="809227" y="1267733"/>
                  <a:pt x="780590" y="1305597"/>
                </a:cubicBezTo>
                <a:cubicBezTo>
                  <a:pt x="751957" y="1343461"/>
                  <a:pt x="711727" y="1366771"/>
                  <a:pt x="659900" y="1375529"/>
                </a:cubicBezTo>
                <a:cubicBezTo>
                  <a:pt x="608074" y="1384285"/>
                  <a:pt x="515898" y="1388661"/>
                  <a:pt x="383375" y="1388661"/>
                </a:cubicBezTo>
                <a:cubicBezTo>
                  <a:pt x="369176" y="1309148"/>
                  <a:pt x="352137" y="1235314"/>
                  <a:pt x="332259" y="1167159"/>
                </a:cubicBezTo>
                <a:cubicBezTo>
                  <a:pt x="400414" y="1174729"/>
                  <a:pt x="468095" y="1178517"/>
                  <a:pt x="535303" y="1178517"/>
                </a:cubicBezTo>
                <a:cubicBezTo>
                  <a:pt x="595886" y="1178517"/>
                  <a:pt x="626177" y="1141600"/>
                  <a:pt x="626177" y="1067765"/>
                </a:cubicBezTo>
                <a:close/>
                <a:moveTo>
                  <a:pt x="2063116" y="7098"/>
                </a:moveTo>
                <a:lnTo>
                  <a:pt x="2269003" y="7098"/>
                </a:lnTo>
                <a:lnTo>
                  <a:pt x="2269003" y="310957"/>
                </a:lnTo>
                <a:lnTo>
                  <a:pt x="2822764" y="310957"/>
                </a:lnTo>
                <a:lnTo>
                  <a:pt x="2822764" y="501224"/>
                </a:lnTo>
                <a:lnTo>
                  <a:pt x="2317989" y="501224"/>
                </a:lnTo>
                <a:cubicBezTo>
                  <a:pt x="2457140" y="737400"/>
                  <a:pt x="2642908" y="919148"/>
                  <a:pt x="2875299" y="1046466"/>
                </a:cubicBezTo>
                <a:cubicBezTo>
                  <a:pt x="2813770" y="1107996"/>
                  <a:pt x="2759341" y="1168103"/>
                  <a:pt x="2712011" y="1226794"/>
                </a:cubicBezTo>
                <a:cubicBezTo>
                  <a:pt x="2533104" y="1096163"/>
                  <a:pt x="2385433" y="930980"/>
                  <a:pt x="2269003" y="731249"/>
                </a:cubicBezTo>
                <a:lnTo>
                  <a:pt x="2269003" y="1397181"/>
                </a:lnTo>
                <a:lnTo>
                  <a:pt x="2063116" y="1397181"/>
                </a:lnTo>
                <a:lnTo>
                  <a:pt x="2063116" y="721308"/>
                </a:lnTo>
                <a:cubicBezTo>
                  <a:pt x="1951892" y="917728"/>
                  <a:pt x="1799961" y="1089537"/>
                  <a:pt x="1607328" y="1236733"/>
                </a:cubicBezTo>
                <a:cubicBezTo>
                  <a:pt x="1559051" y="1175204"/>
                  <a:pt x="1509829" y="1117462"/>
                  <a:pt x="1459660" y="1063506"/>
                </a:cubicBezTo>
                <a:cubicBezTo>
                  <a:pt x="1683056" y="921041"/>
                  <a:pt x="1862438" y="733615"/>
                  <a:pt x="1997801" y="501224"/>
                </a:cubicBezTo>
                <a:lnTo>
                  <a:pt x="1515036" y="501224"/>
                </a:lnTo>
                <a:lnTo>
                  <a:pt x="1515036" y="310957"/>
                </a:lnTo>
                <a:lnTo>
                  <a:pt x="2063116" y="310957"/>
                </a:lnTo>
                <a:close/>
                <a:moveTo>
                  <a:pt x="3535552" y="5679"/>
                </a:moveTo>
                <a:lnTo>
                  <a:pt x="3755638" y="5679"/>
                </a:lnTo>
                <a:lnTo>
                  <a:pt x="3755638" y="272621"/>
                </a:lnTo>
                <a:lnTo>
                  <a:pt x="4194386" y="272621"/>
                </a:lnTo>
                <a:lnTo>
                  <a:pt x="4194386" y="458628"/>
                </a:lnTo>
                <a:lnTo>
                  <a:pt x="3755638" y="458628"/>
                </a:lnTo>
                <a:lnTo>
                  <a:pt x="3755638" y="744026"/>
                </a:lnTo>
                <a:lnTo>
                  <a:pt x="4310819" y="744026"/>
                </a:lnTo>
                <a:lnTo>
                  <a:pt x="4310819" y="930033"/>
                </a:lnTo>
                <a:lnTo>
                  <a:pt x="3755638" y="930033"/>
                </a:lnTo>
                <a:lnTo>
                  <a:pt x="3755638" y="1402860"/>
                </a:lnTo>
                <a:lnTo>
                  <a:pt x="3535552" y="1402860"/>
                </a:lnTo>
                <a:lnTo>
                  <a:pt x="3535552" y="930033"/>
                </a:lnTo>
                <a:lnTo>
                  <a:pt x="2930675" y="930033"/>
                </a:lnTo>
                <a:lnTo>
                  <a:pt x="2930675" y="744026"/>
                </a:lnTo>
                <a:lnTo>
                  <a:pt x="3535552" y="744026"/>
                </a:lnTo>
                <a:lnTo>
                  <a:pt x="3535552" y="458628"/>
                </a:lnTo>
                <a:lnTo>
                  <a:pt x="3254414" y="458628"/>
                </a:lnTo>
                <a:cubicBezTo>
                  <a:pt x="3210869" y="558966"/>
                  <a:pt x="3161647" y="652208"/>
                  <a:pt x="3106743" y="738347"/>
                </a:cubicBezTo>
                <a:cubicBezTo>
                  <a:pt x="3062253" y="703324"/>
                  <a:pt x="3007350" y="664038"/>
                  <a:pt x="2942035" y="620495"/>
                </a:cubicBezTo>
                <a:cubicBezTo>
                  <a:pt x="3043320" y="453894"/>
                  <a:pt x="3119995" y="272621"/>
                  <a:pt x="3172058" y="76673"/>
                </a:cubicBezTo>
                <a:lnTo>
                  <a:pt x="3373685" y="117852"/>
                </a:lnTo>
                <a:cubicBezTo>
                  <a:pt x="3359012" y="171334"/>
                  <a:pt x="3343158" y="222924"/>
                  <a:pt x="3326118" y="272621"/>
                </a:cubicBezTo>
                <a:lnTo>
                  <a:pt x="3535552" y="272621"/>
                </a:lnTo>
                <a:close/>
                <a:moveTo>
                  <a:pt x="6470487" y="2838"/>
                </a:moveTo>
                <a:lnTo>
                  <a:pt x="6655075" y="46856"/>
                </a:lnTo>
                <a:cubicBezTo>
                  <a:pt x="6637089" y="109332"/>
                  <a:pt x="6618158" y="168968"/>
                  <a:pt x="6598278" y="225763"/>
                </a:cubicBezTo>
                <a:lnTo>
                  <a:pt x="7232974" y="225763"/>
                </a:lnTo>
                <a:lnTo>
                  <a:pt x="7232974" y="408932"/>
                </a:lnTo>
                <a:lnTo>
                  <a:pt x="6767247" y="408932"/>
                </a:lnTo>
                <a:lnTo>
                  <a:pt x="6767247" y="583578"/>
                </a:lnTo>
                <a:lnTo>
                  <a:pt x="7152039" y="583578"/>
                </a:lnTo>
                <a:lnTo>
                  <a:pt x="7152039" y="762485"/>
                </a:lnTo>
                <a:lnTo>
                  <a:pt x="6767247" y="762485"/>
                </a:lnTo>
                <a:lnTo>
                  <a:pt x="6767247" y="937134"/>
                </a:lnTo>
                <a:lnTo>
                  <a:pt x="7184699" y="937134"/>
                </a:lnTo>
                <a:lnTo>
                  <a:pt x="7184699" y="1116041"/>
                </a:lnTo>
                <a:lnTo>
                  <a:pt x="6767247" y="1116041"/>
                </a:lnTo>
                <a:lnTo>
                  <a:pt x="6767247" y="1402860"/>
                </a:lnTo>
                <a:lnTo>
                  <a:pt x="6567042" y="1402860"/>
                </a:lnTo>
                <a:lnTo>
                  <a:pt x="6567042" y="408932"/>
                </a:lnTo>
                <a:lnTo>
                  <a:pt x="6525154" y="408932"/>
                </a:lnTo>
                <a:cubicBezTo>
                  <a:pt x="6466938" y="539088"/>
                  <a:pt x="6400913" y="652680"/>
                  <a:pt x="6327078" y="749708"/>
                </a:cubicBezTo>
                <a:cubicBezTo>
                  <a:pt x="6299626" y="697645"/>
                  <a:pt x="6263183" y="636116"/>
                  <a:pt x="6217746" y="565120"/>
                </a:cubicBezTo>
                <a:cubicBezTo>
                  <a:pt x="6325657" y="403250"/>
                  <a:pt x="6409905" y="215824"/>
                  <a:pt x="6470487" y="2838"/>
                </a:cubicBezTo>
                <a:close/>
                <a:moveTo>
                  <a:pt x="8077815" y="0"/>
                </a:moveTo>
                <a:cubicBezTo>
                  <a:pt x="8092013" y="35023"/>
                  <a:pt x="8108106" y="78094"/>
                  <a:pt x="8126093" y="129210"/>
                </a:cubicBezTo>
                <a:lnTo>
                  <a:pt x="8651454" y="129210"/>
                </a:lnTo>
                <a:lnTo>
                  <a:pt x="8651454" y="471405"/>
                </a:lnTo>
                <a:lnTo>
                  <a:pt x="8476807" y="471405"/>
                </a:lnTo>
                <a:lnTo>
                  <a:pt x="8476807" y="291080"/>
                </a:lnTo>
                <a:lnTo>
                  <a:pt x="7491396" y="291080"/>
                </a:lnTo>
                <a:lnTo>
                  <a:pt x="7491396" y="471405"/>
                </a:lnTo>
                <a:lnTo>
                  <a:pt x="7316749" y="471405"/>
                </a:lnTo>
                <a:lnTo>
                  <a:pt x="7316749" y="129210"/>
                </a:lnTo>
                <a:lnTo>
                  <a:pt x="7877609" y="129210"/>
                </a:lnTo>
                <a:cubicBezTo>
                  <a:pt x="7859623" y="89452"/>
                  <a:pt x="7844005" y="54901"/>
                  <a:pt x="7830753" y="2555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41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534400" cy="6858000"/>
          </a:xfrm>
          <a:custGeom>
            <a:avLst/>
            <a:gdLst>
              <a:gd name="connsiteX0" fmla="*/ 0 w 8534400"/>
              <a:gd name="connsiteY0" fmla="*/ 2 h 6858000"/>
              <a:gd name="connsiteX1" fmla="*/ 4608126 w 8534400"/>
              <a:gd name="connsiteY1" fmla="*/ 2 h 6858000"/>
              <a:gd name="connsiteX2" fmla="*/ 4608126 w 8534400"/>
              <a:gd name="connsiteY2" fmla="*/ 6857999 h 6858000"/>
              <a:gd name="connsiteX3" fmla="*/ 4608127 w 8534400"/>
              <a:gd name="connsiteY3" fmla="*/ 6857996 h 6858000"/>
              <a:gd name="connsiteX4" fmla="*/ 4608127 w 8534400"/>
              <a:gd name="connsiteY4" fmla="*/ 6858000 h 6858000"/>
              <a:gd name="connsiteX5" fmla="*/ 0 w 8534400"/>
              <a:gd name="connsiteY5" fmla="*/ 6858000 h 6858000"/>
              <a:gd name="connsiteX6" fmla="*/ 4608126 w 8534400"/>
              <a:gd name="connsiteY6" fmla="*/ 0 h 6858000"/>
              <a:gd name="connsiteX7" fmla="*/ 8534400 w 8534400"/>
              <a:gd name="connsiteY7" fmla="*/ 0 h 6858000"/>
              <a:gd name="connsiteX8" fmla="*/ 4608127 w 8534400"/>
              <a:gd name="connsiteY8" fmla="*/ 6857996 h 6858000"/>
              <a:gd name="connsiteX9" fmla="*/ 4608127 w 8534400"/>
              <a:gd name="connsiteY9" fmla="*/ 2 h 6858000"/>
              <a:gd name="connsiteX10" fmla="*/ 4608126 w 85344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34400" h="6858000">
                <a:moveTo>
                  <a:pt x="0" y="2"/>
                </a:moveTo>
                <a:lnTo>
                  <a:pt x="4608126" y="2"/>
                </a:lnTo>
                <a:lnTo>
                  <a:pt x="4608126" y="6857999"/>
                </a:lnTo>
                <a:lnTo>
                  <a:pt x="4608127" y="6857996"/>
                </a:lnTo>
                <a:lnTo>
                  <a:pt x="4608127" y="6858000"/>
                </a:lnTo>
                <a:lnTo>
                  <a:pt x="0" y="6858000"/>
                </a:lnTo>
                <a:close/>
                <a:moveTo>
                  <a:pt x="4608126" y="0"/>
                </a:moveTo>
                <a:lnTo>
                  <a:pt x="8534400" y="0"/>
                </a:lnTo>
                <a:lnTo>
                  <a:pt x="4608127" y="6857996"/>
                </a:lnTo>
                <a:lnTo>
                  <a:pt x="4608127" y="2"/>
                </a:lnTo>
                <a:lnTo>
                  <a:pt x="4608126" y="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83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 flipH="1">
            <a:off x="3635829" y="0"/>
            <a:ext cx="8534400" cy="6858000"/>
          </a:xfrm>
          <a:custGeom>
            <a:avLst/>
            <a:gdLst>
              <a:gd name="connsiteX0" fmla="*/ 0 w 8534400"/>
              <a:gd name="connsiteY0" fmla="*/ 2 h 6858000"/>
              <a:gd name="connsiteX1" fmla="*/ 4608126 w 8534400"/>
              <a:gd name="connsiteY1" fmla="*/ 2 h 6858000"/>
              <a:gd name="connsiteX2" fmla="*/ 4608126 w 8534400"/>
              <a:gd name="connsiteY2" fmla="*/ 6857999 h 6858000"/>
              <a:gd name="connsiteX3" fmla="*/ 4608127 w 8534400"/>
              <a:gd name="connsiteY3" fmla="*/ 6857996 h 6858000"/>
              <a:gd name="connsiteX4" fmla="*/ 4608127 w 8534400"/>
              <a:gd name="connsiteY4" fmla="*/ 6858000 h 6858000"/>
              <a:gd name="connsiteX5" fmla="*/ 0 w 8534400"/>
              <a:gd name="connsiteY5" fmla="*/ 6858000 h 6858000"/>
              <a:gd name="connsiteX6" fmla="*/ 4608126 w 8534400"/>
              <a:gd name="connsiteY6" fmla="*/ 0 h 6858000"/>
              <a:gd name="connsiteX7" fmla="*/ 8534400 w 8534400"/>
              <a:gd name="connsiteY7" fmla="*/ 0 h 6858000"/>
              <a:gd name="connsiteX8" fmla="*/ 4608127 w 8534400"/>
              <a:gd name="connsiteY8" fmla="*/ 6857996 h 6858000"/>
              <a:gd name="connsiteX9" fmla="*/ 4608127 w 8534400"/>
              <a:gd name="connsiteY9" fmla="*/ 2 h 6858000"/>
              <a:gd name="connsiteX10" fmla="*/ 4608126 w 85344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34400" h="6858000">
                <a:moveTo>
                  <a:pt x="0" y="2"/>
                </a:moveTo>
                <a:lnTo>
                  <a:pt x="4608126" y="2"/>
                </a:lnTo>
                <a:lnTo>
                  <a:pt x="4608126" y="6857999"/>
                </a:lnTo>
                <a:lnTo>
                  <a:pt x="4608127" y="6857996"/>
                </a:lnTo>
                <a:lnTo>
                  <a:pt x="4608127" y="6858000"/>
                </a:lnTo>
                <a:lnTo>
                  <a:pt x="0" y="6858000"/>
                </a:lnTo>
                <a:close/>
                <a:moveTo>
                  <a:pt x="4608126" y="0"/>
                </a:moveTo>
                <a:lnTo>
                  <a:pt x="8534400" y="0"/>
                </a:lnTo>
                <a:lnTo>
                  <a:pt x="4608127" y="6857996"/>
                </a:lnTo>
                <a:lnTo>
                  <a:pt x="4608127" y="2"/>
                </a:lnTo>
                <a:lnTo>
                  <a:pt x="4608126" y="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3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等腰三角形 5"/>
          <p:cNvSpPr/>
          <p:nvPr userDrawn="1"/>
        </p:nvSpPr>
        <p:spPr>
          <a:xfrm>
            <a:off x="4429125" y="3489372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等腰三角形 6"/>
          <p:cNvSpPr/>
          <p:nvPr userDrawn="1"/>
        </p:nvSpPr>
        <p:spPr>
          <a:xfrm rot="10800000">
            <a:off x="-2065339" y="3489372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等腰三角形 7"/>
          <p:cNvSpPr/>
          <p:nvPr userDrawn="1"/>
        </p:nvSpPr>
        <p:spPr>
          <a:xfrm rot="10800000">
            <a:off x="85725" y="10886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等腰三角形 8"/>
          <p:cNvSpPr/>
          <p:nvPr userDrawn="1"/>
        </p:nvSpPr>
        <p:spPr>
          <a:xfrm rot="10800000">
            <a:off x="2226947" y="3489372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等腰三角形 9"/>
          <p:cNvSpPr/>
          <p:nvPr userDrawn="1"/>
        </p:nvSpPr>
        <p:spPr>
          <a:xfrm>
            <a:off x="2238377" y="36287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-2085975" y="36287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等腰三角形 13"/>
          <p:cNvSpPr/>
          <p:nvPr userDrawn="1"/>
        </p:nvSpPr>
        <p:spPr>
          <a:xfrm>
            <a:off x="85725" y="3489372"/>
            <a:ext cx="4171950" cy="335411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06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32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73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19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5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F2BB6-3840-48AE-9C93-6B47B822121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2023/8/11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96ABE-E8C3-43AD-8C31-5C0AA93241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94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/>
          <p:cNvSpPr/>
          <p:nvPr/>
        </p:nvSpPr>
        <p:spPr>
          <a:xfrm>
            <a:off x="7776305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372395" y="6200778"/>
            <a:ext cx="254858" cy="254858"/>
            <a:chOff x="6534676" y="6012294"/>
            <a:chExt cx="497608" cy="497608"/>
          </a:xfrm>
        </p:grpSpPr>
        <p:sp>
          <p:nvSpPr>
            <p:cNvPr id="49" name="椭圆 48"/>
            <p:cNvSpPr/>
            <p:nvPr/>
          </p:nvSpPr>
          <p:spPr>
            <a:xfrm>
              <a:off x="6534676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6625866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FCD320"/>
                </a:gs>
                <a:gs pos="100000">
                  <a:srgbClr val="F07D0D"/>
                </a:gs>
                <a:gs pos="64000">
                  <a:srgbClr val="FABA15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122254" y="6200778"/>
            <a:ext cx="254858" cy="254858"/>
            <a:chOff x="7615142" y="6012294"/>
            <a:chExt cx="497608" cy="497608"/>
          </a:xfrm>
        </p:grpSpPr>
        <p:sp>
          <p:nvSpPr>
            <p:cNvPr id="52" name="椭圆 51"/>
            <p:cNvSpPr/>
            <p:nvPr/>
          </p:nvSpPr>
          <p:spPr>
            <a:xfrm>
              <a:off x="7615142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706333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57D3FF"/>
                </a:gs>
                <a:gs pos="100000">
                  <a:srgbClr val="5D63FE"/>
                </a:gs>
                <a:gs pos="64000">
                  <a:srgbClr val="44ADF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617774" y="6200778"/>
            <a:ext cx="254858" cy="254858"/>
            <a:chOff x="5363019" y="6012294"/>
            <a:chExt cx="497608" cy="497608"/>
          </a:xfrm>
        </p:grpSpPr>
        <p:sp>
          <p:nvSpPr>
            <p:cNvPr id="55" name="椭圆 54"/>
            <p:cNvSpPr/>
            <p:nvPr/>
          </p:nvSpPr>
          <p:spPr>
            <a:xfrm>
              <a:off x="5363019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5454210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73E14F"/>
                </a:gs>
                <a:gs pos="100000">
                  <a:srgbClr val="0FA51E"/>
                </a:gs>
                <a:gs pos="64000">
                  <a:srgbClr val="41C5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4519880" y="5769862"/>
            <a:ext cx="3192469" cy="45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BCB1D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软酷</a:t>
            </a:r>
            <a:r>
              <a:rPr lang="en-US" altLang="zh-CN" sz="2000" dirty="0">
                <a:solidFill>
                  <a:srgbClr val="FBCB1D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E</a:t>
            </a:r>
            <a:r>
              <a:rPr lang="zh-CN" altLang="en-US" sz="2000" dirty="0">
                <a:solidFill>
                  <a:srgbClr val="FBCB1D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贷</a:t>
            </a:r>
            <a:r>
              <a:rPr lang="en-US" altLang="zh-CN" sz="2000" dirty="0">
                <a:solidFill>
                  <a:srgbClr val="FBCB1D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rgbClr val="FBCB1D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组</a:t>
            </a:r>
          </a:p>
        </p:txBody>
      </p:sp>
      <p:sp>
        <p:nvSpPr>
          <p:cNvPr id="59" name="矩形 58"/>
          <p:cNvSpPr/>
          <p:nvPr/>
        </p:nvSpPr>
        <p:spPr>
          <a:xfrm>
            <a:off x="2635759" y="2021292"/>
            <a:ext cx="12378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FBCB1D"/>
                </a:solidFill>
                <a:latin typeface="Impact" panose="020B080603090205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软</a:t>
            </a:r>
          </a:p>
        </p:txBody>
      </p:sp>
      <p:sp>
        <p:nvSpPr>
          <p:cNvPr id="60" name="矩形 59"/>
          <p:cNvSpPr/>
          <p:nvPr/>
        </p:nvSpPr>
        <p:spPr>
          <a:xfrm>
            <a:off x="4425039" y="2021292"/>
            <a:ext cx="142058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ED1E79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酷</a:t>
            </a:r>
            <a:endParaRPr lang="zh-CN" altLang="en-US" sz="9600" b="1" dirty="0">
              <a:solidFill>
                <a:srgbClr val="ED1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538158" y="1784333"/>
            <a:ext cx="9594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0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endParaRPr lang="zh-CN" altLang="en-US" sz="12000" dirty="0">
              <a:solidFill>
                <a:srgbClr val="73E14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220394" y="1968999"/>
            <a:ext cx="14157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dirty="0">
                <a:solidFill>
                  <a:srgbClr val="4DBEFE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贷</a:t>
            </a:r>
            <a:endParaRPr lang="zh-CN" altLang="en-US" sz="96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859978" y="6200778"/>
            <a:ext cx="254858" cy="254858"/>
            <a:chOff x="4191362" y="6012294"/>
            <a:chExt cx="497608" cy="497608"/>
          </a:xfrm>
        </p:grpSpPr>
        <p:sp>
          <p:nvSpPr>
            <p:cNvPr id="64" name="椭圆 63"/>
            <p:cNvSpPr/>
            <p:nvPr/>
          </p:nvSpPr>
          <p:spPr>
            <a:xfrm>
              <a:off x="4191362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4282553" y="6103485"/>
              <a:ext cx="315707" cy="315707"/>
            </a:xfrm>
            <a:prstGeom prst="ellipse">
              <a:avLst/>
            </a:prstGeom>
            <a:gradFill>
              <a:gsLst>
                <a:gs pos="0">
                  <a:srgbClr val="FC9BE8"/>
                </a:gs>
                <a:gs pos="98000">
                  <a:srgbClr val="ED1E79"/>
                </a:gs>
                <a:gs pos="43000">
                  <a:srgbClr val="FC61C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椭圆 65"/>
          <p:cNvSpPr/>
          <p:nvPr/>
        </p:nvSpPr>
        <p:spPr>
          <a:xfrm>
            <a:off x="5894267" y="1772976"/>
            <a:ext cx="2112048" cy="2112048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4034295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2174323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 rot="6300000">
            <a:off x="-403713" y="4519954"/>
            <a:ext cx="1614307" cy="3062765"/>
            <a:chOff x="5566386" y="1560733"/>
            <a:chExt cx="1614307" cy="3062765"/>
          </a:xfrm>
        </p:grpSpPr>
        <p:sp>
          <p:nvSpPr>
            <p:cNvPr id="29" name="等腰三角形 28"/>
            <p:cNvSpPr/>
            <p:nvPr/>
          </p:nvSpPr>
          <p:spPr>
            <a:xfrm rot="8310591" flipV="1">
              <a:off x="5566386" y="1678803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6155298" y="2015243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6956492" y="2283857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598873" y="2549984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等腰三角形 35"/>
            <p:cNvSpPr/>
            <p:nvPr/>
          </p:nvSpPr>
          <p:spPr>
            <a:xfrm rot="10110591">
              <a:off x="6762874" y="1560733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 rot="10110591">
              <a:off x="6626144" y="310910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14400000">
            <a:off x="9953158" y="-441252"/>
            <a:ext cx="3130315" cy="3002665"/>
            <a:chOff x="5297230" y="3714929"/>
            <a:chExt cx="3130315" cy="3002665"/>
          </a:xfrm>
        </p:grpSpPr>
        <p:sp>
          <p:nvSpPr>
            <p:cNvPr id="39" name="等腰三角形 38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等腰三角形 39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等腰三角形 42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3EBDD47B-F279-4F39-ABAC-5AD4F4AC10F6}"/>
              </a:ext>
            </a:extLst>
          </p:cNvPr>
          <p:cNvSpPr/>
          <p:nvPr/>
        </p:nvSpPr>
        <p:spPr>
          <a:xfrm>
            <a:off x="2704213" y="4315940"/>
            <a:ext cx="7591220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rgbClr val="ED1E79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E</a:t>
            </a:r>
            <a:r>
              <a:rPr lang="zh-CN" altLang="en-US" sz="3600" dirty="0">
                <a:solidFill>
                  <a:srgbClr val="ED1E79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贷？易贷</a:t>
            </a:r>
            <a:r>
              <a:rPr lang="zh-CN" altLang="en-US" sz="3600" dirty="0">
                <a:solidFill>
                  <a:prstClr val="whit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rgbClr val="4DBEF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=</a:t>
            </a:r>
            <a:r>
              <a:rPr lang="en-US" altLang="zh-CN" sz="3600" dirty="0">
                <a:solidFill>
                  <a:prstClr val="whit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lang="zh-CN" altLang="en-US" sz="3600" dirty="0">
                <a:solidFill>
                  <a:srgbClr val="73E14F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迫不及“贷”</a:t>
            </a:r>
          </a:p>
        </p:txBody>
      </p:sp>
    </p:spTree>
    <p:extLst>
      <p:ext uri="{BB962C8B-B14F-4D97-AF65-F5344CB8AC3E}">
        <p14:creationId xmlns:p14="http://schemas.microsoft.com/office/powerpoint/2010/main" val="4603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3" presetClass="entr" presetSubtype="3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52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52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52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52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58" grpId="0"/>
      <p:bldP spid="59" grpId="0"/>
      <p:bldP spid="60" grpId="0"/>
      <p:bldP spid="61" grpId="0"/>
      <p:bldP spid="62" grpId="0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 19"/>
          <p:cNvSpPr/>
          <p:nvPr/>
        </p:nvSpPr>
        <p:spPr>
          <a:xfrm rot="14095954">
            <a:off x="4878021" y="9235496"/>
            <a:ext cx="76303" cy="26692"/>
          </a:xfrm>
          <a:custGeom>
            <a:avLst/>
            <a:gdLst>
              <a:gd name="connsiteX0" fmla="*/ 76303 w 76303"/>
              <a:gd name="connsiteY0" fmla="*/ 26692 h 26692"/>
              <a:gd name="connsiteX1" fmla="*/ 0 w 76303"/>
              <a:gd name="connsiteY1" fmla="*/ 3106 h 26692"/>
              <a:gd name="connsiteX2" fmla="*/ 3259 w 76303"/>
              <a:gd name="connsiteY2" fmla="*/ 0 h 26692"/>
              <a:gd name="connsiteX3" fmla="*/ 76303 w 76303"/>
              <a:gd name="connsiteY3" fmla="*/ 26692 h 2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303" h="26692">
                <a:moveTo>
                  <a:pt x="76303" y="26692"/>
                </a:moveTo>
                <a:lnTo>
                  <a:pt x="0" y="3106"/>
                </a:lnTo>
                <a:lnTo>
                  <a:pt x="3259" y="0"/>
                </a:lnTo>
                <a:lnTo>
                  <a:pt x="76303" y="26692"/>
                </a:lnTo>
                <a:close/>
              </a:path>
            </a:pathLst>
          </a:custGeom>
          <a:solidFill>
            <a:srgbClr val="73E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7351610" y="360232"/>
            <a:ext cx="6849362" cy="7903030"/>
          </a:xfrm>
          <a:custGeom>
            <a:avLst/>
            <a:gdLst>
              <a:gd name="connsiteX0" fmla="*/ 3951515 w 6849362"/>
              <a:gd name="connsiteY0" fmla="*/ 0 h 7903030"/>
              <a:gd name="connsiteX1" fmla="*/ 4030889 w 6849362"/>
              <a:gd name="connsiteY1" fmla="*/ 2007 h 7903030"/>
              <a:gd name="connsiteX2" fmla="*/ 3910515 w 6849362"/>
              <a:gd name="connsiteY2" fmla="*/ 5051 h 7903030"/>
              <a:gd name="connsiteX3" fmla="*/ 228600 w 6849362"/>
              <a:gd name="connsiteY3" fmla="*/ 3881665 h 7903030"/>
              <a:gd name="connsiteX4" fmla="*/ 4110265 w 6849362"/>
              <a:gd name="connsiteY4" fmla="*/ 7763330 h 7903030"/>
              <a:gd name="connsiteX5" fmla="*/ 6579364 w 6849362"/>
              <a:gd name="connsiteY5" fmla="*/ 6876946 h 7903030"/>
              <a:gd name="connsiteX6" fmla="*/ 6849362 w 6849362"/>
              <a:gd name="connsiteY6" fmla="*/ 6631555 h 7903030"/>
              <a:gd name="connsiteX7" fmla="*/ 6745658 w 6849362"/>
              <a:gd name="connsiteY7" fmla="*/ 6745658 h 7903030"/>
              <a:gd name="connsiteX8" fmla="*/ 3951515 w 6849362"/>
              <a:gd name="connsiteY8" fmla="*/ 7903030 h 7903030"/>
              <a:gd name="connsiteX9" fmla="*/ 0 w 6849362"/>
              <a:gd name="connsiteY9" fmla="*/ 3951515 h 7903030"/>
              <a:gd name="connsiteX10" fmla="*/ 3951515 w 6849362"/>
              <a:gd name="connsiteY10" fmla="*/ 0 h 790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49362" h="7903030">
                <a:moveTo>
                  <a:pt x="3951515" y="0"/>
                </a:moveTo>
                <a:lnTo>
                  <a:pt x="4030889" y="2007"/>
                </a:lnTo>
                <a:lnTo>
                  <a:pt x="3910515" y="5051"/>
                </a:lnTo>
                <a:cubicBezTo>
                  <a:pt x="1859561" y="109014"/>
                  <a:pt x="228600" y="1804874"/>
                  <a:pt x="228600" y="3881665"/>
                </a:cubicBezTo>
                <a:cubicBezTo>
                  <a:pt x="228600" y="6025449"/>
                  <a:pt x="1966481" y="7763330"/>
                  <a:pt x="4110265" y="7763330"/>
                </a:cubicBezTo>
                <a:cubicBezTo>
                  <a:pt x="5048171" y="7763330"/>
                  <a:pt x="5908384" y="7430689"/>
                  <a:pt x="6579364" y="6876946"/>
                </a:cubicBezTo>
                <a:lnTo>
                  <a:pt x="6849362" y="6631555"/>
                </a:lnTo>
                <a:lnTo>
                  <a:pt x="6745658" y="6745658"/>
                </a:lnTo>
                <a:cubicBezTo>
                  <a:pt x="6030574" y="7460742"/>
                  <a:pt x="5042696" y="7903030"/>
                  <a:pt x="3951515" y="7903030"/>
                </a:cubicBezTo>
                <a:cubicBezTo>
                  <a:pt x="1769154" y="7903030"/>
                  <a:pt x="0" y="6133876"/>
                  <a:pt x="0" y="3951515"/>
                </a:cubicBezTo>
                <a:cubicBezTo>
                  <a:pt x="0" y="1769154"/>
                  <a:pt x="1769154" y="0"/>
                  <a:pt x="3951515" y="0"/>
                </a:cubicBezTo>
                <a:close/>
              </a:path>
            </a:pathLst>
          </a:custGeom>
          <a:gradFill>
            <a:gsLst>
              <a:gs pos="81000">
                <a:srgbClr val="4EC0FF"/>
              </a:gs>
              <a:gs pos="34000">
                <a:srgbClr val="00B050"/>
              </a:gs>
              <a:gs pos="0">
                <a:srgbClr val="73E1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97" y="416589"/>
            <a:ext cx="7664800" cy="7664800"/>
          </a:xfrm>
          <a:prstGeom prst="ellipse">
            <a:avLst/>
          </a:prstGeom>
        </p:spPr>
      </p:pic>
      <p:grpSp>
        <p:nvGrpSpPr>
          <p:cNvPr id="6" name="组合 5"/>
          <p:cNvGrpSpPr/>
          <p:nvPr/>
        </p:nvGrpSpPr>
        <p:grpSpPr>
          <a:xfrm rot="20700000">
            <a:off x="292257" y="996099"/>
            <a:ext cx="2101886" cy="7512154"/>
            <a:chOff x="3211546" y="2248484"/>
            <a:chExt cx="1813991" cy="6483215"/>
          </a:xfrm>
        </p:grpSpPr>
        <p:sp>
          <p:nvSpPr>
            <p:cNvPr id="18" name="任意多边形 17"/>
            <p:cNvSpPr/>
            <p:nvPr/>
          </p:nvSpPr>
          <p:spPr>
            <a:xfrm rot="1580577" flipH="1">
              <a:off x="3211546" y="3484956"/>
              <a:ext cx="1215509" cy="4810146"/>
            </a:xfrm>
            <a:custGeom>
              <a:avLst/>
              <a:gdLst>
                <a:gd name="connsiteX0" fmla="*/ 793109 w 1786597"/>
                <a:gd name="connsiteY0" fmla="*/ 6347326 h 6483215"/>
                <a:gd name="connsiteX1" fmla="*/ 696477 w 1786597"/>
                <a:gd name="connsiteY1" fmla="*/ 6483215 h 6483215"/>
                <a:gd name="connsiteX2" fmla="*/ 693333 w 1786597"/>
                <a:gd name="connsiteY2" fmla="*/ 6482732 h 6483215"/>
                <a:gd name="connsiteX3" fmla="*/ 187644 w 1786597"/>
                <a:gd name="connsiteY3" fmla="*/ 6366665 h 6483215"/>
                <a:gd name="connsiteX4" fmla="*/ 73044 w 1786597"/>
                <a:gd name="connsiteY4" fmla="*/ 6331241 h 6483215"/>
                <a:gd name="connsiteX5" fmla="*/ 0 w 1786597"/>
                <a:gd name="connsiteY5" fmla="*/ 6304549 h 6483215"/>
                <a:gd name="connsiteX6" fmla="*/ 8817 w 1786597"/>
                <a:gd name="connsiteY6" fmla="*/ 6296142 h 6483215"/>
                <a:gd name="connsiteX7" fmla="*/ 1556144 w 1786597"/>
                <a:gd name="connsiteY7" fmla="*/ 2560565 h 6483215"/>
                <a:gd name="connsiteX8" fmla="*/ 918526 w 1786597"/>
                <a:gd name="connsiteY8" fmla="*/ 42419 h 6483215"/>
                <a:gd name="connsiteX9" fmla="*/ 894134 w 1786597"/>
                <a:gd name="connsiteY9" fmla="*/ 0 h 6483215"/>
                <a:gd name="connsiteX10" fmla="*/ 944420 w 1786597"/>
                <a:gd name="connsiteY10" fmla="*/ 78436 h 6483215"/>
                <a:gd name="connsiteX11" fmla="*/ 1786597 w 1786597"/>
                <a:gd name="connsiteY11" fmla="*/ 3094871 h 6483215"/>
                <a:gd name="connsiteX12" fmla="*/ 793109 w 1786597"/>
                <a:gd name="connsiteY12" fmla="*/ 6347326 h 648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597" h="6483215">
                  <a:moveTo>
                    <a:pt x="793109" y="6347326"/>
                  </a:moveTo>
                  <a:lnTo>
                    <a:pt x="696477" y="6483215"/>
                  </a:lnTo>
                  <a:lnTo>
                    <a:pt x="693333" y="6482732"/>
                  </a:lnTo>
                  <a:cubicBezTo>
                    <a:pt x="524523" y="6452607"/>
                    <a:pt x="355790" y="6414003"/>
                    <a:pt x="187644" y="6366665"/>
                  </a:cubicBezTo>
                  <a:lnTo>
                    <a:pt x="73044" y="6331241"/>
                  </a:lnTo>
                  <a:lnTo>
                    <a:pt x="0" y="6304549"/>
                  </a:lnTo>
                  <a:lnTo>
                    <a:pt x="8817" y="6296142"/>
                  </a:lnTo>
                  <a:cubicBezTo>
                    <a:pt x="964834" y="5340125"/>
                    <a:pt x="1556144" y="4019399"/>
                    <a:pt x="1556144" y="2560565"/>
                  </a:cubicBezTo>
                  <a:cubicBezTo>
                    <a:pt x="1556144" y="1648795"/>
                    <a:pt x="1325164" y="790972"/>
                    <a:pt x="918526" y="42419"/>
                  </a:cubicBezTo>
                  <a:lnTo>
                    <a:pt x="894134" y="0"/>
                  </a:lnTo>
                  <a:lnTo>
                    <a:pt x="944420" y="78436"/>
                  </a:lnTo>
                  <a:cubicBezTo>
                    <a:pt x="1478844" y="957982"/>
                    <a:pt x="1786597" y="1990486"/>
                    <a:pt x="1786597" y="3094871"/>
                  </a:cubicBezTo>
                  <a:cubicBezTo>
                    <a:pt x="1786597" y="4299654"/>
                    <a:pt x="1420346" y="5418895"/>
                    <a:pt x="793109" y="6347326"/>
                  </a:cubicBezTo>
                  <a:close/>
                </a:path>
              </a:pathLst>
            </a:cu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 rot="2403170" flipH="1">
              <a:off x="3238940" y="2248484"/>
              <a:ext cx="1786597" cy="6483215"/>
            </a:xfrm>
            <a:custGeom>
              <a:avLst/>
              <a:gdLst>
                <a:gd name="connsiteX0" fmla="*/ 793109 w 1786597"/>
                <a:gd name="connsiteY0" fmla="*/ 6347326 h 6483215"/>
                <a:gd name="connsiteX1" fmla="*/ 696477 w 1786597"/>
                <a:gd name="connsiteY1" fmla="*/ 6483215 h 6483215"/>
                <a:gd name="connsiteX2" fmla="*/ 693333 w 1786597"/>
                <a:gd name="connsiteY2" fmla="*/ 6482732 h 6483215"/>
                <a:gd name="connsiteX3" fmla="*/ 187644 w 1786597"/>
                <a:gd name="connsiteY3" fmla="*/ 6366665 h 6483215"/>
                <a:gd name="connsiteX4" fmla="*/ 73044 w 1786597"/>
                <a:gd name="connsiteY4" fmla="*/ 6331241 h 6483215"/>
                <a:gd name="connsiteX5" fmla="*/ 0 w 1786597"/>
                <a:gd name="connsiteY5" fmla="*/ 6304549 h 6483215"/>
                <a:gd name="connsiteX6" fmla="*/ 8817 w 1786597"/>
                <a:gd name="connsiteY6" fmla="*/ 6296142 h 6483215"/>
                <a:gd name="connsiteX7" fmla="*/ 1556144 w 1786597"/>
                <a:gd name="connsiteY7" fmla="*/ 2560565 h 6483215"/>
                <a:gd name="connsiteX8" fmla="*/ 918526 w 1786597"/>
                <a:gd name="connsiteY8" fmla="*/ 42419 h 6483215"/>
                <a:gd name="connsiteX9" fmla="*/ 894134 w 1786597"/>
                <a:gd name="connsiteY9" fmla="*/ 0 h 6483215"/>
                <a:gd name="connsiteX10" fmla="*/ 944420 w 1786597"/>
                <a:gd name="connsiteY10" fmla="*/ 78436 h 6483215"/>
                <a:gd name="connsiteX11" fmla="*/ 1786597 w 1786597"/>
                <a:gd name="connsiteY11" fmla="*/ 3094871 h 6483215"/>
                <a:gd name="connsiteX12" fmla="*/ 793109 w 1786597"/>
                <a:gd name="connsiteY12" fmla="*/ 6347326 h 648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597" h="6483215">
                  <a:moveTo>
                    <a:pt x="793109" y="6347326"/>
                  </a:moveTo>
                  <a:lnTo>
                    <a:pt x="696477" y="6483215"/>
                  </a:lnTo>
                  <a:lnTo>
                    <a:pt x="693333" y="6482732"/>
                  </a:lnTo>
                  <a:cubicBezTo>
                    <a:pt x="524523" y="6452607"/>
                    <a:pt x="355790" y="6414003"/>
                    <a:pt x="187644" y="6366665"/>
                  </a:cubicBezTo>
                  <a:lnTo>
                    <a:pt x="73044" y="6331241"/>
                  </a:lnTo>
                  <a:lnTo>
                    <a:pt x="0" y="6304549"/>
                  </a:lnTo>
                  <a:lnTo>
                    <a:pt x="8817" y="6296142"/>
                  </a:lnTo>
                  <a:cubicBezTo>
                    <a:pt x="964834" y="5340125"/>
                    <a:pt x="1556144" y="4019399"/>
                    <a:pt x="1556144" y="2560565"/>
                  </a:cubicBezTo>
                  <a:cubicBezTo>
                    <a:pt x="1556144" y="1648795"/>
                    <a:pt x="1325164" y="790972"/>
                    <a:pt x="918526" y="42419"/>
                  </a:cubicBezTo>
                  <a:lnTo>
                    <a:pt x="894134" y="0"/>
                  </a:lnTo>
                  <a:lnTo>
                    <a:pt x="944420" y="78436"/>
                  </a:lnTo>
                  <a:cubicBezTo>
                    <a:pt x="1478844" y="957982"/>
                    <a:pt x="1786597" y="1990486"/>
                    <a:pt x="1786597" y="3094871"/>
                  </a:cubicBezTo>
                  <a:cubicBezTo>
                    <a:pt x="1786597" y="4299654"/>
                    <a:pt x="1420346" y="5418895"/>
                    <a:pt x="793109" y="6347326"/>
                  </a:cubicBezTo>
                  <a:close/>
                </a:path>
              </a:pathLst>
            </a:cu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3599849" y="3331968"/>
            <a:ext cx="30315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关于软酷</a:t>
            </a:r>
            <a:r>
              <a:rPr lang="en-US" altLang="zh-CN" sz="4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4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  <a:endParaRPr lang="en-US" altLang="zh-CN" sz="3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430600" y="3122258"/>
            <a:ext cx="776483" cy="902631"/>
            <a:chOff x="5753555" y="2172360"/>
            <a:chExt cx="482600" cy="561004"/>
          </a:xfrm>
          <a:solidFill>
            <a:schemeClr val="bg1"/>
          </a:solidFill>
        </p:grpSpPr>
        <p:sp>
          <p:nvSpPr>
            <p:cNvPr id="28" name="Freeform 13"/>
            <p:cNvSpPr>
              <a:spLocks/>
            </p:cNvSpPr>
            <p:nvPr/>
          </p:nvSpPr>
          <p:spPr bwMode="auto">
            <a:xfrm>
              <a:off x="5864404" y="2238599"/>
              <a:ext cx="371751" cy="494765"/>
            </a:xfrm>
            <a:custGeom>
              <a:avLst/>
              <a:gdLst>
                <a:gd name="T0" fmla="*/ 104 w 154"/>
                <a:gd name="T1" fmla="*/ 85 h 205"/>
                <a:gd name="T2" fmla="*/ 124 w 154"/>
                <a:gd name="T3" fmla="*/ 47 h 205"/>
                <a:gd name="T4" fmla="*/ 77 w 154"/>
                <a:gd name="T5" fmla="*/ 0 h 205"/>
                <a:gd name="T6" fmla="*/ 30 w 154"/>
                <a:gd name="T7" fmla="*/ 47 h 205"/>
                <a:gd name="T8" fmla="*/ 50 w 154"/>
                <a:gd name="T9" fmla="*/ 85 h 205"/>
                <a:gd name="T10" fmla="*/ 0 w 154"/>
                <a:gd name="T11" fmla="*/ 157 h 205"/>
                <a:gd name="T12" fmla="*/ 6 w 154"/>
                <a:gd name="T13" fmla="*/ 186 h 205"/>
                <a:gd name="T14" fmla="*/ 77 w 154"/>
                <a:gd name="T15" fmla="*/ 205 h 205"/>
                <a:gd name="T16" fmla="*/ 148 w 154"/>
                <a:gd name="T17" fmla="*/ 186 h 205"/>
                <a:gd name="T18" fmla="*/ 154 w 154"/>
                <a:gd name="T19" fmla="*/ 157 h 205"/>
                <a:gd name="T20" fmla="*/ 104 w 154"/>
                <a:gd name="T21" fmla="*/ 8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05">
                  <a:moveTo>
                    <a:pt x="104" y="85"/>
                  </a:moveTo>
                  <a:cubicBezTo>
                    <a:pt x="116" y="77"/>
                    <a:pt x="124" y="63"/>
                    <a:pt x="124" y="47"/>
                  </a:cubicBezTo>
                  <a:cubicBezTo>
                    <a:pt x="124" y="21"/>
                    <a:pt x="103" y="0"/>
                    <a:pt x="77" y="0"/>
                  </a:cubicBezTo>
                  <a:cubicBezTo>
                    <a:pt x="51" y="0"/>
                    <a:pt x="30" y="21"/>
                    <a:pt x="30" y="47"/>
                  </a:cubicBezTo>
                  <a:cubicBezTo>
                    <a:pt x="30" y="63"/>
                    <a:pt x="38" y="77"/>
                    <a:pt x="50" y="85"/>
                  </a:cubicBezTo>
                  <a:cubicBezTo>
                    <a:pt x="21" y="96"/>
                    <a:pt x="0" y="124"/>
                    <a:pt x="0" y="157"/>
                  </a:cubicBezTo>
                  <a:cubicBezTo>
                    <a:pt x="0" y="167"/>
                    <a:pt x="2" y="177"/>
                    <a:pt x="6" y="186"/>
                  </a:cubicBezTo>
                  <a:cubicBezTo>
                    <a:pt x="27" y="198"/>
                    <a:pt x="51" y="205"/>
                    <a:pt x="77" y="205"/>
                  </a:cubicBezTo>
                  <a:cubicBezTo>
                    <a:pt x="103" y="205"/>
                    <a:pt x="127" y="198"/>
                    <a:pt x="148" y="186"/>
                  </a:cubicBezTo>
                  <a:cubicBezTo>
                    <a:pt x="152" y="177"/>
                    <a:pt x="154" y="167"/>
                    <a:pt x="154" y="157"/>
                  </a:cubicBezTo>
                  <a:cubicBezTo>
                    <a:pt x="154" y="124"/>
                    <a:pt x="133" y="96"/>
                    <a:pt x="104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Freeform 14"/>
            <p:cNvSpPr>
              <a:spLocks/>
            </p:cNvSpPr>
            <p:nvPr/>
          </p:nvSpPr>
          <p:spPr bwMode="auto">
            <a:xfrm>
              <a:off x="5753555" y="2172360"/>
              <a:ext cx="258198" cy="442045"/>
            </a:xfrm>
            <a:custGeom>
              <a:avLst/>
              <a:gdLst>
                <a:gd name="T0" fmla="*/ 53 w 107"/>
                <a:gd name="T1" fmla="*/ 135 h 183"/>
                <a:gd name="T2" fmla="*/ 81 w 107"/>
                <a:gd name="T3" fmla="*/ 110 h 183"/>
                <a:gd name="T4" fmla="*/ 68 w 107"/>
                <a:gd name="T5" fmla="*/ 74 h 183"/>
                <a:gd name="T6" fmla="*/ 107 w 107"/>
                <a:gd name="T7" fmla="*/ 21 h 183"/>
                <a:gd name="T8" fmla="*/ 70 w 107"/>
                <a:gd name="T9" fmla="*/ 0 h 183"/>
                <a:gd name="T10" fmla="*/ 28 w 107"/>
                <a:gd name="T11" fmla="*/ 43 h 183"/>
                <a:gd name="T12" fmla="*/ 46 w 107"/>
                <a:gd name="T13" fmla="*/ 78 h 183"/>
                <a:gd name="T14" fmla="*/ 0 w 107"/>
                <a:gd name="T15" fmla="*/ 143 h 183"/>
                <a:gd name="T16" fmla="*/ 6 w 107"/>
                <a:gd name="T17" fmla="*/ 169 h 183"/>
                <a:gd name="T18" fmla="*/ 38 w 107"/>
                <a:gd name="T19" fmla="*/ 183 h 183"/>
                <a:gd name="T20" fmla="*/ 53 w 107"/>
                <a:gd name="T21" fmla="*/ 13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" h="183">
                  <a:moveTo>
                    <a:pt x="53" y="135"/>
                  </a:moveTo>
                  <a:cubicBezTo>
                    <a:pt x="61" y="124"/>
                    <a:pt x="70" y="116"/>
                    <a:pt x="81" y="110"/>
                  </a:cubicBezTo>
                  <a:cubicBezTo>
                    <a:pt x="73" y="100"/>
                    <a:pt x="68" y="87"/>
                    <a:pt x="68" y="74"/>
                  </a:cubicBezTo>
                  <a:cubicBezTo>
                    <a:pt x="68" y="49"/>
                    <a:pt x="84" y="28"/>
                    <a:pt x="107" y="21"/>
                  </a:cubicBezTo>
                  <a:cubicBezTo>
                    <a:pt x="100" y="8"/>
                    <a:pt x="86" y="0"/>
                    <a:pt x="70" y="0"/>
                  </a:cubicBezTo>
                  <a:cubicBezTo>
                    <a:pt x="47" y="0"/>
                    <a:pt x="28" y="19"/>
                    <a:pt x="28" y="43"/>
                  </a:cubicBezTo>
                  <a:cubicBezTo>
                    <a:pt x="28" y="57"/>
                    <a:pt x="35" y="70"/>
                    <a:pt x="46" y="78"/>
                  </a:cubicBezTo>
                  <a:cubicBezTo>
                    <a:pt x="19" y="87"/>
                    <a:pt x="0" y="113"/>
                    <a:pt x="0" y="143"/>
                  </a:cubicBezTo>
                  <a:cubicBezTo>
                    <a:pt x="0" y="152"/>
                    <a:pt x="2" y="161"/>
                    <a:pt x="6" y="169"/>
                  </a:cubicBezTo>
                  <a:cubicBezTo>
                    <a:pt x="16" y="175"/>
                    <a:pt x="26" y="180"/>
                    <a:pt x="38" y="183"/>
                  </a:cubicBezTo>
                  <a:cubicBezTo>
                    <a:pt x="38" y="165"/>
                    <a:pt x="43" y="149"/>
                    <a:pt x="53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2291116" y="4054818"/>
            <a:ext cx="4300830" cy="146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一款专为大学生量身打造的贷款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9" name="矩形 18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1128221" y="416589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团队简介</a:t>
            </a:r>
          </a:p>
        </p:txBody>
      </p:sp>
    </p:spTree>
    <p:extLst>
      <p:ext uri="{BB962C8B-B14F-4D97-AF65-F5344CB8AC3E}">
        <p14:creationId xmlns:p14="http://schemas.microsoft.com/office/powerpoint/2010/main" val="147423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5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 rot="20700000" flipV="1">
            <a:off x="1295271" y="-2093200"/>
            <a:ext cx="2101886" cy="7512154"/>
            <a:chOff x="3211546" y="2248484"/>
            <a:chExt cx="1813991" cy="6483215"/>
          </a:xfrm>
        </p:grpSpPr>
        <p:sp>
          <p:nvSpPr>
            <p:cNvPr id="37" name="任意多边形 36"/>
            <p:cNvSpPr/>
            <p:nvPr/>
          </p:nvSpPr>
          <p:spPr>
            <a:xfrm rot="1580577" flipH="1">
              <a:off x="3211546" y="3484956"/>
              <a:ext cx="1215509" cy="4810146"/>
            </a:xfrm>
            <a:custGeom>
              <a:avLst/>
              <a:gdLst>
                <a:gd name="connsiteX0" fmla="*/ 793109 w 1786597"/>
                <a:gd name="connsiteY0" fmla="*/ 6347326 h 6483215"/>
                <a:gd name="connsiteX1" fmla="*/ 696477 w 1786597"/>
                <a:gd name="connsiteY1" fmla="*/ 6483215 h 6483215"/>
                <a:gd name="connsiteX2" fmla="*/ 693333 w 1786597"/>
                <a:gd name="connsiteY2" fmla="*/ 6482732 h 6483215"/>
                <a:gd name="connsiteX3" fmla="*/ 187644 w 1786597"/>
                <a:gd name="connsiteY3" fmla="*/ 6366665 h 6483215"/>
                <a:gd name="connsiteX4" fmla="*/ 73044 w 1786597"/>
                <a:gd name="connsiteY4" fmla="*/ 6331241 h 6483215"/>
                <a:gd name="connsiteX5" fmla="*/ 0 w 1786597"/>
                <a:gd name="connsiteY5" fmla="*/ 6304549 h 6483215"/>
                <a:gd name="connsiteX6" fmla="*/ 8817 w 1786597"/>
                <a:gd name="connsiteY6" fmla="*/ 6296142 h 6483215"/>
                <a:gd name="connsiteX7" fmla="*/ 1556144 w 1786597"/>
                <a:gd name="connsiteY7" fmla="*/ 2560565 h 6483215"/>
                <a:gd name="connsiteX8" fmla="*/ 918526 w 1786597"/>
                <a:gd name="connsiteY8" fmla="*/ 42419 h 6483215"/>
                <a:gd name="connsiteX9" fmla="*/ 894134 w 1786597"/>
                <a:gd name="connsiteY9" fmla="*/ 0 h 6483215"/>
                <a:gd name="connsiteX10" fmla="*/ 944420 w 1786597"/>
                <a:gd name="connsiteY10" fmla="*/ 78436 h 6483215"/>
                <a:gd name="connsiteX11" fmla="*/ 1786597 w 1786597"/>
                <a:gd name="connsiteY11" fmla="*/ 3094871 h 6483215"/>
                <a:gd name="connsiteX12" fmla="*/ 793109 w 1786597"/>
                <a:gd name="connsiteY12" fmla="*/ 6347326 h 648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597" h="6483215">
                  <a:moveTo>
                    <a:pt x="793109" y="6347326"/>
                  </a:moveTo>
                  <a:lnTo>
                    <a:pt x="696477" y="6483215"/>
                  </a:lnTo>
                  <a:lnTo>
                    <a:pt x="693333" y="6482732"/>
                  </a:lnTo>
                  <a:cubicBezTo>
                    <a:pt x="524523" y="6452607"/>
                    <a:pt x="355790" y="6414003"/>
                    <a:pt x="187644" y="6366665"/>
                  </a:cubicBezTo>
                  <a:lnTo>
                    <a:pt x="73044" y="6331241"/>
                  </a:lnTo>
                  <a:lnTo>
                    <a:pt x="0" y="6304549"/>
                  </a:lnTo>
                  <a:lnTo>
                    <a:pt x="8817" y="6296142"/>
                  </a:lnTo>
                  <a:cubicBezTo>
                    <a:pt x="964834" y="5340125"/>
                    <a:pt x="1556144" y="4019399"/>
                    <a:pt x="1556144" y="2560565"/>
                  </a:cubicBezTo>
                  <a:cubicBezTo>
                    <a:pt x="1556144" y="1648795"/>
                    <a:pt x="1325164" y="790972"/>
                    <a:pt x="918526" y="42419"/>
                  </a:cubicBezTo>
                  <a:lnTo>
                    <a:pt x="894134" y="0"/>
                  </a:lnTo>
                  <a:lnTo>
                    <a:pt x="944420" y="78436"/>
                  </a:lnTo>
                  <a:cubicBezTo>
                    <a:pt x="1478844" y="957982"/>
                    <a:pt x="1786597" y="1990486"/>
                    <a:pt x="1786597" y="3094871"/>
                  </a:cubicBezTo>
                  <a:cubicBezTo>
                    <a:pt x="1786597" y="4299654"/>
                    <a:pt x="1420346" y="5418895"/>
                    <a:pt x="793109" y="6347326"/>
                  </a:cubicBezTo>
                  <a:close/>
                </a:path>
              </a:pathLst>
            </a:cu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 rot="2403170" flipH="1">
              <a:off x="3238940" y="2248484"/>
              <a:ext cx="1786597" cy="6483215"/>
            </a:xfrm>
            <a:custGeom>
              <a:avLst/>
              <a:gdLst>
                <a:gd name="connsiteX0" fmla="*/ 793109 w 1786597"/>
                <a:gd name="connsiteY0" fmla="*/ 6347326 h 6483215"/>
                <a:gd name="connsiteX1" fmla="*/ 696477 w 1786597"/>
                <a:gd name="connsiteY1" fmla="*/ 6483215 h 6483215"/>
                <a:gd name="connsiteX2" fmla="*/ 693333 w 1786597"/>
                <a:gd name="connsiteY2" fmla="*/ 6482732 h 6483215"/>
                <a:gd name="connsiteX3" fmla="*/ 187644 w 1786597"/>
                <a:gd name="connsiteY3" fmla="*/ 6366665 h 6483215"/>
                <a:gd name="connsiteX4" fmla="*/ 73044 w 1786597"/>
                <a:gd name="connsiteY4" fmla="*/ 6331241 h 6483215"/>
                <a:gd name="connsiteX5" fmla="*/ 0 w 1786597"/>
                <a:gd name="connsiteY5" fmla="*/ 6304549 h 6483215"/>
                <a:gd name="connsiteX6" fmla="*/ 8817 w 1786597"/>
                <a:gd name="connsiteY6" fmla="*/ 6296142 h 6483215"/>
                <a:gd name="connsiteX7" fmla="*/ 1556144 w 1786597"/>
                <a:gd name="connsiteY7" fmla="*/ 2560565 h 6483215"/>
                <a:gd name="connsiteX8" fmla="*/ 918526 w 1786597"/>
                <a:gd name="connsiteY8" fmla="*/ 42419 h 6483215"/>
                <a:gd name="connsiteX9" fmla="*/ 894134 w 1786597"/>
                <a:gd name="connsiteY9" fmla="*/ 0 h 6483215"/>
                <a:gd name="connsiteX10" fmla="*/ 944420 w 1786597"/>
                <a:gd name="connsiteY10" fmla="*/ 78436 h 6483215"/>
                <a:gd name="connsiteX11" fmla="*/ 1786597 w 1786597"/>
                <a:gd name="connsiteY11" fmla="*/ 3094871 h 6483215"/>
                <a:gd name="connsiteX12" fmla="*/ 793109 w 1786597"/>
                <a:gd name="connsiteY12" fmla="*/ 6347326 h 648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6597" h="6483215">
                  <a:moveTo>
                    <a:pt x="793109" y="6347326"/>
                  </a:moveTo>
                  <a:lnTo>
                    <a:pt x="696477" y="6483215"/>
                  </a:lnTo>
                  <a:lnTo>
                    <a:pt x="693333" y="6482732"/>
                  </a:lnTo>
                  <a:cubicBezTo>
                    <a:pt x="524523" y="6452607"/>
                    <a:pt x="355790" y="6414003"/>
                    <a:pt x="187644" y="6366665"/>
                  </a:cubicBezTo>
                  <a:lnTo>
                    <a:pt x="73044" y="6331241"/>
                  </a:lnTo>
                  <a:lnTo>
                    <a:pt x="0" y="6304549"/>
                  </a:lnTo>
                  <a:lnTo>
                    <a:pt x="8817" y="6296142"/>
                  </a:lnTo>
                  <a:cubicBezTo>
                    <a:pt x="964834" y="5340125"/>
                    <a:pt x="1556144" y="4019399"/>
                    <a:pt x="1556144" y="2560565"/>
                  </a:cubicBezTo>
                  <a:cubicBezTo>
                    <a:pt x="1556144" y="1648795"/>
                    <a:pt x="1325164" y="790972"/>
                    <a:pt x="918526" y="42419"/>
                  </a:cubicBezTo>
                  <a:lnTo>
                    <a:pt x="894134" y="0"/>
                  </a:lnTo>
                  <a:lnTo>
                    <a:pt x="944420" y="78436"/>
                  </a:lnTo>
                  <a:cubicBezTo>
                    <a:pt x="1478844" y="957982"/>
                    <a:pt x="1786597" y="1990486"/>
                    <a:pt x="1786597" y="3094871"/>
                  </a:cubicBezTo>
                  <a:cubicBezTo>
                    <a:pt x="1786597" y="4299654"/>
                    <a:pt x="1420346" y="5418895"/>
                    <a:pt x="793109" y="6347326"/>
                  </a:cubicBezTo>
                  <a:close/>
                </a:path>
              </a:pathLst>
            </a:cu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8" name="椭圆 7"/>
          <p:cNvSpPr/>
          <p:nvPr/>
        </p:nvSpPr>
        <p:spPr>
          <a:xfrm>
            <a:off x="3332785" y="756822"/>
            <a:ext cx="5526430" cy="552643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40834" y="1364871"/>
            <a:ext cx="4310332" cy="4310332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569424" y="1993461"/>
            <a:ext cx="3053152" cy="3053152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14315" y="2638352"/>
            <a:ext cx="1763370" cy="1763370"/>
          </a:xfrm>
          <a:prstGeom prst="ellipse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760045" y="5737928"/>
            <a:ext cx="517410" cy="517410"/>
            <a:chOff x="3055880" y="5769195"/>
            <a:chExt cx="517410" cy="517410"/>
          </a:xfrm>
        </p:grpSpPr>
        <p:sp>
          <p:nvSpPr>
            <p:cNvPr id="30" name="椭圆 29"/>
            <p:cNvSpPr/>
            <p:nvPr/>
          </p:nvSpPr>
          <p:spPr>
            <a:xfrm>
              <a:off x="3055880" y="5769195"/>
              <a:ext cx="517410" cy="517410"/>
            </a:xfrm>
            <a:prstGeom prst="ellipse">
              <a:avLst/>
            </a:prstGeom>
            <a:solidFill>
              <a:schemeClr val="bg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十字形 30"/>
            <p:cNvSpPr/>
            <p:nvPr/>
          </p:nvSpPr>
          <p:spPr>
            <a:xfrm>
              <a:off x="3221601" y="5934916"/>
              <a:ext cx="185968" cy="185968"/>
            </a:xfrm>
            <a:prstGeom prst="plus">
              <a:avLst>
                <a:gd name="adj" fmla="val 436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630888" y="5598236"/>
            <a:ext cx="1965856" cy="780648"/>
            <a:chOff x="414832" y="4198936"/>
            <a:chExt cx="2309904" cy="822680"/>
          </a:xfrm>
        </p:grpSpPr>
        <p:sp>
          <p:nvSpPr>
            <p:cNvPr id="39" name="圆角矩形 38"/>
            <p:cNvSpPr/>
            <p:nvPr/>
          </p:nvSpPr>
          <p:spPr>
            <a:xfrm>
              <a:off x="414832" y="4198936"/>
              <a:ext cx="2309904" cy="8226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7D3FF"/>
                </a:gs>
                <a:gs pos="100000">
                  <a:srgbClr val="5D63FE"/>
                </a:gs>
                <a:gs pos="53000">
                  <a:srgbClr val="44ADFE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414832" y="4410126"/>
              <a:ext cx="2309904" cy="389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团 队 成 员</a:t>
              </a:r>
              <a:endPara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54" y="2639093"/>
            <a:ext cx="1769116" cy="1769116"/>
          </a:xfrm>
          <a:prstGeom prst="ellipse">
            <a:avLst/>
          </a:prstGeom>
          <a:ln w="15875">
            <a:noFill/>
          </a:ln>
        </p:spPr>
      </p:pic>
      <p:sp>
        <p:nvSpPr>
          <p:cNvPr id="33" name="任意多边形 32"/>
          <p:cNvSpPr/>
          <p:nvPr/>
        </p:nvSpPr>
        <p:spPr>
          <a:xfrm rot="10800000" flipH="1" flipV="1">
            <a:off x="7377939" y="-6467737"/>
            <a:ext cx="6849362" cy="7903030"/>
          </a:xfrm>
          <a:custGeom>
            <a:avLst/>
            <a:gdLst>
              <a:gd name="connsiteX0" fmla="*/ 3951515 w 6849362"/>
              <a:gd name="connsiteY0" fmla="*/ 0 h 7903030"/>
              <a:gd name="connsiteX1" fmla="*/ 4030889 w 6849362"/>
              <a:gd name="connsiteY1" fmla="*/ 2007 h 7903030"/>
              <a:gd name="connsiteX2" fmla="*/ 3910515 w 6849362"/>
              <a:gd name="connsiteY2" fmla="*/ 5051 h 7903030"/>
              <a:gd name="connsiteX3" fmla="*/ 228600 w 6849362"/>
              <a:gd name="connsiteY3" fmla="*/ 3881665 h 7903030"/>
              <a:gd name="connsiteX4" fmla="*/ 4110265 w 6849362"/>
              <a:gd name="connsiteY4" fmla="*/ 7763330 h 7903030"/>
              <a:gd name="connsiteX5" fmla="*/ 6579364 w 6849362"/>
              <a:gd name="connsiteY5" fmla="*/ 6876946 h 7903030"/>
              <a:gd name="connsiteX6" fmla="*/ 6849362 w 6849362"/>
              <a:gd name="connsiteY6" fmla="*/ 6631555 h 7903030"/>
              <a:gd name="connsiteX7" fmla="*/ 6745658 w 6849362"/>
              <a:gd name="connsiteY7" fmla="*/ 6745658 h 7903030"/>
              <a:gd name="connsiteX8" fmla="*/ 3951515 w 6849362"/>
              <a:gd name="connsiteY8" fmla="*/ 7903030 h 7903030"/>
              <a:gd name="connsiteX9" fmla="*/ 0 w 6849362"/>
              <a:gd name="connsiteY9" fmla="*/ 3951515 h 7903030"/>
              <a:gd name="connsiteX10" fmla="*/ 3951515 w 6849362"/>
              <a:gd name="connsiteY10" fmla="*/ 0 h 790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49362" h="7903030">
                <a:moveTo>
                  <a:pt x="3951515" y="0"/>
                </a:moveTo>
                <a:lnTo>
                  <a:pt x="4030889" y="2007"/>
                </a:lnTo>
                <a:lnTo>
                  <a:pt x="3910515" y="5051"/>
                </a:lnTo>
                <a:cubicBezTo>
                  <a:pt x="1859561" y="109014"/>
                  <a:pt x="228600" y="1804874"/>
                  <a:pt x="228600" y="3881665"/>
                </a:cubicBezTo>
                <a:cubicBezTo>
                  <a:pt x="228600" y="6025449"/>
                  <a:pt x="1966481" y="7763330"/>
                  <a:pt x="4110265" y="7763330"/>
                </a:cubicBezTo>
                <a:cubicBezTo>
                  <a:pt x="5048171" y="7763330"/>
                  <a:pt x="5908384" y="7430689"/>
                  <a:pt x="6579364" y="6876946"/>
                </a:cubicBezTo>
                <a:lnTo>
                  <a:pt x="6849362" y="6631555"/>
                </a:lnTo>
                <a:lnTo>
                  <a:pt x="6745658" y="6745658"/>
                </a:lnTo>
                <a:cubicBezTo>
                  <a:pt x="6030574" y="7460742"/>
                  <a:pt x="5042696" y="7903030"/>
                  <a:pt x="3951515" y="7903030"/>
                </a:cubicBezTo>
                <a:cubicBezTo>
                  <a:pt x="1769154" y="7903030"/>
                  <a:pt x="0" y="6133876"/>
                  <a:pt x="0" y="3951515"/>
                </a:cubicBezTo>
                <a:cubicBezTo>
                  <a:pt x="0" y="1769154"/>
                  <a:pt x="1769154" y="0"/>
                  <a:pt x="3951515" y="0"/>
                </a:cubicBezTo>
                <a:close/>
              </a:path>
            </a:pathLst>
          </a:custGeom>
          <a:gradFill>
            <a:gsLst>
              <a:gs pos="81000">
                <a:srgbClr val="4EC0FF"/>
              </a:gs>
              <a:gs pos="34000">
                <a:srgbClr val="00B050"/>
              </a:gs>
              <a:gs pos="0">
                <a:srgbClr val="73E1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 rot="13500000">
            <a:off x="-917039" y="4950662"/>
            <a:ext cx="2104681" cy="2939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7000">
                <a:srgbClr val="57D3FF">
                  <a:alpha val="0"/>
                </a:srgbClr>
              </a:gs>
              <a:gs pos="100000">
                <a:srgbClr val="5D63FE"/>
              </a:gs>
              <a:gs pos="69000">
                <a:srgbClr val="44ADFE">
                  <a:alpha val="66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 rot="13500000" flipV="1">
            <a:off x="-914506" y="4441627"/>
            <a:ext cx="2165338" cy="111335"/>
          </a:xfrm>
          <a:prstGeom prst="roundRect">
            <a:avLst>
              <a:gd name="adj" fmla="val 40268"/>
            </a:avLst>
          </a:prstGeom>
          <a:gradFill flip="none" rotWithShape="1">
            <a:gsLst>
              <a:gs pos="17000">
                <a:srgbClr val="57D3FF">
                  <a:alpha val="0"/>
                </a:srgbClr>
              </a:gs>
              <a:gs pos="100000">
                <a:srgbClr val="5D63FE"/>
              </a:gs>
              <a:gs pos="69000">
                <a:srgbClr val="44ADFE">
                  <a:alpha val="66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37278" y="4453410"/>
            <a:ext cx="16969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软酷</a:t>
            </a: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</a:p>
        </p:txBody>
      </p:sp>
    </p:spTree>
    <p:extLst>
      <p:ext uri="{BB962C8B-B14F-4D97-AF65-F5344CB8AC3E}">
        <p14:creationId xmlns:p14="http://schemas.microsoft.com/office/powerpoint/2010/main" val="3667364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117046" y="233157"/>
            <a:ext cx="3957908" cy="952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dirty="0">
                <a:gradFill flip="none" rotWithShape="1">
                  <a:gsLst>
                    <a:gs pos="0">
                      <a:srgbClr val="FBCB1D"/>
                    </a:gs>
                    <a:gs pos="25000">
                      <a:srgbClr val="ED1E79"/>
                    </a:gs>
                    <a:gs pos="75000">
                      <a:srgbClr val="56C8D7"/>
                    </a:gs>
                    <a:gs pos="51000">
                      <a:srgbClr val="73E14F"/>
                    </a:gs>
                    <a:gs pos="100000">
                      <a:srgbClr val="583273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目   录</a:t>
            </a:r>
          </a:p>
        </p:txBody>
      </p:sp>
      <p:sp>
        <p:nvSpPr>
          <p:cNvPr id="16" name="椭圆 15"/>
          <p:cNvSpPr/>
          <p:nvPr/>
        </p:nvSpPr>
        <p:spPr>
          <a:xfrm>
            <a:off x="1802703" y="1993095"/>
            <a:ext cx="1584000" cy="1584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2006000" y="2234640"/>
            <a:ext cx="1231888" cy="1231888"/>
          </a:xfrm>
          <a:prstGeom prst="rect">
            <a:avLst/>
          </a:prstGeom>
        </p:spPr>
      </p:pic>
      <p:cxnSp>
        <p:nvCxnSpPr>
          <p:cNvPr id="28" name="直接连接符 27"/>
          <p:cNvCxnSpPr/>
          <p:nvPr/>
        </p:nvCxnSpPr>
        <p:spPr>
          <a:xfrm>
            <a:off x="2654387" y="3533562"/>
            <a:ext cx="3347016" cy="0"/>
          </a:xfrm>
          <a:prstGeom prst="line">
            <a:avLst/>
          </a:prstGeom>
          <a:ln>
            <a:gradFill flip="none" rotWithShape="1">
              <a:gsLst>
                <a:gs pos="0">
                  <a:srgbClr val="1F203F"/>
                </a:gs>
                <a:gs pos="100000">
                  <a:srgbClr val="1F203F"/>
                </a:gs>
                <a:gs pos="60000">
                  <a:srgbClr val="FBCB1D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218913" y="2981939"/>
            <a:ext cx="24806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BC91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项目概述</a:t>
            </a:r>
            <a:endParaRPr lang="zh-CN" altLang="en-US" sz="2400" dirty="0">
              <a:solidFill>
                <a:srgbClr val="FBC91B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800904" y="4622698"/>
            <a:ext cx="1584000" cy="1584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2042933" y="4914126"/>
            <a:ext cx="1146894" cy="1146892"/>
          </a:xfrm>
          <a:prstGeom prst="rect">
            <a:avLst/>
          </a:prstGeom>
        </p:spPr>
      </p:pic>
      <p:cxnSp>
        <p:nvCxnSpPr>
          <p:cNvPr id="30" name="直接连接符 29"/>
          <p:cNvCxnSpPr/>
          <p:nvPr/>
        </p:nvCxnSpPr>
        <p:spPr>
          <a:xfrm>
            <a:off x="2645094" y="6128053"/>
            <a:ext cx="3347016" cy="0"/>
          </a:xfrm>
          <a:prstGeom prst="line">
            <a:avLst/>
          </a:prstGeom>
          <a:ln>
            <a:gradFill flip="none" rotWithShape="1">
              <a:gsLst>
                <a:gs pos="0">
                  <a:srgbClr val="1F203F"/>
                </a:gs>
                <a:gs pos="100000">
                  <a:srgbClr val="1F203F"/>
                </a:gs>
                <a:gs pos="60000">
                  <a:srgbClr val="ED1E79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218913" y="5580674"/>
            <a:ext cx="24806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亮点技术</a:t>
            </a:r>
            <a:endParaRPr lang="zh-CN" altLang="en-US" sz="2400" dirty="0">
              <a:solidFill>
                <a:srgbClr val="ED1E79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024162" y="1993095"/>
            <a:ext cx="1584000" cy="1584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7268647" y="2252822"/>
            <a:ext cx="1177057" cy="1177055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7904622" y="3524209"/>
            <a:ext cx="3347016" cy="0"/>
          </a:xfrm>
          <a:prstGeom prst="line">
            <a:avLst/>
          </a:prstGeom>
          <a:ln>
            <a:gradFill flip="none" rotWithShape="1">
              <a:gsLst>
                <a:gs pos="0">
                  <a:srgbClr val="1F203F"/>
                </a:gs>
                <a:gs pos="100000">
                  <a:srgbClr val="1F203F"/>
                </a:gs>
                <a:gs pos="60000">
                  <a:srgbClr val="73E14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472244" y="2981939"/>
            <a:ext cx="2893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特色及拓展功能</a:t>
            </a:r>
          </a:p>
        </p:txBody>
      </p:sp>
      <p:sp>
        <p:nvSpPr>
          <p:cNvPr id="24" name="椭圆 23"/>
          <p:cNvSpPr/>
          <p:nvPr/>
        </p:nvSpPr>
        <p:spPr>
          <a:xfrm>
            <a:off x="7065176" y="4599096"/>
            <a:ext cx="1584000" cy="1584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>
            <a:off x="7158034" y="4840351"/>
            <a:ext cx="1252015" cy="1252015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8019574" y="6117199"/>
            <a:ext cx="3347016" cy="0"/>
          </a:xfrm>
          <a:prstGeom prst="line">
            <a:avLst/>
          </a:prstGeom>
          <a:ln>
            <a:gradFill flip="none" rotWithShape="1">
              <a:gsLst>
                <a:gs pos="0">
                  <a:srgbClr val="1F203F"/>
                </a:gs>
                <a:gs pos="100000">
                  <a:srgbClr val="1F203F"/>
                </a:gs>
                <a:gs pos="60000">
                  <a:srgbClr val="4DBEFE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8502907" y="5567149"/>
            <a:ext cx="24806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终期总结</a:t>
            </a:r>
          </a:p>
        </p:txBody>
      </p:sp>
      <p:grpSp>
        <p:nvGrpSpPr>
          <p:cNvPr id="27" name="组合 26"/>
          <p:cNvGrpSpPr/>
          <p:nvPr/>
        </p:nvGrpSpPr>
        <p:grpSpPr>
          <a:xfrm rot="9000000">
            <a:off x="-920785" y="5732272"/>
            <a:ext cx="2450048" cy="2023041"/>
            <a:chOff x="5352628" y="1549737"/>
            <a:chExt cx="2450048" cy="2023041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rot="3810591">
              <a:off x="5975760" y="3244257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 rot="14400000">
            <a:off x="10222758" y="-178466"/>
            <a:ext cx="3130315" cy="3002665"/>
            <a:chOff x="5297230" y="3714929"/>
            <a:chExt cx="3130315" cy="3002665"/>
          </a:xfrm>
        </p:grpSpPr>
        <p:sp>
          <p:nvSpPr>
            <p:cNvPr id="49" name="等腰三角形 48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4" name="等腰三角形 53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5" name="等腰三角形 54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等腰三角形 55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7" name="等腰三角形 56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58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2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4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5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21600000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50" presetClass="entr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2" presetClass="entr" presetSubtype="0" fill="hold" grpId="0" nodeType="withEffect">
                                  <p:stCondLst>
                                    <p:cond delay="1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50" presetClass="entr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2" presetClass="entr" presetSubtype="0" fill="hold" grpId="0" nodeType="withEffect">
                                  <p:stCondLst>
                                    <p:cond delay="2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6" grpId="1" animBg="1"/>
      <p:bldP spid="38" grpId="0"/>
      <p:bldP spid="19" grpId="0" animBg="1"/>
      <p:bldP spid="19" grpId="1" animBg="1"/>
      <p:bldP spid="39" grpId="0"/>
      <p:bldP spid="21" grpId="0" animBg="1"/>
      <p:bldP spid="21" grpId="1" animBg="1"/>
      <p:bldP spid="40" grpId="0"/>
      <p:bldP spid="24" grpId="0" animBg="1"/>
      <p:bldP spid="24" grpId="1" animBg="1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4407114" y="1167064"/>
            <a:ext cx="3311426" cy="3311426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504" y="1538328"/>
            <a:ext cx="2768928" cy="2768928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3397224" y="5094685"/>
            <a:ext cx="5416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项目概述</a:t>
            </a:r>
            <a:endParaRPr lang="zh-CN" altLang="en-US" sz="4800" dirty="0">
              <a:solidFill>
                <a:srgbClr val="FBCB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经典行楷繁" panose="0201060900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 rot="8100000">
            <a:off x="-1404134" y="4471657"/>
            <a:ext cx="2147387" cy="3073761"/>
            <a:chOff x="5352628" y="1549737"/>
            <a:chExt cx="2147387" cy="3073761"/>
          </a:xfrm>
        </p:grpSpPr>
        <p:sp>
          <p:nvSpPr>
            <p:cNvPr id="7" name="等腰三角形 6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等腰三角形 9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等腰三角形 10"/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等腰三角形 13"/>
            <p:cNvSpPr/>
            <p:nvPr/>
          </p:nvSpPr>
          <p:spPr>
            <a:xfrm rot="10110591">
              <a:off x="5966874" y="189484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14400000">
            <a:off x="9931866" y="-788440"/>
            <a:ext cx="3130315" cy="3002665"/>
            <a:chOff x="5297230" y="3714929"/>
            <a:chExt cx="3130315" cy="3002665"/>
          </a:xfrm>
        </p:grpSpPr>
        <p:sp>
          <p:nvSpPr>
            <p:cNvPr id="16" name="等腰三角形 15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等腰三角形 20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等腰三角形 21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67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04"/>
          <p:cNvGrpSpPr/>
          <p:nvPr/>
        </p:nvGrpSpPr>
        <p:grpSpPr>
          <a:xfrm>
            <a:off x="-346100" y="4708576"/>
            <a:ext cx="2819450" cy="3423254"/>
            <a:chOff x="5138696" y="1200245"/>
            <a:chExt cx="2819450" cy="3423254"/>
          </a:xfrm>
        </p:grpSpPr>
        <p:sp>
          <p:nvSpPr>
            <p:cNvPr id="106" name="等腰三角形 105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7" name="等腰三角形 106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8" name="等腰三角形 107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9" name="等腰三角形 108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0" name="等腰三角形 109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1" name="等腰三角形 110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2" name="等腰三角形 111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3" name="等腰三角形 112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 rot="14400000">
            <a:off x="9425354" y="89313"/>
            <a:ext cx="3130315" cy="3002665"/>
            <a:chOff x="5297230" y="3714929"/>
            <a:chExt cx="3130315" cy="3002665"/>
          </a:xfrm>
        </p:grpSpPr>
        <p:sp>
          <p:nvSpPr>
            <p:cNvPr id="115" name="等腰三角形 114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6" name="等腰三角形 115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等腰三角形 11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等腰三角形 118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0" name="等腰三角形 119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等腰三角形 120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等腰三角形 121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3" name="等腰三角形 122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4" name="等腰三角形 123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1083084" y="824978"/>
            <a:ext cx="4088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简 介</a:t>
            </a:r>
          </a:p>
        </p:txBody>
      </p:sp>
      <p:sp>
        <p:nvSpPr>
          <p:cNvPr id="62" name="矩形 61"/>
          <p:cNvSpPr/>
          <p:nvPr/>
        </p:nvSpPr>
        <p:spPr>
          <a:xfrm>
            <a:off x="1083084" y="246039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项目概述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71" name="矩形 70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DBB8D0A-CB46-42CF-A4E8-BBFD295D7B5B}"/>
              </a:ext>
            </a:extLst>
          </p:cNvPr>
          <p:cNvSpPr/>
          <p:nvPr/>
        </p:nvSpPr>
        <p:spPr>
          <a:xfrm>
            <a:off x="1364827" y="1636489"/>
            <a:ext cx="97050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软酷</a:t>
            </a: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APP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是一款是提供个性化贷款方式的</a:t>
            </a: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app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，以大学生个人的信用作为担保，把贷款人</a:t>
            </a: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学生</a:t>
            </a:r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作为单一责任主体，</a:t>
            </a:r>
            <a:r>
              <a:rPr lang="zh-CN" altLang="zh-CN" sz="2800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依据大学生未来可能的收益以及可能的良好信用来预付现在，可以在线申请，还款，分期等业务，还可以进行理财产品购买以及定制个人消费统计分析。</a:t>
            </a:r>
          </a:p>
          <a:p>
            <a:pPr indent="266700" algn="just">
              <a:spcAft>
                <a:spcPts val="0"/>
              </a:spcAft>
            </a:pPr>
            <a:endParaRPr lang="zh-CN" altLang="zh-CN" sz="2400" kern="1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5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 rot="8100000">
            <a:off x="-1404134" y="4471657"/>
            <a:ext cx="2147387" cy="3073761"/>
            <a:chOff x="5352628" y="1549737"/>
            <a:chExt cx="2147387" cy="3073761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10110591">
              <a:off x="5966874" y="189484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14400000">
            <a:off x="9931866" y="-788440"/>
            <a:ext cx="3130315" cy="3002665"/>
            <a:chOff x="5297230" y="3714929"/>
            <a:chExt cx="3130315" cy="3002665"/>
          </a:xfrm>
        </p:grpSpPr>
        <p:sp>
          <p:nvSpPr>
            <p:cNvPr id="45" name="等腰三角形 44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B82D0EB-172D-42EC-B317-77516047DE7D}"/>
              </a:ext>
            </a:extLst>
          </p:cNvPr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FF6A328-DE7C-40EF-850E-099BA2048EDC}"/>
                </a:ext>
              </a:extLst>
            </p:cNvPr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A8FC05C-8215-41D0-9349-6CDF365C039B}"/>
                </a:ext>
              </a:extLst>
            </p:cNvPr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BFA56E5F-5622-4977-A8F5-1D64AD28494B}"/>
              </a:ext>
            </a:extLst>
          </p:cNvPr>
          <p:cNvSpPr/>
          <p:nvPr/>
        </p:nvSpPr>
        <p:spPr>
          <a:xfrm>
            <a:off x="1173909" y="416703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系统功能模块图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D93BA18-CAB6-4A02-8152-CCD12B0F4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249846"/>
              </p:ext>
            </p:extLst>
          </p:nvPr>
        </p:nvGraphicFramePr>
        <p:xfrm>
          <a:off x="2712919" y="1828020"/>
          <a:ext cx="6095988" cy="272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0100520" imgH="3903120" progId="Visio.Drawing.15">
                  <p:embed/>
                </p:oleObj>
              </mc:Choice>
              <mc:Fallback>
                <p:oleObj name="Visio" r:id="rId4" imgW="10100520" imgH="390312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2919" y="1828020"/>
                        <a:ext cx="6095988" cy="2723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42AAE6DD-8587-4F97-B8A2-4858587BA2B5}"/>
              </a:ext>
            </a:extLst>
          </p:cNvPr>
          <p:cNvSpPr/>
          <p:nvPr/>
        </p:nvSpPr>
        <p:spPr>
          <a:xfrm>
            <a:off x="2804160" y="4602115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星形: 五角 37">
            <a:extLst>
              <a:ext uri="{FF2B5EF4-FFF2-40B4-BE49-F238E27FC236}">
                <a16:creationId xmlns:a16="http://schemas.microsoft.com/office/drawing/2014/main" id="{98FF8C63-867D-478E-82F6-AE609FFEE26A}"/>
              </a:ext>
            </a:extLst>
          </p:cNvPr>
          <p:cNvSpPr/>
          <p:nvPr/>
        </p:nvSpPr>
        <p:spPr>
          <a:xfrm>
            <a:off x="3195320" y="4602114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星形: 五角 38">
            <a:extLst>
              <a:ext uri="{FF2B5EF4-FFF2-40B4-BE49-F238E27FC236}">
                <a16:creationId xmlns:a16="http://schemas.microsoft.com/office/drawing/2014/main" id="{DBCB3EAF-6053-4829-BBD1-3F95B0120237}"/>
              </a:ext>
            </a:extLst>
          </p:cNvPr>
          <p:cNvSpPr/>
          <p:nvPr/>
        </p:nvSpPr>
        <p:spPr>
          <a:xfrm>
            <a:off x="6253480" y="4602114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星形: 五角 39">
            <a:extLst>
              <a:ext uri="{FF2B5EF4-FFF2-40B4-BE49-F238E27FC236}">
                <a16:creationId xmlns:a16="http://schemas.microsoft.com/office/drawing/2014/main" id="{5E486D5D-4A4F-49CF-BEB7-30AB135A7E2E}"/>
              </a:ext>
            </a:extLst>
          </p:cNvPr>
          <p:cNvSpPr/>
          <p:nvPr/>
        </p:nvSpPr>
        <p:spPr>
          <a:xfrm>
            <a:off x="3576320" y="4602114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星形: 五角 40">
            <a:extLst>
              <a:ext uri="{FF2B5EF4-FFF2-40B4-BE49-F238E27FC236}">
                <a16:creationId xmlns:a16="http://schemas.microsoft.com/office/drawing/2014/main" id="{C8A10DBA-B03D-4D44-9D43-4741A9A2E3EE}"/>
              </a:ext>
            </a:extLst>
          </p:cNvPr>
          <p:cNvSpPr/>
          <p:nvPr/>
        </p:nvSpPr>
        <p:spPr>
          <a:xfrm>
            <a:off x="3987800" y="4602114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星形: 五角 41">
            <a:extLst>
              <a:ext uri="{FF2B5EF4-FFF2-40B4-BE49-F238E27FC236}">
                <a16:creationId xmlns:a16="http://schemas.microsoft.com/office/drawing/2014/main" id="{F6B325F4-0555-4724-B311-1EC74F9D5E85}"/>
              </a:ext>
            </a:extLst>
          </p:cNvPr>
          <p:cNvSpPr/>
          <p:nvPr/>
        </p:nvSpPr>
        <p:spPr>
          <a:xfrm>
            <a:off x="4358640" y="4602114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星形: 五角 42">
            <a:extLst>
              <a:ext uri="{FF2B5EF4-FFF2-40B4-BE49-F238E27FC236}">
                <a16:creationId xmlns:a16="http://schemas.microsoft.com/office/drawing/2014/main" id="{AF940C1F-1191-4C2C-BA96-C86AE26DFD43}"/>
              </a:ext>
            </a:extLst>
          </p:cNvPr>
          <p:cNvSpPr/>
          <p:nvPr/>
        </p:nvSpPr>
        <p:spPr>
          <a:xfrm>
            <a:off x="4718143" y="4613300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星形: 五角 53">
            <a:extLst>
              <a:ext uri="{FF2B5EF4-FFF2-40B4-BE49-F238E27FC236}">
                <a16:creationId xmlns:a16="http://schemas.microsoft.com/office/drawing/2014/main" id="{5363A13F-8C23-49C0-8053-4F8B2B2B6116}"/>
              </a:ext>
            </a:extLst>
          </p:cNvPr>
          <p:cNvSpPr/>
          <p:nvPr/>
        </p:nvSpPr>
        <p:spPr>
          <a:xfrm>
            <a:off x="6642100" y="4599714"/>
            <a:ext cx="142240" cy="141213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星形: 五角 54">
            <a:extLst>
              <a:ext uri="{FF2B5EF4-FFF2-40B4-BE49-F238E27FC236}">
                <a16:creationId xmlns:a16="http://schemas.microsoft.com/office/drawing/2014/main" id="{5CBD3EE6-4439-40B6-BB06-90839AFF2A15}"/>
              </a:ext>
            </a:extLst>
          </p:cNvPr>
          <p:cNvSpPr/>
          <p:nvPr/>
        </p:nvSpPr>
        <p:spPr>
          <a:xfrm>
            <a:off x="5472570" y="4613298"/>
            <a:ext cx="142240" cy="141213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星形: 五角 55">
            <a:extLst>
              <a:ext uri="{FF2B5EF4-FFF2-40B4-BE49-F238E27FC236}">
                <a16:creationId xmlns:a16="http://schemas.microsoft.com/office/drawing/2014/main" id="{D0607BF5-5D17-40C2-ADA3-3C8EF9050595}"/>
              </a:ext>
            </a:extLst>
          </p:cNvPr>
          <p:cNvSpPr/>
          <p:nvPr/>
        </p:nvSpPr>
        <p:spPr>
          <a:xfrm>
            <a:off x="7030720" y="4602112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星形: 五角 56">
            <a:extLst>
              <a:ext uri="{FF2B5EF4-FFF2-40B4-BE49-F238E27FC236}">
                <a16:creationId xmlns:a16="http://schemas.microsoft.com/office/drawing/2014/main" id="{3016C20B-3A03-4E4F-B979-A1847BFFCC89}"/>
              </a:ext>
            </a:extLst>
          </p:cNvPr>
          <p:cNvSpPr/>
          <p:nvPr/>
        </p:nvSpPr>
        <p:spPr>
          <a:xfrm>
            <a:off x="5115560" y="4613300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星形: 五角 57">
            <a:extLst>
              <a:ext uri="{FF2B5EF4-FFF2-40B4-BE49-F238E27FC236}">
                <a16:creationId xmlns:a16="http://schemas.microsoft.com/office/drawing/2014/main" id="{665345EA-031A-4510-BADD-C4B57CE947C8}"/>
              </a:ext>
            </a:extLst>
          </p:cNvPr>
          <p:cNvSpPr/>
          <p:nvPr/>
        </p:nvSpPr>
        <p:spPr>
          <a:xfrm>
            <a:off x="5862413" y="4602112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星形: 五角 58">
            <a:extLst>
              <a:ext uri="{FF2B5EF4-FFF2-40B4-BE49-F238E27FC236}">
                <a16:creationId xmlns:a16="http://schemas.microsoft.com/office/drawing/2014/main" id="{A2383776-F198-4A1E-9FF9-DC25C0E6F437}"/>
              </a:ext>
            </a:extLst>
          </p:cNvPr>
          <p:cNvSpPr/>
          <p:nvPr/>
        </p:nvSpPr>
        <p:spPr>
          <a:xfrm>
            <a:off x="7406733" y="4613299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星形: 五角 61">
            <a:extLst>
              <a:ext uri="{FF2B5EF4-FFF2-40B4-BE49-F238E27FC236}">
                <a16:creationId xmlns:a16="http://schemas.microsoft.com/office/drawing/2014/main" id="{8AD4A6F9-6AE0-47C0-863E-CA6F4BB940C2}"/>
              </a:ext>
            </a:extLst>
          </p:cNvPr>
          <p:cNvSpPr/>
          <p:nvPr/>
        </p:nvSpPr>
        <p:spPr>
          <a:xfrm>
            <a:off x="8574407" y="4602110"/>
            <a:ext cx="142240" cy="141213"/>
          </a:xfrm>
          <a:prstGeom prst="star5">
            <a:avLst/>
          </a:prstGeom>
          <a:solidFill>
            <a:srgbClr val="1F203F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星形: 五角 62">
            <a:extLst>
              <a:ext uri="{FF2B5EF4-FFF2-40B4-BE49-F238E27FC236}">
                <a16:creationId xmlns:a16="http://schemas.microsoft.com/office/drawing/2014/main" id="{FF26FECE-0C65-4B5B-8D67-1EE2EB94EEA0}"/>
              </a:ext>
            </a:extLst>
          </p:cNvPr>
          <p:cNvSpPr/>
          <p:nvPr/>
        </p:nvSpPr>
        <p:spPr>
          <a:xfrm>
            <a:off x="8180755" y="4602109"/>
            <a:ext cx="142240" cy="141213"/>
          </a:xfrm>
          <a:prstGeom prst="star5">
            <a:avLst/>
          </a:prstGeom>
          <a:solidFill>
            <a:srgbClr val="1F203F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星形: 五角 63">
            <a:extLst>
              <a:ext uri="{FF2B5EF4-FFF2-40B4-BE49-F238E27FC236}">
                <a16:creationId xmlns:a16="http://schemas.microsoft.com/office/drawing/2014/main" id="{8FC7A996-40AE-47F1-97FD-2987269FCA04}"/>
              </a:ext>
            </a:extLst>
          </p:cNvPr>
          <p:cNvSpPr/>
          <p:nvPr/>
        </p:nvSpPr>
        <p:spPr>
          <a:xfrm>
            <a:off x="7787103" y="4599713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星形: 五角 64">
            <a:extLst>
              <a:ext uri="{FF2B5EF4-FFF2-40B4-BE49-F238E27FC236}">
                <a16:creationId xmlns:a16="http://schemas.microsoft.com/office/drawing/2014/main" id="{DCBFF7AB-FB1E-4FC6-A5F7-F7797FDB3C71}"/>
              </a:ext>
            </a:extLst>
          </p:cNvPr>
          <p:cNvSpPr/>
          <p:nvPr/>
        </p:nvSpPr>
        <p:spPr>
          <a:xfrm>
            <a:off x="9407826" y="2844435"/>
            <a:ext cx="142240" cy="141213"/>
          </a:xfrm>
          <a:prstGeom prst="star5">
            <a:avLst/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星形: 五角 65">
            <a:extLst>
              <a:ext uri="{FF2B5EF4-FFF2-40B4-BE49-F238E27FC236}">
                <a16:creationId xmlns:a16="http://schemas.microsoft.com/office/drawing/2014/main" id="{6715071D-14DF-4F3A-91F9-F0997963FD9D}"/>
              </a:ext>
            </a:extLst>
          </p:cNvPr>
          <p:cNvSpPr/>
          <p:nvPr/>
        </p:nvSpPr>
        <p:spPr>
          <a:xfrm>
            <a:off x="9407826" y="3516018"/>
            <a:ext cx="142240" cy="141213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ED1E79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星形: 五角 66">
            <a:extLst>
              <a:ext uri="{FF2B5EF4-FFF2-40B4-BE49-F238E27FC236}">
                <a16:creationId xmlns:a16="http://schemas.microsoft.com/office/drawing/2014/main" id="{17A56C23-B4F3-48C9-B9B1-8EEAF12D6370}"/>
              </a:ext>
            </a:extLst>
          </p:cNvPr>
          <p:cNvSpPr/>
          <p:nvPr/>
        </p:nvSpPr>
        <p:spPr>
          <a:xfrm>
            <a:off x="9409781" y="4187601"/>
            <a:ext cx="142240" cy="141213"/>
          </a:xfrm>
          <a:prstGeom prst="star5">
            <a:avLst/>
          </a:prstGeom>
          <a:solidFill>
            <a:srgbClr val="1F203F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8E0CA8-B1F3-47C2-BB3A-B802255CFE14}"/>
              </a:ext>
            </a:extLst>
          </p:cNvPr>
          <p:cNvSpPr txBox="1"/>
          <p:nvPr/>
        </p:nvSpPr>
        <p:spPr>
          <a:xfrm>
            <a:off x="9657731" y="27443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已完成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855E321-4DB0-4714-A4F6-FCACA4397588}"/>
              </a:ext>
            </a:extLst>
          </p:cNvPr>
          <p:cNvSpPr txBox="1"/>
          <p:nvPr/>
        </p:nvSpPr>
        <p:spPr>
          <a:xfrm>
            <a:off x="9692007" y="340195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未完成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5421702-603C-4072-AE1D-4474A05AEF12}"/>
              </a:ext>
            </a:extLst>
          </p:cNvPr>
          <p:cNvSpPr txBox="1"/>
          <p:nvPr/>
        </p:nvSpPr>
        <p:spPr>
          <a:xfrm>
            <a:off x="9692007" y="40735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部分完成</a:t>
            </a:r>
          </a:p>
        </p:txBody>
      </p:sp>
    </p:spTree>
    <p:extLst>
      <p:ext uri="{BB962C8B-B14F-4D97-AF65-F5344CB8AC3E}">
        <p14:creationId xmlns:p14="http://schemas.microsoft.com/office/powerpoint/2010/main" val="3410501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4440287" y="1239634"/>
            <a:ext cx="3311426" cy="3311426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996" y="1714499"/>
            <a:ext cx="2534157" cy="2534157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 rot="8100000">
            <a:off x="-1404134" y="4471657"/>
            <a:ext cx="2147387" cy="3073761"/>
            <a:chOff x="5352628" y="1549737"/>
            <a:chExt cx="2147387" cy="3073761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5890282" y="191019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10110591">
              <a:off x="6516985" y="2019288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14400000">
            <a:off x="9931866" y="-788440"/>
            <a:ext cx="3130315" cy="3002665"/>
            <a:chOff x="5297230" y="3714929"/>
            <a:chExt cx="3130315" cy="3002665"/>
          </a:xfrm>
        </p:grpSpPr>
        <p:sp>
          <p:nvSpPr>
            <p:cNvPr id="45" name="等腰三角形 44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397224" y="5094685"/>
            <a:ext cx="5416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ED1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亮点技术</a:t>
            </a:r>
            <a:endParaRPr lang="zh-CN" altLang="en-US" sz="4800" dirty="0">
              <a:solidFill>
                <a:srgbClr val="ED1E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经典行楷繁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175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 tmFilter="0,0; .5, 1; 1, 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椭圆 66"/>
          <p:cNvSpPr/>
          <p:nvPr/>
        </p:nvSpPr>
        <p:spPr>
          <a:xfrm rot="19800000">
            <a:off x="6056175" y="3730478"/>
            <a:ext cx="848782" cy="848782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 rot="19800000">
            <a:off x="8741349" y="3768904"/>
            <a:ext cx="848782" cy="848782"/>
            <a:chOff x="4113964" y="2023187"/>
            <a:chExt cx="1741911" cy="1741911"/>
          </a:xfrm>
        </p:grpSpPr>
        <p:grpSp>
          <p:nvGrpSpPr>
            <p:cNvPr id="69" name="组合 68"/>
            <p:cNvGrpSpPr/>
            <p:nvPr/>
          </p:nvGrpSpPr>
          <p:grpSpPr>
            <a:xfrm>
              <a:off x="4835773" y="2537062"/>
              <a:ext cx="435249" cy="616797"/>
              <a:chOff x="4170363" y="1870075"/>
              <a:chExt cx="296862" cy="420687"/>
            </a:xfrm>
            <a:solidFill>
              <a:srgbClr val="ED1E79"/>
            </a:solidFill>
          </p:grpSpPr>
          <p:sp>
            <p:nvSpPr>
              <p:cNvPr id="71" name="Freeform 8"/>
              <p:cNvSpPr>
                <a:spLocks/>
              </p:cNvSpPr>
              <p:nvPr/>
            </p:nvSpPr>
            <p:spPr bwMode="auto">
              <a:xfrm>
                <a:off x="4318000" y="2193925"/>
                <a:ext cx="36513" cy="96837"/>
              </a:xfrm>
              <a:custGeom>
                <a:avLst/>
                <a:gdLst>
                  <a:gd name="T0" fmla="*/ 4 w 4"/>
                  <a:gd name="T1" fmla="*/ 9 h 11"/>
                  <a:gd name="T2" fmla="*/ 2 w 4"/>
                  <a:gd name="T3" fmla="*/ 11 h 11"/>
                  <a:gd name="T4" fmla="*/ 0 w 4"/>
                  <a:gd name="T5" fmla="*/ 9 h 11"/>
                  <a:gd name="T6" fmla="*/ 0 w 4"/>
                  <a:gd name="T7" fmla="*/ 1 h 11"/>
                  <a:gd name="T8" fmla="*/ 4 w 4"/>
                  <a:gd name="T9" fmla="*/ 0 h 11"/>
                  <a:gd name="T10" fmla="*/ 4 w 4"/>
                  <a:gd name="T11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1">
                    <a:moveTo>
                      <a:pt x="4" y="9"/>
                    </a:moveTo>
                    <a:cubicBezTo>
                      <a:pt x="4" y="10"/>
                      <a:pt x="4" y="11"/>
                      <a:pt x="2" y="11"/>
                    </a:cubicBezTo>
                    <a:cubicBezTo>
                      <a:pt x="0" y="11"/>
                      <a:pt x="0" y="10"/>
                      <a:pt x="0" y="9"/>
                    </a:cubicBezTo>
                    <a:cubicBezTo>
                      <a:pt x="0" y="9"/>
                      <a:pt x="0" y="1"/>
                      <a:pt x="0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72" name="Freeform 9"/>
              <p:cNvSpPr>
                <a:spLocks/>
              </p:cNvSpPr>
              <p:nvPr/>
            </p:nvSpPr>
            <p:spPr bwMode="auto">
              <a:xfrm>
                <a:off x="4170363" y="1870075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33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73" name="Freeform 10"/>
              <p:cNvSpPr>
                <a:spLocks/>
              </p:cNvSpPr>
              <p:nvPr/>
            </p:nvSpPr>
            <p:spPr bwMode="auto">
              <a:xfrm>
                <a:off x="4240213" y="1870075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27 w 38"/>
                  <a:gd name="T7" fmla="*/ 6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27" y="6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74" name="Freeform 11"/>
              <p:cNvSpPr>
                <a:spLocks/>
              </p:cNvSpPr>
              <p:nvPr/>
            </p:nvSpPr>
            <p:spPr bwMode="auto">
              <a:xfrm>
                <a:off x="4300538" y="1879600"/>
                <a:ext cx="61913" cy="77787"/>
              </a:xfrm>
              <a:custGeom>
                <a:avLst/>
                <a:gdLst>
                  <a:gd name="T0" fmla="*/ 39 w 39"/>
                  <a:gd name="T1" fmla="*/ 49 h 49"/>
                  <a:gd name="T2" fmla="*/ 11 w 39"/>
                  <a:gd name="T3" fmla="*/ 49 h 49"/>
                  <a:gd name="T4" fmla="*/ 0 w 39"/>
                  <a:gd name="T5" fmla="*/ 0 h 49"/>
                  <a:gd name="T6" fmla="*/ 34 w 39"/>
                  <a:gd name="T7" fmla="*/ 0 h 49"/>
                  <a:gd name="T8" fmla="*/ 39 w 39"/>
                  <a:gd name="T9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9">
                    <a:moveTo>
                      <a:pt x="39" y="49"/>
                    </a:moveTo>
                    <a:lnTo>
                      <a:pt x="11" y="49"/>
                    </a:lnTo>
                    <a:lnTo>
                      <a:pt x="0" y="0"/>
                    </a:lnTo>
                    <a:lnTo>
                      <a:pt x="34" y="0"/>
                    </a:lnTo>
                    <a:lnTo>
                      <a:pt x="39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77" name="Freeform 12"/>
              <p:cNvSpPr>
                <a:spLocks/>
              </p:cNvSpPr>
              <p:nvPr/>
            </p:nvSpPr>
            <p:spPr bwMode="auto">
              <a:xfrm>
                <a:off x="4362450" y="187960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1 w 39"/>
                  <a:gd name="T3" fmla="*/ 49 h 55"/>
                  <a:gd name="T4" fmla="*/ 0 w 39"/>
                  <a:gd name="T5" fmla="*/ 0 h 55"/>
                  <a:gd name="T6" fmla="*/ 28 w 39"/>
                  <a:gd name="T7" fmla="*/ 5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1" y="49"/>
                    </a:lnTo>
                    <a:lnTo>
                      <a:pt x="0" y="0"/>
                    </a:lnTo>
                    <a:lnTo>
                      <a:pt x="28" y="5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2" name="Freeform 13"/>
              <p:cNvSpPr>
                <a:spLocks/>
              </p:cNvSpPr>
              <p:nvPr/>
            </p:nvSpPr>
            <p:spPr bwMode="auto">
              <a:xfrm>
                <a:off x="4178300" y="1974850"/>
                <a:ext cx="69850" cy="96837"/>
              </a:xfrm>
              <a:custGeom>
                <a:avLst/>
                <a:gdLst>
                  <a:gd name="T0" fmla="*/ 44 w 44"/>
                  <a:gd name="T1" fmla="*/ 55 h 61"/>
                  <a:gd name="T2" fmla="*/ 11 w 44"/>
                  <a:gd name="T3" fmla="*/ 61 h 61"/>
                  <a:gd name="T4" fmla="*/ 0 w 44"/>
                  <a:gd name="T5" fmla="*/ 0 h 61"/>
                  <a:gd name="T6" fmla="*/ 33 w 44"/>
                  <a:gd name="T7" fmla="*/ 0 h 61"/>
                  <a:gd name="T8" fmla="*/ 44 w 44"/>
                  <a:gd name="T9" fmla="*/ 5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1">
                    <a:moveTo>
                      <a:pt x="44" y="55"/>
                    </a:moveTo>
                    <a:lnTo>
                      <a:pt x="11" y="61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3" name="Freeform 14"/>
              <p:cNvSpPr>
                <a:spLocks/>
              </p:cNvSpPr>
              <p:nvPr/>
            </p:nvSpPr>
            <p:spPr bwMode="auto">
              <a:xfrm>
                <a:off x="4257675" y="1974850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27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4" name="Freeform 15"/>
              <p:cNvSpPr>
                <a:spLocks/>
              </p:cNvSpPr>
              <p:nvPr/>
            </p:nvSpPr>
            <p:spPr bwMode="auto">
              <a:xfrm>
                <a:off x="4318000" y="197485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2 w 39"/>
                  <a:gd name="T3" fmla="*/ 55 h 55"/>
                  <a:gd name="T4" fmla="*/ 0 w 39"/>
                  <a:gd name="T5" fmla="*/ 0 h 55"/>
                  <a:gd name="T6" fmla="*/ 34 w 39"/>
                  <a:gd name="T7" fmla="*/ 0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2" y="55"/>
                    </a:lnTo>
                    <a:lnTo>
                      <a:pt x="0" y="0"/>
                    </a:lnTo>
                    <a:lnTo>
                      <a:pt x="34" y="0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5" name="Freeform 16"/>
              <p:cNvSpPr>
                <a:spLocks/>
              </p:cNvSpPr>
              <p:nvPr/>
            </p:nvSpPr>
            <p:spPr bwMode="auto">
              <a:xfrm>
                <a:off x="4379913" y="197485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1 w 39"/>
                  <a:gd name="T3" fmla="*/ 55 h 55"/>
                  <a:gd name="T4" fmla="*/ 0 w 39"/>
                  <a:gd name="T5" fmla="*/ 0 h 55"/>
                  <a:gd name="T6" fmla="*/ 28 w 39"/>
                  <a:gd name="T7" fmla="*/ 6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1" y="55"/>
                    </a:lnTo>
                    <a:lnTo>
                      <a:pt x="0" y="0"/>
                    </a:lnTo>
                    <a:lnTo>
                      <a:pt x="28" y="6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6" name="Freeform 17"/>
              <p:cNvSpPr>
                <a:spLocks/>
              </p:cNvSpPr>
              <p:nvPr/>
            </p:nvSpPr>
            <p:spPr bwMode="auto">
              <a:xfrm>
                <a:off x="4195763" y="2089150"/>
                <a:ext cx="69850" cy="96837"/>
              </a:xfrm>
              <a:custGeom>
                <a:avLst/>
                <a:gdLst>
                  <a:gd name="T0" fmla="*/ 44 w 44"/>
                  <a:gd name="T1" fmla="*/ 61 h 61"/>
                  <a:gd name="T2" fmla="*/ 11 w 44"/>
                  <a:gd name="T3" fmla="*/ 61 h 61"/>
                  <a:gd name="T4" fmla="*/ 0 w 44"/>
                  <a:gd name="T5" fmla="*/ 0 h 61"/>
                  <a:gd name="T6" fmla="*/ 33 w 44"/>
                  <a:gd name="T7" fmla="*/ 0 h 61"/>
                  <a:gd name="T8" fmla="*/ 44 w 44"/>
                  <a:gd name="T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1">
                    <a:moveTo>
                      <a:pt x="44" y="61"/>
                    </a:moveTo>
                    <a:lnTo>
                      <a:pt x="11" y="61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7" name="Freeform 18"/>
              <p:cNvSpPr>
                <a:spLocks/>
              </p:cNvSpPr>
              <p:nvPr/>
            </p:nvSpPr>
            <p:spPr bwMode="auto">
              <a:xfrm>
                <a:off x="4275138" y="2081213"/>
                <a:ext cx="61913" cy="104775"/>
              </a:xfrm>
              <a:custGeom>
                <a:avLst/>
                <a:gdLst>
                  <a:gd name="T0" fmla="*/ 39 w 39"/>
                  <a:gd name="T1" fmla="*/ 60 h 66"/>
                  <a:gd name="T2" fmla="*/ 5 w 39"/>
                  <a:gd name="T3" fmla="*/ 66 h 66"/>
                  <a:gd name="T4" fmla="*/ 0 w 39"/>
                  <a:gd name="T5" fmla="*/ 5 h 66"/>
                  <a:gd name="T6" fmla="*/ 27 w 39"/>
                  <a:gd name="T7" fmla="*/ 0 h 66"/>
                  <a:gd name="T8" fmla="*/ 39 w 39"/>
                  <a:gd name="T9" fmla="*/ 6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66">
                    <a:moveTo>
                      <a:pt x="39" y="60"/>
                    </a:moveTo>
                    <a:lnTo>
                      <a:pt x="5" y="66"/>
                    </a:lnTo>
                    <a:lnTo>
                      <a:pt x="0" y="5"/>
                    </a:lnTo>
                    <a:lnTo>
                      <a:pt x="27" y="0"/>
                    </a:lnTo>
                    <a:lnTo>
                      <a:pt x="39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8" name="Freeform 19"/>
              <p:cNvSpPr>
                <a:spLocks/>
              </p:cNvSpPr>
              <p:nvPr/>
            </p:nvSpPr>
            <p:spPr bwMode="auto">
              <a:xfrm>
                <a:off x="4337050" y="2081213"/>
                <a:ext cx="69850" cy="95250"/>
              </a:xfrm>
              <a:custGeom>
                <a:avLst/>
                <a:gdLst>
                  <a:gd name="T0" fmla="*/ 44 w 44"/>
                  <a:gd name="T1" fmla="*/ 55 h 60"/>
                  <a:gd name="T2" fmla="*/ 11 w 44"/>
                  <a:gd name="T3" fmla="*/ 60 h 60"/>
                  <a:gd name="T4" fmla="*/ 0 w 44"/>
                  <a:gd name="T5" fmla="*/ 0 h 60"/>
                  <a:gd name="T6" fmla="*/ 33 w 44"/>
                  <a:gd name="T7" fmla="*/ 0 h 60"/>
                  <a:gd name="T8" fmla="*/ 44 w 44"/>
                  <a:gd name="T9" fmla="*/ 5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0">
                    <a:moveTo>
                      <a:pt x="44" y="55"/>
                    </a:moveTo>
                    <a:lnTo>
                      <a:pt x="11" y="60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89" name="Freeform 20"/>
              <p:cNvSpPr>
                <a:spLocks/>
              </p:cNvSpPr>
              <p:nvPr/>
            </p:nvSpPr>
            <p:spPr bwMode="auto">
              <a:xfrm>
                <a:off x="4406900" y="2081213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11 w 38"/>
                  <a:gd name="T3" fmla="*/ 55 h 55"/>
                  <a:gd name="T4" fmla="*/ 0 w 38"/>
                  <a:gd name="T5" fmla="*/ 0 h 55"/>
                  <a:gd name="T6" fmla="*/ 27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11" y="55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70" name="椭圆 69"/>
            <p:cNvSpPr/>
            <p:nvPr/>
          </p:nvSpPr>
          <p:spPr>
            <a:xfrm>
              <a:off x="4113964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ED1E79"/>
                  </a:gs>
                  <a:gs pos="34000">
                    <a:srgbClr val="ED1E79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 rot="19800000">
            <a:off x="673387" y="3730478"/>
            <a:ext cx="848782" cy="848782"/>
            <a:chOff x="6729209" y="2023187"/>
            <a:chExt cx="1741911" cy="1741911"/>
          </a:xfrm>
        </p:grpSpPr>
        <p:grpSp>
          <p:nvGrpSpPr>
            <p:cNvPr id="91" name="组合 90"/>
            <p:cNvGrpSpPr/>
            <p:nvPr/>
          </p:nvGrpSpPr>
          <p:grpSpPr>
            <a:xfrm>
              <a:off x="7387934" y="2578532"/>
              <a:ext cx="449860" cy="638800"/>
              <a:chOff x="6956426" y="5984875"/>
              <a:chExt cx="158750" cy="225425"/>
            </a:xfrm>
            <a:solidFill>
              <a:srgbClr val="73E14F"/>
            </a:solidFill>
          </p:grpSpPr>
          <p:sp>
            <p:nvSpPr>
              <p:cNvPr id="93" name="Freeform 471"/>
              <p:cNvSpPr>
                <a:spLocks/>
              </p:cNvSpPr>
              <p:nvPr/>
            </p:nvSpPr>
            <p:spPr bwMode="auto">
              <a:xfrm>
                <a:off x="6956426" y="5984875"/>
                <a:ext cx="95250" cy="225425"/>
              </a:xfrm>
              <a:custGeom>
                <a:avLst/>
                <a:gdLst>
                  <a:gd name="T0" fmla="*/ 3 w 30"/>
                  <a:gd name="T1" fmla="*/ 0 h 71"/>
                  <a:gd name="T2" fmla="*/ 2 w 30"/>
                  <a:gd name="T3" fmla="*/ 0 h 71"/>
                  <a:gd name="T4" fmla="*/ 2 w 30"/>
                  <a:gd name="T5" fmla="*/ 71 h 71"/>
                  <a:gd name="T6" fmla="*/ 28 w 30"/>
                  <a:gd name="T7" fmla="*/ 54 h 71"/>
                  <a:gd name="T8" fmla="*/ 28 w 30"/>
                  <a:gd name="T9" fmla="*/ 35 h 71"/>
                  <a:gd name="T10" fmla="*/ 28 w 30"/>
                  <a:gd name="T11" fmla="*/ 17 h 71"/>
                  <a:gd name="T12" fmla="*/ 17 w 30"/>
                  <a:gd name="T13" fmla="*/ 8 h 71"/>
                  <a:gd name="T14" fmla="*/ 3 w 30"/>
                  <a:gd name="T15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71">
                    <a:moveTo>
                      <a:pt x="3" y="0"/>
                    </a:moveTo>
                    <a:cubicBezTo>
                      <a:pt x="3" y="0"/>
                      <a:pt x="2" y="0"/>
                      <a:pt x="2" y="0"/>
                    </a:cubicBezTo>
                    <a:cubicBezTo>
                      <a:pt x="0" y="21"/>
                      <a:pt x="0" y="49"/>
                      <a:pt x="2" y="71"/>
                    </a:cubicBezTo>
                    <a:cubicBezTo>
                      <a:pt x="11" y="66"/>
                      <a:pt x="20" y="60"/>
                      <a:pt x="28" y="54"/>
                    </a:cubicBezTo>
                    <a:cubicBezTo>
                      <a:pt x="28" y="48"/>
                      <a:pt x="28" y="42"/>
                      <a:pt x="28" y="35"/>
                    </a:cubicBezTo>
                    <a:cubicBezTo>
                      <a:pt x="28" y="29"/>
                      <a:pt x="30" y="22"/>
                      <a:pt x="28" y="17"/>
                    </a:cubicBezTo>
                    <a:cubicBezTo>
                      <a:pt x="27" y="15"/>
                      <a:pt x="20" y="10"/>
                      <a:pt x="17" y="8"/>
                    </a:cubicBezTo>
                    <a:cubicBezTo>
                      <a:pt x="11" y="5"/>
                      <a:pt x="7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94" name="Freeform 472"/>
              <p:cNvSpPr>
                <a:spLocks/>
              </p:cNvSpPr>
              <p:nvPr/>
            </p:nvSpPr>
            <p:spPr bwMode="auto">
              <a:xfrm>
                <a:off x="7054851" y="6035675"/>
                <a:ext cx="60325" cy="123825"/>
              </a:xfrm>
              <a:custGeom>
                <a:avLst/>
                <a:gdLst>
                  <a:gd name="T0" fmla="*/ 0 w 19"/>
                  <a:gd name="T1" fmla="*/ 0 h 39"/>
                  <a:gd name="T2" fmla="*/ 0 w 19"/>
                  <a:gd name="T3" fmla="*/ 39 h 39"/>
                  <a:gd name="T4" fmla="*/ 19 w 19"/>
                  <a:gd name="T5" fmla="*/ 39 h 39"/>
                  <a:gd name="T6" fmla="*/ 19 w 19"/>
                  <a:gd name="T7" fmla="*/ 0 h 39"/>
                  <a:gd name="T8" fmla="*/ 0 w 19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9">
                    <a:moveTo>
                      <a:pt x="0" y="0"/>
                    </a:moveTo>
                    <a:cubicBezTo>
                      <a:pt x="0" y="13"/>
                      <a:pt x="0" y="26"/>
                      <a:pt x="0" y="39"/>
                    </a:cubicBezTo>
                    <a:cubicBezTo>
                      <a:pt x="6" y="39"/>
                      <a:pt x="13" y="39"/>
                      <a:pt x="19" y="39"/>
                    </a:cubicBezTo>
                    <a:cubicBezTo>
                      <a:pt x="19" y="26"/>
                      <a:pt x="19" y="13"/>
                      <a:pt x="19" y="0"/>
                    </a:cubicBezTo>
                    <a:cubicBezTo>
                      <a:pt x="13" y="0"/>
                      <a:pt x="6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92" name="椭圆 91"/>
            <p:cNvSpPr/>
            <p:nvPr/>
          </p:nvSpPr>
          <p:spPr>
            <a:xfrm>
              <a:off x="6729209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73E14F"/>
                  </a:gs>
                  <a:gs pos="34000">
                    <a:srgbClr val="73E14F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 rot="19800000">
            <a:off x="3376729" y="3730478"/>
            <a:ext cx="848782" cy="848782"/>
            <a:chOff x="9504904" y="2023187"/>
            <a:chExt cx="1741911" cy="1741911"/>
          </a:xfrm>
        </p:grpSpPr>
        <p:grpSp>
          <p:nvGrpSpPr>
            <p:cNvPr id="98" name="组合 97"/>
            <p:cNvGrpSpPr/>
            <p:nvPr/>
          </p:nvGrpSpPr>
          <p:grpSpPr>
            <a:xfrm>
              <a:off x="10077785" y="2633715"/>
              <a:ext cx="596148" cy="425820"/>
              <a:chOff x="5419725" y="669925"/>
              <a:chExt cx="866776" cy="619126"/>
            </a:xfrm>
            <a:solidFill>
              <a:srgbClr val="4EC0FF"/>
            </a:solidFill>
          </p:grpSpPr>
          <p:sp>
            <p:nvSpPr>
              <p:cNvPr id="100" name="Freeform 15"/>
              <p:cNvSpPr>
                <a:spLocks/>
              </p:cNvSpPr>
              <p:nvPr/>
            </p:nvSpPr>
            <p:spPr bwMode="auto">
              <a:xfrm>
                <a:off x="5441950" y="1008063"/>
                <a:ext cx="825500" cy="280988"/>
              </a:xfrm>
              <a:custGeom>
                <a:avLst/>
                <a:gdLst>
                  <a:gd name="T0" fmla="*/ 110 w 220"/>
                  <a:gd name="T1" fmla="*/ 25 h 75"/>
                  <a:gd name="T2" fmla="*/ 81 w 220"/>
                  <a:gd name="T3" fmla="*/ 0 h 75"/>
                  <a:gd name="T4" fmla="*/ 0 w 220"/>
                  <a:gd name="T5" fmla="*/ 70 h 75"/>
                  <a:gd name="T6" fmla="*/ 11 w 220"/>
                  <a:gd name="T7" fmla="*/ 75 h 75"/>
                  <a:gd name="T8" fmla="*/ 209 w 220"/>
                  <a:gd name="T9" fmla="*/ 75 h 75"/>
                  <a:gd name="T10" fmla="*/ 220 w 220"/>
                  <a:gd name="T11" fmla="*/ 70 h 75"/>
                  <a:gd name="T12" fmla="*/ 138 w 220"/>
                  <a:gd name="T13" fmla="*/ 0 h 75"/>
                  <a:gd name="T14" fmla="*/ 110 w 220"/>
                  <a:gd name="T15" fmla="*/ 2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0" h="75">
                    <a:moveTo>
                      <a:pt x="110" y="25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3" y="73"/>
                      <a:pt x="7" y="75"/>
                      <a:pt x="11" y="75"/>
                    </a:cubicBezTo>
                    <a:cubicBezTo>
                      <a:pt x="209" y="75"/>
                      <a:pt x="209" y="75"/>
                      <a:pt x="209" y="75"/>
                    </a:cubicBezTo>
                    <a:cubicBezTo>
                      <a:pt x="213" y="75"/>
                      <a:pt x="217" y="73"/>
                      <a:pt x="220" y="70"/>
                    </a:cubicBezTo>
                    <a:cubicBezTo>
                      <a:pt x="138" y="0"/>
                      <a:pt x="138" y="0"/>
                      <a:pt x="138" y="0"/>
                    </a:cubicBezTo>
                    <a:lnTo>
                      <a:pt x="11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01" name="Freeform 16"/>
              <p:cNvSpPr>
                <a:spLocks/>
              </p:cNvSpPr>
              <p:nvPr/>
            </p:nvSpPr>
            <p:spPr bwMode="auto">
              <a:xfrm>
                <a:off x="5441950" y="669925"/>
                <a:ext cx="825500" cy="371475"/>
              </a:xfrm>
              <a:custGeom>
                <a:avLst/>
                <a:gdLst>
                  <a:gd name="T0" fmla="*/ 220 w 220"/>
                  <a:gd name="T1" fmla="*/ 4 h 99"/>
                  <a:gd name="T2" fmla="*/ 209 w 220"/>
                  <a:gd name="T3" fmla="*/ 0 h 99"/>
                  <a:gd name="T4" fmla="*/ 11 w 220"/>
                  <a:gd name="T5" fmla="*/ 0 h 99"/>
                  <a:gd name="T6" fmla="*/ 0 w 220"/>
                  <a:gd name="T7" fmla="*/ 4 h 99"/>
                  <a:gd name="T8" fmla="*/ 110 w 220"/>
                  <a:gd name="T9" fmla="*/ 99 h 99"/>
                  <a:gd name="T10" fmla="*/ 220 w 220"/>
                  <a:gd name="T11" fmla="*/ 4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" h="99">
                    <a:moveTo>
                      <a:pt x="220" y="4"/>
                    </a:moveTo>
                    <a:cubicBezTo>
                      <a:pt x="217" y="1"/>
                      <a:pt x="213" y="0"/>
                      <a:pt x="209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3" y="1"/>
                      <a:pt x="0" y="4"/>
                    </a:cubicBezTo>
                    <a:cubicBezTo>
                      <a:pt x="110" y="99"/>
                      <a:pt x="110" y="99"/>
                      <a:pt x="110" y="99"/>
                    </a:cubicBezTo>
                    <a:lnTo>
                      <a:pt x="22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02" name="Freeform 17"/>
              <p:cNvSpPr>
                <a:spLocks/>
              </p:cNvSpPr>
              <p:nvPr/>
            </p:nvSpPr>
            <p:spPr bwMode="auto">
              <a:xfrm>
                <a:off x="5419725" y="723900"/>
                <a:ext cx="300038" cy="512763"/>
              </a:xfrm>
              <a:custGeom>
                <a:avLst/>
                <a:gdLst>
                  <a:gd name="T0" fmla="*/ 0 w 189"/>
                  <a:gd name="T1" fmla="*/ 0 h 323"/>
                  <a:gd name="T2" fmla="*/ 0 w 189"/>
                  <a:gd name="T3" fmla="*/ 323 h 323"/>
                  <a:gd name="T4" fmla="*/ 189 w 189"/>
                  <a:gd name="T5" fmla="*/ 163 h 323"/>
                  <a:gd name="T6" fmla="*/ 0 w 189"/>
                  <a:gd name="T7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323">
                    <a:moveTo>
                      <a:pt x="0" y="0"/>
                    </a:moveTo>
                    <a:lnTo>
                      <a:pt x="0" y="323"/>
                    </a:lnTo>
                    <a:lnTo>
                      <a:pt x="189" y="16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03" name="Freeform 18"/>
              <p:cNvSpPr>
                <a:spLocks/>
              </p:cNvSpPr>
              <p:nvPr/>
            </p:nvSpPr>
            <p:spPr bwMode="auto">
              <a:xfrm>
                <a:off x="5986463" y="723900"/>
                <a:ext cx="300038" cy="512763"/>
              </a:xfrm>
              <a:custGeom>
                <a:avLst/>
                <a:gdLst>
                  <a:gd name="T0" fmla="*/ 0 w 189"/>
                  <a:gd name="T1" fmla="*/ 163 h 323"/>
                  <a:gd name="T2" fmla="*/ 189 w 189"/>
                  <a:gd name="T3" fmla="*/ 323 h 323"/>
                  <a:gd name="T4" fmla="*/ 189 w 189"/>
                  <a:gd name="T5" fmla="*/ 0 h 323"/>
                  <a:gd name="T6" fmla="*/ 0 w 189"/>
                  <a:gd name="T7" fmla="*/ 16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323">
                    <a:moveTo>
                      <a:pt x="0" y="163"/>
                    </a:moveTo>
                    <a:lnTo>
                      <a:pt x="189" y="323"/>
                    </a:lnTo>
                    <a:lnTo>
                      <a:pt x="189" y="0"/>
                    </a:lnTo>
                    <a:lnTo>
                      <a:pt x="0" y="1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99" name="椭圆 98"/>
            <p:cNvSpPr/>
            <p:nvPr/>
          </p:nvSpPr>
          <p:spPr>
            <a:xfrm>
              <a:off x="9504904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4DBEFE"/>
                  </a:gs>
                  <a:gs pos="34000">
                    <a:srgbClr val="4DBEFE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20561" y="4002560"/>
            <a:ext cx="2340000" cy="318997"/>
            <a:chOff x="2089150" y="5256303"/>
            <a:chExt cx="2082800" cy="318997"/>
          </a:xfrm>
        </p:grpSpPr>
        <p:sp>
          <p:nvSpPr>
            <p:cNvPr id="34" name="圆角矩形 33"/>
            <p:cNvSpPr/>
            <p:nvPr/>
          </p:nvSpPr>
          <p:spPr>
            <a:xfrm>
              <a:off x="2089150" y="5256303"/>
              <a:ext cx="2082800" cy="3189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2141295" y="5307317"/>
              <a:ext cx="1980513" cy="202591"/>
            </a:xfrm>
            <a:prstGeom prst="roundRect">
              <a:avLst>
                <a:gd name="adj" fmla="val 50000"/>
              </a:avLst>
            </a:prstGeom>
            <a:solidFill>
              <a:srgbClr val="4AC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18427" y="3760774"/>
            <a:ext cx="788192" cy="788192"/>
            <a:chOff x="3909333" y="2043501"/>
            <a:chExt cx="2020498" cy="2020498"/>
          </a:xfrm>
        </p:grpSpPr>
        <p:sp>
          <p:nvSpPr>
            <p:cNvPr id="37" name="椭圆 36"/>
            <p:cNvSpPr/>
            <p:nvPr/>
          </p:nvSpPr>
          <p:spPr>
            <a:xfrm>
              <a:off x="3909333" y="2043501"/>
              <a:ext cx="2020498" cy="202049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4167120" y="2301289"/>
              <a:ext cx="1504922" cy="1504922"/>
            </a:xfrm>
            <a:prstGeom prst="ellipse">
              <a:avLst/>
            </a:prstGeom>
            <a:gradFill>
              <a:gsLst>
                <a:gs pos="0">
                  <a:srgbClr val="73E14F"/>
                </a:gs>
                <a:gs pos="100000">
                  <a:srgbClr val="0FA51E"/>
                </a:gs>
                <a:gs pos="64000">
                  <a:srgbClr val="41C5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906442" y="4002560"/>
            <a:ext cx="2340000" cy="318997"/>
            <a:chOff x="2089150" y="5256303"/>
            <a:chExt cx="2082800" cy="318997"/>
          </a:xfrm>
        </p:grpSpPr>
        <p:sp>
          <p:nvSpPr>
            <p:cNvPr id="43" name="圆角矩形 42"/>
            <p:cNvSpPr/>
            <p:nvPr/>
          </p:nvSpPr>
          <p:spPr>
            <a:xfrm>
              <a:off x="2089150" y="5256303"/>
              <a:ext cx="2082800" cy="3189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2141295" y="5307317"/>
              <a:ext cx="1980513" cy="202591"/>
            </a:xfrm>
            <a:prstGeom prst="roundRect">
              <a:avLst>
                <a:gd name="adj" fmla="val 50000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396422" y="3767962"/>
            <a:ext cx="788192" cy="788192"/>
            <a:chOff x="9021404" y="2043501"/>
            <a:chExt cx="2020498" cy="2020498"/>
          </a:xfrm>
        </p:grpSpPr>
        <p:sp>
          <p:nvSpPr>
            <p:cNvPr id="9" name="椭圆 8"/>
            <p:cNvSpPr/>
            <p:nvPr/>
          </p:nvSpPr>
          <p:spPr>
            <a:xfrm>
              <a:off x="9021404" y="2043501"/>
              <a:ext cx="2020498" cy="202049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79192" y="2301289"/>
              <a:ext cx="1504922" cy="1504922"/>
            </a:xfrm>
            <a:prstGeom prst="ellipse">
              <a:avLst/>
            </a:prstGeom>
            <a:gradFill>
              <a:gsLst>
                <a:gs pos="0">
                  <a:srgbClr val="57D3FF"/>
                </a:gs>
                <a:gs pos="100000">
                  <a:srgbClr val="5D63FE"/>
                </a:gs>
                <a:gs pos="64000">
                  <a:srgbClr val="44ADF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603349" y="4002560"/>
            <a:ext cx="2340000" cy="318997"/>
            <a:chOff x="2089150" y="5256303"/>
            <a:chExt cx="2082800" cy="318997"/>
          </a:xfrm>
        </p:grpSpPr>
        <p:sp>
          <p:nvSpPr>
            <p:cNvPr id="46" name="圆角矩形 45"/>
            <p:cNvSpPr/>
            <p:nvPr/>
          </p:nvSpPr>
          <p:spPr>
            <a:xfrm>
              <a:off x="2089150" y="5256303"/>
              <a:ext cx="2082800" cy="3189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2141295" y="5307317"/>
              <a:ext cx="1980513" cy="202591"/>
            </a:xfrm>
            <a:prstGeom prst="roundRect">
              <a:avLst>
                <a:gd name="adj" fmla="val 50000"/>
              </a:avLst>
            </a:prstGeom>
            <a:solidFill>
              <a:srgbClr val="FBC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82303" y="3767962"/>
            <a:ext cx="788192" cy="788192"/>
            <a:chOff x="6465368" y="2043501"/>
            <a:chExt cx="2020498" cy="2020498"/>
          </a:xfrm>
        </p:grpSpPr>
        <p:sp>
          <p:nvSpPr>
            <p:cNvPr id="8" name="椭圆 7"/>
            <p:cNvSpPr/>
            <p:nvPr/>
          </p:nvSpPr>
          <p:spPr>
            <a:xfrm>
              <a:off x="6465368" y="2043501"/>
              <a:ext cx="2020498" cy="202049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723156" y="2301289"/>
              <a:ext cx="1504922" cy="1504922"/>
            </a:xfrm>
            <a:prstGeom prst="ellipse">
              <a:avLst/>
            </a:prstGeom>
            <a:gradFill>
              <a:gsLst>
                <a:gs pos="0">
                  <a:srgbClr val="FCD320"/>
                </a:gs>
                <a:gs pos="100000">
                  <a:srgbClr val="F07D0D"/>
                </a:gs>
                <a:gs pos="64000">
                  <a:srgbClr val="FABA15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271681" y="4002560"/>
            <a:ext cx="2340000" cy="318997"/>
            <a:chOff x="2089150" y="5256303"/>
            <a:chExt cx="2082800" cy="318997"/>
          </a:xfrm>
        </p:grpSpPr>
        <p:sp>
          <p:nvSpPr>
            <p:cNvPr id="49" name="圆角矩形 48"/>
            <p:cNvSpPr/>
            <p:nvPr/>
          </p:nvSpPr>
          <p:spPr>
            <a:xfrm>
              <a:off x="2089150" y="5256303"/>
              <a:ext cx="2082800" cy="3189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2141295" y="5307317"/>
              <a:ext cx="1980513" cy="202591"/>
            </a:xfrm>
            <a:prstGeom prst="roundRect">
              <a:avLst>
                <a:gd name="adj" fmla="val 50000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779210" y="3767962"/>
            <a:ext cx="788192" cy="788192"/>
            <a:chOff x="6465368" y="2043501"/>
            <a:chExt cx="2020498" cy="2020498"/>
          </a:xfrm>
        </p:grpSpPr>
        <p:sp>
          <p:nvSpPr>
            <p:cNvPr id="52" name="椭圆 51"/>
            <p:cNvSpPr/>
            <p:nvPr/>
          </p:nvSpPr>
          <p:spPr>
            <a:xfrm>
              <a:off x="6465368" y="2043501"/>
              <a:ext cx="2020498" cy="202049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6723156" y="2301289"/>
              <a:ext cx="1504922" cy="1504922"/>
            </a:xfrm>
            <a:prstGeom prst="ellipse">
              <a:avLst/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1136401" y="5095070"/>
            <a:ext cx="2162366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注册时通过手机短信验证或者语音进行验证。</a:t>
            </a:r>
          </a:p>
        </p:txBody>
      </p:sp>
      <p:sp>
        <p:nvSpPr>
          <p:cNvPr id="60" name="矩形 59"/>
          <p:cNvSpPr/>
          <p:nvPr/>
        </p:nvSpPr>
        <p:spPr>
          <a:xfrm>
            <a:off x="1154613" y="4749643"/>
            <a:ext cx="20091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手机认证</a:t>
            </a:r>
            <a:endParaRPr lang="zh-CN" altLang="en-US" sz="1600" b="1" dirty="0">
              <a:solidFill>
                <a:srgbClr val="73E14F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894869" y="5067755"/>
            <a:ext cx="2160888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输入身份证号，自动识别个人信息（性别、住址等）。</a:t>
            </a:r>
          </a:p>
        </p:txBody>
      </p:sp>
      <p:sp>
        <p:nvSpPr>
          <p:cNvPr id="63" name="矩形 62"/>
          <p:cNvSpPr/>
          <p:nvPr/>
        </p:nvSpPr>
        <p:spPr>
          <a:xfrm>
            <a:off x="3913082" y="4749643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实名认证</a:t>
            </a:r>
          </a:p>
        </p:txBody>
      </p:sp>
      <p:sp>
        <p:nvSpPr>
          <p:cNvPr id="75" name="矩形 74"/>
          <p:cNvSpPr/>
          <p:nvPr/>
        </p:nvSpPr>
        <p:spPr>
          <a:xfrm>
            <a:off x="6597115" y="5095070"/>
            <a:ext cx="219179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自动识别银行卡所属类型及有效性。</a:t>
            </a:r>
          </a:p>
        </p:txBody>
      </p:sp>
      <p:sp>
        <p:nvSpPr>
          <p:cNvPr id="76" name="矩形 75"/>
          <p:cNvSpPr/>
          <p:nvPr/>
        </p:nvSpPr>
        <p:spPr>
          <a:xfrm>
            <a:off x="6615327" y="4749643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银行卡认证</a:t>
            </a:r>
          </a:p>
        </p:txBody>
      </p:sp>
      <p:sp>
        <p:nvSpPr>
          <p:cNvPr id="78" name="矩形 77"/>
          <p:cNvSpPr/>
          <p:nvPr/>
        </p:nvSpPr>
        <p:spPr>
          <a:xfrm>
            <a:off x="9330265" y="5095070"/>
            <a:ext cx="2184279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自动识别学校所在地。</a:t>
            </a:r>
          </a:p>
        </p:txBody>
      </p:sp>
      <p:sp>
        <p:nvSpPr>
          <p:cNvPr id="79" name="矩形 78"/>
          <p:cNvSpPr/>
          <p:nvPr/>
        </p:nvSpPr>
        <p:spPr>
          <a:xfrm>
            <a:off x="9348478" y="4749643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学生认证</a:t>
            </a:r>
          </a:p>
        </p:txBody>
      </p:sp>
      <p:sp>
        <p:nvSpPr>
          <p:cNvPr id="80" name="矩形 79"/>
          <p:cNvSpPr/>
          <p:nvPr/>
        </p:nvSpPr>
        <p:spPr>
          <a:xfrm>
            <a:off x="3221391" y="1670259"/>
            <a:ext cx="2069797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5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</a:t>
            </a:r>
            <a:r>
              <a:rPr lang="en-US" altLang="zh-CN" sz="11500" dirty="0">
                <a:solidFill>
                  <a:prstClr val="white">
                    <a:alpha val="27000"/>
                  </a:prstClr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 </a:t>
            </a:r>
            <a:endParaRPr lang="zh-CN" altLang="en-US" sz="6000" dirty="0">
              <a:solidFill>
                <a:prstClr val="white">
                  <a:alpha val="27000"/>
                </a:prstClr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915137" y="2348150"/>
            <a:ext cx="17854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 业</a:t>
            </a:r>
            <a:endParaRPr lang="en-US" altLang="zh-CN" sz="4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031556" y="1606023"/>
            <a:ext cx="1713913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高</a:t>
            </a:r>
            <a:r>
              <a:rPr lang="en-US" altLang="zh-CN" sz="115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endParaRPr lang="zh-CN" altLang="en-US" sz="6000" dirty="0">
              <a:solidFill>
                <a:prstClr val="white">
                  <a:alpha val="27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712721" y="2348150"/>
            <a:ext cx="1914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高  效</a:t>
            </a:r>
            <a:r>
              <a:rPr lang="en-US" altLang="zh-CN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54" name="组合 53"/>
          <p:cNvGrpSpPr/>
          <p:nvPr/>
        </p:nvGrpSpPr>
        <p:grpSpPr>
          <a:xfrm rot="1800000">
            <a:off x="9393690" y="-1318043"/>
            <a:ext cx="2663980" cy="3342901"/>
            <a:chOff x="5138696" y="1187319"/>
            <a:chExt cx="2663980" cy="3342901"/>
          </a:xfrm>
        </p:grpSpPr>
        <p:sp>
          <p:nvSpPr>
            <p:cNvPr id="55" name="等腰三角形 54"/>
            <p:cNvSpPr/>
            <p:nvPr/>
          </p:nvSpPr>
          <p:spPr>
            <a:xfrm rot="6510591" flipV="1">
              <a:off x="6193864" y="3456027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等腰三角形 55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7" name="等腰三角形 56"/>
            <p:cNvSpPr/>
            <p:nvPr/>
          </p:nvSpPr>
          <p:spPr>
            <a:xfrm rot="6510591" flipV="1">
              <a:off x="5493659" y="2418736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等腰三角形 57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10110591">
              <a:off x="5672366" y="4173643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3810591">
              <a:off x="6090571" y="2491398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等腰三角形 64"/>
            <p:cNvSpPr/>
            <p:nvPr/>
          </p:nvSpPr>
          <p:spPr>
            <a:xfrm rot="10110591">
              <a:off x="6930678" y="118731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6" name="等腰三角形 65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7" name="矩形 106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0" name="矩形 109"/>
          <p:cNvSpPr/>
          <p:nvPr/>
        </p:nvSpPr>
        <p:spPr>
          <a:xfrm>
            <a:off x="1002481" y="419167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实名认证</a:t>
            </a:r>
          </a:p>
        </p:txBody>
      </p:sp>
    </p:spTree>
    <p:extLst>
      <p:ext uri="{BB962C8B-B14F-4D97-AF65-F5344CB8AC3E}">
        <p14:creationId xmlns:p14="http://schemas.microsoft.com/office/powerpoint/2010/main" val="300958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36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4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21600000">
                                      <p:cBhvr>
                                        <p:cTn id="5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 tmFilter="0,0; .5, 1; 1, 1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 tmFilter="0,0; .5, 1; 1, 1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1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 tmFilter="0,0; .5, 1; 1, 1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1" presetClass="entr" presetSubtype="0" fill="hold" grpId="0" nodeType="withEffect">
                                  <p:stCondLst>
                                    <p:cond delay="1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 tmFilter="0,0; .5, 1; 1, 1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 tmFilter="0,0; .5, 1; 1, 1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250" tmFilter="0,0; .5, 1; 1, 1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1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250" tmFilter="0,0; .5, 1; 1, 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1" presetClass="entr" presetSubtype="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250" tmFilter="0,0; .5, 1; 1, 1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7" grpId="1" animBg="1"/>
      <p:bldP spid="59" grpId="0"/>
      <p:bldP spid="60" grpId="0"/>
      <p:bldP spid="62" grpId="0"/>
      <p:bldP spid="63" grpId="0"/>
      <p:bldP spid="75" grpId="0"/>
      <p:bldP spid="76" grpId="0"/>
      <p:bldP spid="78" grpId="0"/>
      <p:bldP spid="79" grpId="0"/>
      <p:bldP spid="81" grpId="0"/>
      <p:bldP spid="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/>
        </p:nvGrpSpPr>
        <p:grpSpPr>
          <a:xfrm rot="1800000">
            <a:off x="9393690" y="-1318043"/>
            <a:ext cx="2663980" cy="3342901"/>
            <a:chOff x="5138696" y="1187319"/>
            <a:chExt cx="2663980" cy="3342901"/>
          </a:xfrm>
        </p:grpSpPr>
        <p:sp>
          <p:nvSpPr>
            <p:cNvPr id="55" name="等腰三角形 54"/>
            <p:cNvSpPr/>
            <p:nvPr/>
          </p:nvSpPr>
          <p:spPr>
            <a:xfrm rot="6510591" flipV="1">
              <a:off x="6193864" y="3456027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等腰三角形 55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7" name="等腰三角形 56"/>
            <p:cNvSpPr/>
            <p:nvPr/>
          </p:nvSpPr>
          <p:spPr>
            <a:xfrm rot="6510591" flipV="1">
              <a:off x="5493659" y="2418736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等腰三角形 57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10110591">
              <a:off x="5672366" y="4173643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3810591">
              <a:off x="6090571" y="2491398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等腰三角形 64"/>
            <p:cNvSpPr/>
            <p:nvPr/>
          </p:nvSpPr>
          <p:spPr>
            <a:xfrm rot="10110591">
              <a:off x="6930678" y="118731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6" name="等腰三角形 65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07" name="矩形 106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>
            <a:off x="1083084" y="824978"/>
            <a:ext cx="40882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原理特色</a:t>
            </a:r>
          </a:p>
        </p:txBody>
      </p:sp>
      <p:sp>
        <p:nvSpPr>
          <p:cNvPr id="110" name="矩形 109"/>
          <p:cNvSpPr/>
          <p:nvPr/>
        </p:nvSpPr>
        <p:spPr>
          <a:xfrm>
            <a:off x="1083084" y="246039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短信验证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6D04D1-B7C1-4F78-92AA-7D725219E43F}"/>
              </a:ext>
            </a:extLst>
          </p:cNvPr>
          <p:cNvSpPr txBox="1"/>
          <p:nvPr/>
        </p:nvSpPr>
        <p:spPr>
          <a:xfrm>
            <a:off x="1046602" y="1543906"/>
            <a:ext cx="416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平台：</a:t>
            </a:r>
            <a:r>
              <a:rPr lang="en-US" altLang="zh-CN" dirty="0">
                <a:solidFill>
                  <a:schemeClr val="bg1"/>
                </a:solidFill>
              </a:rPr>
              <a:t>Mob</a:t>
            </a:r>
            <a:r>
              <a:rPr lang="zh-CN" altLang="en-US" dirty="0">
                <a:solidFill>
                  <a:schemeClr val="bg1"/>
                </a:solidFill>
              </a:rPr>
              <a:t>移动开发者服务平台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3293E96-EFDD-4206-8224-E42F46E26B15}"/>
              </a:ext>
            </a:extLst>
          </p:cNvPr>
          <p:cNvSpPr txBox="1"/>
          <p:nvPr/>
        </p:nvSpPr>
        <p:spPr>
          <a:xfrm>
            <a:off x="1083084" y="2131904"/>
            <a:ext cx="416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SDK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SMSSDK For Android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B5254AA-2D50-406D-AB2E-A695A08C2C65}"/>
              </a:ext>
            </a:extLst>
          </p:cNvPr>
          <p:cNvSpPr txBox="1"/>
          <p:nvPr/>
        </p:nvSpPr>
        <p:spPr>
          <a:xfrm>
            <a:off x="1083084" y="2719902"/>
            <a:ext cx="416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实现原理：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FB465F6-FBBB-482E-89E7-91157760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15" y="3740770"/>
            <a:ext cx="1444768" cy="14447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9CFC973-CB2F-40F6-84DC-DE7F76A79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385" y="3357126"/>
            <a:ext cx="1381023" cy="188267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6707DD2-01F6-4883-811F-88EAF69F06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862" y="3336694"/>
            <a:ext cx="2032913" cy="2032913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8C4568D-3146-4876-B505-F1C9EA220039}"/>
              </a:ext>
            </a:extLst>
          </p:cNvPr>
          <p:cNvCxnSpPr/>
          <p:nvPr/>
        </p:nvCxnSpPr>
        <p:spPr>
          <a:xfrm>
            <a:off x="3000375" y="3935207"/>
            <a:ext cx="2380102" cy="0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7D4299D-6CEB-4523-AA12-C5C2F0B9BF4A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000375" y="4353151"/>
            <a:ext cx="2310487" cy="17968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D83EE306-C0FC-48D2-B512-B43F704A38EF}"/>
              </a:ext>
            </a:extLst>
          </p:cNvPr>
          <p:cNvCxnSpPr/>
          <p:nvPr/>
        </p:nvCxnSpPr>
        <p:spPr>
          <a:xfrm>
            <a:off x="7240283" y="3935207"/>
            <a:ext cx="2380102" cy="0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8F4A4C3A-8E15-4DDB-9568-369C42721F5E}"/>
              </a:ext>
            </a:extLst>
          </p:cNvPr>
          <p:cNvCxnSpPr>
            <a:cxnSpLocks/>
          </p:cNvCxnSpPr>
          <p:nvPr/>
        </p:nvCxnSpPr>
        <p:spPr>
          <a:xfrm flipV="1">
            <a:off x="7200958" y="4335182"/>
            <a:ext cx="2310487" cy="17968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A0F53BA2-145D-4D07-921C-B53C1A949F21}"/>
              </a:ext>
            </a:extLst>
          </p:cNvPr>
          <p:cNvCxnSpPr>
            <a:cxnSpLocks/>
          </p:cNvCxnSpPr>
          <p:nvPr/>
        </p:nvCxnSpPr>
        <p:spPr>
          <a:xfrm flipH="1">
            <a:off x="3000375" y="4778756"/>
            <a:ext cx="2310487" cy="0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CA4DD4B6-631D-4611-8CD1-161E4AE0551C}"/>
              </a:ext>
            </a:extLst>
          </p:cNvPr>
          <p:cNvCxnSpPr>
            <a:cxnSpLocks/>
          </p:cNvCxnSpPr>
          <p:nvPr/>
        </p:nvCxnSpPr>
        <p:spPr>
          <a:xfrm flipH="1">
            <a:off x="7103237" y="4778756"/>
            <a:ext cx="2363603" cy="0"/>
          </a:xfrm>
          <a:prstGeom prst="straightConnector1">
            <a:avLst/>
          </a:prstGeom>
          <a:ln w="15875"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弧形 25">
            <a:extLst>
              <a:ext uri="{FF2B5EF4-FFF2-40B4-BE49-F238E27FC236}">
                <a16:creationId xmlns:a16="http://schemas.microsoft.com/office/drawing/2014/main" id="{67D1EF79-9813-49EC-9437-87941DCE8FB7}"/>
              </a:ext>
            </a:extLst>
          </p:cNvPr>
          <p:cNvSpPr/>
          <p:nvPr/>
        </p:nvSpPr>
        <p:spPr>
          <a:xfrm rot="5400000">
            <a:off x="5205560" y="1104420"/>
            <a:ext cx="1608417" cy="8069943"/>
          </a:xfrm>
          <a:prstGeom prst="arc">
            <a:avLst>
              <a:gd name="adj1" fmla="val 16289061"/>
              <a:gd name="adj2" fmla="val 5333667"/>
            </a:avLst>
          </a:prstGeom>
          <a:ln>
            <a:solidFill>
              <a:schemeClr val="bg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ABB4752-BCB9-4FDC-9035-8645C7E166DA}"/>
              </a:ext>
            </a:extLst>
          </p:cNvPr>
          <p:cNvSpPr txBox="1"/>
          <p:nvPr/>
        </p:nvSpPr>
        <p:spPr>
          <a:xfrm>
            <a:off x="3490833" y="3561494"/>
            <a:ext cx="125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请求短信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91F14131-91CB-4C9F-8D46-8EA21ECA2CC0}"/>
              </a:ext>
            </a:extLst>
          </p:cNvPr>
          <p:cNvSpPr txBox="1"/>
          <p:nvPr/>
        </p:nvSpPr>
        <p:spPr>
          <a:xfrm>
            <a:off x="7544448" y="3556104"/>
            <a:ext cx="18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请求短信服务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7E6922AD-651E-45B4-BC5D-3BBBB50ECF08}"/>
              </a:ext>
            </a:extLst>
          </p:cNvPr>
          <p:cNvSpPr txBox="1"/>
          <p:nvPr/>
        </p:nvSpPr>
        <p:spPr>
          <a:xfrm>
            <a:off x="5327092" y="5562811"/>
            <a:ext cx="2307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向用户发送验证信息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130B1C2-A042-4B56-B935-BB5713F50ED3}"/>
              </a:ext>
            </a:extLst>
          </p:cNvPr>
          <p:cNvSpPr txBox="1"/>
          <p:nvPr/>
        </p:nvSpPr>
        <p:spPr>
          <a:xfrm>
            <a:off x="3466711" y="4045967"/>
            <a:ext cx="148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输入验证码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0F28A84-2F86-40B0-B957-EE967FCF80A3}"/>
              </a:ext>
            </a:extLst>
          </p:cNvPr>
          <p:cNvSpPr txBox="1"/>
          <p:nvPr/>
        </p:nvSpPr>
        <p:spPr>
          <a:xfrm>
            <a:off x="7582439" y="4009688"/>
            <a:ext cx="1638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提交验证码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F9BC88E4-5354-4CAA-9106-1F4626BF4E6B}"/>
              </a:ext>
            </a:extLst>
          </p:cNvPr>
          <p:cNvSpPr txBox="1"/>
          <p:nvPr/>
        </p:nvSpPr>
        <p:spPr>
          <a:xfrm>
            <a:off x="7557621" y="4407157"/>
            <a:ext cx="159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返回验证结果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607024A-4707-44C5-8396-F431B7819981}"/>
              </a:ext>
            </a:extLst>
          </p:cNvPr>
          <p:cNvSpPr txBox="1"/>
          <p:nvPr/>
        </p:nvSpPr>
        <p:spPr>
          <a:xfrm>
            <a:off x="3362263" y="4445942"/>
            <a:ext cx="170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显示验证结果</a:t>
            </a:r>
          </a:p>
        </p:txBody>
      </p:sp>
    </p:spTree>
    <p:extLst>
      <p:ext uri="{BB962C8B-B14F-4D97-AF65-F5344CB8AC3E}">
        <p14:creationId xmlns:p14="http://schemas.microsoft.com/office/powerpoint/2010/main" val="68663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椭圆 175"/>
          <p:cNvSpPr/>
          <p:nvPr/>
        </p:nvSpPr>
        <p:spPr>
          <a:xfrm>
            <a:off x="387296" y="1549755"/>
            <a:ext cx="1332000" cy="1332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 rot="2700000">
            <a:off x="8443959" y="-1179441"/>
            <a:ext cx="2819450" cy="3436180"/>
            <a:chOff x="5138696" y="1187319"/>
            <a:chExt cx="2819450" cy="3436180"/>
          </a:xfrm>
        </p:grpSpPr>
        <p:sp>
          <p:nvSpPr>
            <p:cNvPr id="67" name="等腰三角形 66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/>
            <p:cNvSpPr/>
            <p:nvPr/>
          </p:nvSpPr>
          <p:spPr>
            <a:xfrm rot="10110591">
              <a:off x="6930678" y="118731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 rot="753704">
            <a:off x="-178578" y="5801190"/>
            <a:ext cx="2413265" cy="3423254"/>
            <a:chOff x="5544881" y="1200245"/>
            <a:chExt cx="2413265" cy="3423254"/>
          </a:xfrm>
        </p:grpSpPr>
        <p:sp>
          <p:nvSpPr>
            <p:cNvPr id="82" name="等腰三角形 81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等腰三角形 84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6" name="等腰三角形 85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等腰三角形 86"/>
            <p:cNvSpPr/>
            <p:nvPr/>
          </p:nvSpPr>
          <p:spPr>
            <a:xfrm rot="10110591">
              <a:off x="5544881" y="2161875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8" name="等腰三角形 87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9" name="等腰三角形 88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0" name="等腰三角形 89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1" name="等腰三角形 90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45" name="矩形 44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3A266317-48D3-4EAE-8158-2FF7DC4814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05" y="1848367"/>
            <a:ext cx="832231" cy="83223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3ACCB182-E071-4771-A80C-F64723D21CC4}"/>
              </a:ext>
            </a:extLst>
          </p:cNvPr>
          <p:cNvSpPr/>
          <p:nvPr/>
        </p:nvSpPr>
        <p:spPr>
          <a:xfrm>
            <a:off x="1072134" y="412794"/>
            <a:ext cx="36996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机器人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--</a:t>
            </a:r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助手小</a:t>
            </a:r>
            <a:r>
              <a:rPr lang="en-US" altLang="zh-CN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endParaRPr lang="zh-CN" altLang="en-US" sz="3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B9534BBD-C6BA-467F-815E-30FE918D15F3}"/>
              </a:ext>
            </a:extLst>
          </p:cNvPr>
          <p:cNvSpPr/>
          <p:nvPr/>
        </p:nvSpPr>
        <p:spPr>
          <a:xfrm>
            <a:off x="10519374" y="1552708"/>
            <a:ext cx="1332000" cy="133200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22BFF324-30C9-44D1-82C0-AECBC04392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742" y="1804056"/>
            <a:ext cx="805180" cy="80518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D9DA18-4EA4-4149-891A-020816A1A26B}"/>
              </a:ext>
            </a:extLst>
          </p:cNvPr>
          <p:cNvSpPr txBox="1"/>
          <p:nvPr/>
        </p:nvSpPr>
        <p:spPr>
          <a:xfrm>
            <a:off x="2020527" y="1893402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注册图灵机器人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17AE9E-2681-43B1-B27A-FCC84666184F}"/>
              </a:ext>
            </a:extLst>
          </p:cNvPr>
          <p:cNvSpPr/>
          <p:nvPr/>
        </p:nvSpPr>
        <p:spPr>
          <a:xfrm>
            <a:off x="6929120" y="2680598"/>
            <a:ext cx="49209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http://www.tuling123.com/openapi/api?key=e9dee9927efb4b6a9a726ff1a06d5de6&amp;info=文字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5519A68-AF2E-4EFB-A5BF-025024D197A4}"/>
              </a:ext>
            </a:extLst>
          </p:cNvPr>
          <p:cNvSpPr txBox="1"/>
          <p:nvPr/>
        </p:nvSpPr>
        <p:spPr>
          <a:xfrm>
            <a:off x="7749010" y="184998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ED1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异步请求数据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F90385C7-E9B1-4ED6-BF9C-AEBB897E8232}"/>
              </a:ext>
            </a:extLst>
          </p:cNvPr>
          <p:cNvSpPr/>
          <p:nvPr/>
        </p:nvSpPr>
        <p:spPr>
          <a:xfrm>
            <a:off x="337193" y="4497815"/>
            <a:ext cx="1332000" cy="1332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E5C5ECF4-0CEB-4503-A5B8-1E4ADFE36B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00" y="4737750"/>
            <a:ext cx="796828" cy="796828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9CE9E7D2-CB7A-47B9-AC3F-E209A552C53E}"/>
              </a:ext>
            </a:extLst>
          </p:cNvPr>
          <p:cNvSpPr txBox="1"/>
          <p:nvPr/>
        </p:nvSpPr>
        <p:spPr>
          <a:xfrm>
            <a:off x="2036100" y="4932982"/>
            <a:ext cx="22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73E1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2400" dirty="0">
                <a:solidFill>
                  <a:srgbClr val="73E1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数据解析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36393EF-DA72-49CD-9378-BE003E6DFDCD}"/>
              </a:ext>
            </a:extLst>
          </p:cNvPr>
          <p:cNvSpPr/>
          <p:nvPr/>
        </p:nvSpPr>
        <p:spPr>
          <a:xfrm>
            <a:off x="1943071" y="2356123"/>
            <a:ext cx="41540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主要是获得</a:t>
            </a:r>
            <a:r>
              <a:rPr lang="en-US" altLang="zh-CN" sz="2800" dirty="0">
                <a:solidFill>
                  <a:schemeClr val="bg1"/>
                </a:solidFill>
              </a:rPr>
              <a:t>Key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853BDA-EA5B-47CB-B466-7AD2E64AE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816" y="2802140"/>
            <a:ext cx="1654823" cy="1539370"/>
          </a:xfrm>
          <a:prstGeom prst="rect">
            <a:avLst/>
          </a:prstGeom>
        </p:spPr>
      </p:pic>
      <p:sp>
        <p:nvSpPr>
          <p:cNvPr id="62" name="椭圆 61">
            <a:extLst>
              <a:ext uri="{FF2B5EF4-FFF2-40B4-BE49-F238E27FC236}">
                <a16:creationId xmlns:a16="http://schemas.microsoft.com/office/drawing/2014/main" id="{67AD2BD6-A721-441F-ADC1-4A1CF2FCED43}"/>
              </a:ext>
            </a:extLst>
          </p:cNvPr>
          <p:cNvSpPr/>
          <p:nvPr/>
        </p:nvSpPr>
        <p:spPr>
          <a:xfrm>
            <a:off x="10518113" y="4457175"/>
            <a:ext cx="1332000" cy="1332000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DB28EEE-08B6-417D-B51F-3B1681685F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020" y="4633317"/>
            <a:ext cx="932161" cy="932161"/>
          </a:xfrm>
          <a:prstGeom prst="rect">
            <a:avLst/>
          </a:prstGeom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9D061B14-E3C7-4612-971B-99FA95D2F959}"/>
              </a:ext>
            </a:extLst>
          </p:cNvPr>
          <p:cNvSpPr txBox="1"/>
          <p:nvPr/>
        </p:nvSpPr>
        <p:spPr>
          <a:xfrm>
            <a:off x="7834982" y="486469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29AB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进行数据封装</a:t>
            </a:r>
          </a:p>
        </p:txBody>
      </p:sp>
    </p:spTree>
    <p:extLst>
      <p:ext uri="{BB962C8B-B14F-4D97-AF65-F5344CB8AC3E}">
        <p14:creationId xmlns:p14="http://schemas.microsoft.com/office/powerpoint/2010/main" val="200093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  <p:bldP spid="176" grpId="1" animBg="1"/>
      <p:bldP spid="53" grpId="0" animBg="1"/>
      <p:bldP spid="53" grpId="1" animBg="1"/>
      <p:bldP spid="56" grpId="0" animBg="1"/>
      <p:bldP spid="56" grpId="1" animBg="1"/>
      <p:bldP spid="62" grpId="0" animBg="1"/>
      <p:bldP spid="6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4404632" y="1167064"/>
            <a:ext cx="3311426" cy="3311426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310" y="1572788"/>
            <a:ext cx="2837315" cy="283731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8100000">
            <a:off x="-1404134" y="4471657"/>
            <a:ext cx="2147387" cy="3073761"/>
            <a:chOff x="5352628" y="1549737"/>
            <a:chExt cx="2147387" cy="3073761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10110591">
              <a:off x="5966874" y="189484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14400000">
            <a:off x="9931866" y="-788440"/>
            <a:ext cx="3130315" cy="3002665"/>
            <a:chOff x="5297230" y="3714929"/>
            <a:chExt cx="3130315" cy="3002665"/>
          </a:xfrm>
        </p:grpSpPr>
        <p:sp>
          <p:nvSpPr>
            <p:cNvPr id="45" name="等腰三角形 44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3397224" y="5094685"/>
            <a:ext cx="5416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73E1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特色和拓展功能</a:t>
            </a:r>
            <a:endParaRPr lang="zh-CN" altLang="en-US" sz="4800" dirty="0">
              <a:solidFill>
                <a:srgbClr val="73E1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经典行楷繁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631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/>
          <p:cNvSpPr/>
          <p:nvPr/>
        </p:nvSpPr>
        <p:spPr>
          <a:xfrm rot="19800000">
            <a:off x="1442397" y="4816219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椭圆 42"/>
          <p:cNvSpPr/>
          <p:nvPr/>
        </p:nvSpPr>
        <p:spPr>
          <a:xfrm rot="19800000">
            <a:off x="1442397" y="2349533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椭圆 58"/>
          <p:cNvSpPr/>
          <p:nvPr/>
        </p:nvSpPr>
        <p:spPr>
          <a:xfrm rot="19800000">
            <a:off x="6770268" y="4790819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椭圆 63"/>
          <p:cNvSpPr/>
          <p:nvPr/>
        </p:nvSpPr>
        <p:spPr>
          <a:xfrm rot="19800000">
            <a:off x="6746828" y="2334483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图表 19"/>
          <p:cNvGraphicFramePr/>
          <p:nvPr>
            <p:extLst>
              <p:ext uri="{D42A27DB-BD31-4B8C-83A1-F6EECF244321}">
                <p14:modId xmlns:p14="http://schemas.microsoft.com/office/powerpoint/2010/main" val="2344132319"/>
              </p:ext>
            </p:extLst>
          </p:nvPr>
        </p:nvGraphicFramePr>
        <p:xfrm>
          <a:off x="2977726" y="1229664"/>
          <a:ext cx="3241261" cy="2587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矩形 20"/>
          <p:cNvSpPr/>
          <p:nvPr/>
        </p:nvSpPr>
        <p:spPr>
          <a:xfrm>
            <a:off x="1443158" y="2715572"/>
            <a:ext cx="1300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spc="-300" dirty="0">
                <a:solidFill>
                  <a:srgbClr val="ED1E79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名校贷</a:t>
            </a:r>
            <a:endParaRPr lang="zh-CN" altLang="en-US" sz="3200" spc="-300" dirty="0">
              <a:solidFill>
                <a:srgbClr val="ED1E79"/>
              </a:solidFill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>
            <a:off x="1361037" y="2811782"/>
            <a:ext cx="180000" cy="18000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1044345" y="1568935"/>
            <a:ext cx="4912629" cy="2258790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4002" y="2715571"/>
            <a:ext cx="1300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spc="-300" dirty="0">
                <a:solidFill>
                  <a:srgbClr val="4EC0F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拍拍贷</a:t>
            </a:r>
            <a:endParaRPr lang="zh-CN" altLang="en-US" sz="3200" spc="-300" dirty="0">
              <a:solidFill>
                <a:srgbClr val="4EC0FF"/>
              </a:solidFill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6685607" y="2817610"/>
            <a:ext cx="180000" cy="180000"/>
          </a:xfrm>
          <a:prstGeom prst="ellipse">
            <a:avLst/>
          </a:prstGeom>
          <a:solidFill>
            <a:srgbClr val="4E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289788" y="1568935"/>
            <a:ext cx="4912629" cy="2258790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65697" y="5197308"/>
            <a:ext cx="1300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spc="-300" dirty="0">
                <a:solidFill>
                  <a:srgbClr val="FBCB1D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花无缺</a:t>
            </a:r>
            <a:endParaRPr lang="zh-CN" altLang="en-US" sz="3200" spc="-300" dirty="0">
              <a:solidFill>
                <a:srgbClr val="FBCB1D"/>
              </a:solidFill>
            </a:endParaRPr>
          </a:p>
        </p:txBody>
      </p:sp>
      <p:sp>
        <p:nvSpPr>
          <p:cNvPr id="30" name="椭圆 29"/>
          <p:cNvSpPr>
            <a:spLocks noChangeAspect="1"/>
          </p:cNvSpPr>
          <p:nvPr/>
        </p:nvSpPr>
        <p:spPr>
          <a:xfrm>
            <a:off x="1359131" y="5275603"/>
            <a:ext cx="180001" cy="180000"/>
          </a:xfrm>
          <a:prstGeom prst="ellipse">
            <a:avLst/>
          </a:prstGeom>
          <a:solidFill>
            <a:srgbClr val="FBC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079270" y="4015922"/>
            <a:ext cx="4912629" cy="2258790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91894" y="5201952"/>
            <a:ext cx="9653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spc="-300" dirty="0">
                <a:solidFill>
                  <a:srgbClr val="73E14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U  </a:t>
            </a:r>
            <a:r>
              <a:rPr lang="zh-CN" altLang="en-US" sz="3200" spc="-300" dirty="0">
                <a:solidFill>
                  <a:srgbClr val="73E14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族</a:t>
            </a:r>
            <a:endParaRPr lang="zh-CN" altLang="en-US" sz="3200" spc="-300" dirty="0">
              <a:solidFill>
                <a:srgbClr val="73E14F"/>
              </a:solidFill>
            </a:endParaRPr>
          </a:p>
        </p:txBody>
      </p:sp>
      <p:sp>
        <p:nvSpPr>
          <p:cNvPr id="28" name="椭圆 27"/>
          <p:cNvSpPr>
            <a:spLocks noChangeAspect="1"/>
          </p:cNvSpPr>
          <p:nvPr/>
        </p:nvSpPr>
        <p:spPr>
          <a:xfrm>
            <a:off x="6716664" y="5270404"/>
            <a:ext cx="180000" cy="180000"/>
          </a:xfrm>
          <a:prstGeom prst="ellipse">
            <a:avLst/>
          </a:prstGeom>
          <a:solidFill>
            <a:srgbClr val="73E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289788" y="4015922"/>
            <a:ext cx="4912629" cy="2258790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39" name="矩形 38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1109126" y="461485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利息计算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F1DD9BC-9C92-4F6F-B04F-A9392DFDC090}"/>
              </a:ext>
            </a:extLst>
          </p:cNvPr>
          <p:cNvSpPr/>
          <p:nvPr/>
        </p:nvSpPr>
        <p:spPr>
          <a:xfrm>
            <a:off x="2903011" y="2715571"/>
            <a:ext cx="732857" cy="407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spc="-300" dirty="0">
                <a:solidFill>
                  <a:srgbClr val="ED1E79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0.99%</a:t>
            </a:r>
            <a:endParaRPr lang="zh-CN" altLang="en-US" sz="2000" spc="-300" dirty="0">
              <a:solidFill>
                <a:srgbClr val="ED1E7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4A2F51A-EDCB-455D-B822-6678F68FB8B6}"/>
              </a:ext>
            </a:extLst>
          </p:cNvPr>
          <p:cNvSpPr/>
          <p:nvPr/>
        </p:nvSpPr>
        <p:spPr>
          <a:xfrm>
            <a:off x="4654361" y="1847113"/>
            <a:ext cx="732857" cy="407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spc="-300" dirty="0">
                <a:solidFill>
                  <a:srgbClr val="ED1E7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1.49%</a:t>
            </a:r>
            <a:endParaRPr lang="zh-CN" altLang="en-US" sz="2000" spc="-300" dirty="0">
              <a:solidFill>
                <a:srgbClr val="ED1E79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5FF80D-4091-49AF-9123-3EEF3BF4712D}"/>
              </a:ext>
            </a:extLst>
          </p:cNvPr>
          <p:cNvSpPr txBox="1"/>
          <p:nvPr/>
        </p:nvSpPr>
        <p:spPr>
          <a:xfrm>
            <a:off x="8201496" y="2134106"/>
            <a:ext cx="29546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个月以下</a:t>
            </a:r>
            <a:r>
              <a:rPr lang="en-US" altLang="zh-CN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-2%</a:t>
            </a:r>
            <a:r>
              <a:rPr lang="zh-CN" altLang="en-US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服务费</a:t>
            </a:r>
            <a:endParaRPr lang="en-US" altLang="zh-CN" sz="2400" dirty="0">
              <a:solidFill>
                <a:srgbClr val="3C85B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solidFill>
                <a:srgbClr val="3C85B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个月以上</a:t>
            </a:r>
            <a:r>
              <a:rPr lang="en-US" altLang="zh-CN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-4%</a:t>
            </a:r>
            <a:r>
              <a:rPr lang="zh-CN" altLang="en-US" sz="2400" dirty="0">
                <a:solidFill>
                  <a:srgbClr val="3C85B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服务费</a:t>
            </a:r>
          </a:p>
          <a:p>
            <a:endParaRPr lang="zh-CN" altLang="en-US" dirty="0">
              <a:solidFill>
                <a:srgbClr val="3C85B9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173E776-CF5C-4202-AE98-31762EFD3902}"/>
              </a:ext>
            </a:extLst>
          </p:cNvPr>
          <p:cNvSpPr txBox="1"/>
          <p:nvPr/>
        </p:nvSpPr>
        <p:spPr>
          <a:xfrm>
            <a:off x="3275271" y="4621740"/>
            <a:ext cx="189507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0.2</a:t>
            </a:r>
            <a:r>
              <a:rPr lang="zh-CN" altLang="en-US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r>
              <a:rPr lang="en-US" altLang="zh-CN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  <a:endParaRPr lang="en-US" altLang="zh-CN" sz="2400" dirty="0">
              <a:solidFill>
                <a:srgbClr val="FBCB1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3200" b="1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</a:t>
            </a:r>
          </a:p>
          <a:p>
            <a:pPr algn="ctr"/>
            <a:r>
              <a:rPr lang="en-US" altLang="zh-CN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元服务费</a:t>
            </a:r>
          </a:p>
          <a:p>
            <a:endParaRPr lang="zh-CN" altLang="en-US" dirty="0">
              <a:solidFill>
                <a:srgbClr val="3C85B9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8D31D6A-8DD3-45E5-9922-725B4F6B1E5B}"/>
              </a:ext>
            </a:extLst>
          </p:cNvPr>
          <p:cNvSpPr txBox="1"/>
          <p:nvPr/>
        </p:nvSpPr>
        <p:spPr>
          <a:xfrm>
            <a:off x="8817048" y="4621740"/>
            <a:ext cx="172354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0.05%/</a:t>
            </a:r>
            <a:r>
              <a:rPr lang="zh-CN" altLang="en-US" sz="2400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  <a:endParaRPr lang="en-US" altLang="zh-CN" sz="2400" dirty="0">
              <a:solidFill>
                <a:srgbClr val="73E14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3200" b="1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</a:t>
            </a:r>
          </a:p>
          <a:p>
            <a:pPr algn="ctr"/>
            <a:r>
              <a:rPr lang="en-US" altLang="zh-CN" sz="2400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2400" dirty="0">
                <a:solidFill>
                  <a:srgbClr val="73E14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元服务费</a:t>
            </a:r>
          </a:p>
          <a:p>
            <a:endParaRPr lang="zh-CN" altLang="en-US" dirty="0">
              <a:solidFill>
                <a:srgbClr val="3C85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43" grpId="0" animBg="1"/>
      <p:bldP spid="43" grpId="1" animBg="1"/>
      <p:bldP spid="59" grpId="0" animBg="1"/>
      <p:bldP spid="59" grpId="1" animBg="1"/>
      <p:bldP spid="64" grpId="0" animBg="1"/>
      <p:bldP spid="64" grpId="1" animBg="1"/>
      <p:bldP spid="21" grpId="0"/>
      <p:bldP spid="12" grpId="0"/>
      <p:bldP spid="25" grpId="0"/>
      <p:bldP spid="15" grpId="0"/>
      <p:bldP spid="44" grpId="0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组合 147"/>
          <p:cNvGrpSpPr/>
          <p:nvPr/>
        </p:nvGrpSpPr>
        <p:grpSpPr>
          <a:xfrm>
            <a:off x="1478279" y="2943917"/>
            <a:ext cx="609698" cy="577163"/>
            <a:chOff x="4787900" y="539750"/>
            <a:chExt cx="803275" cy="760413"/>
          </a:xfrm>
          <a:solidFill>
            <a:srgbClr val="FBCB1D"/>
          </a:solidFill>
        </p:grpSpPr>
        <p:sp>
          <p:nvSpPr>
            <p:cNvPr id="149" name="Freeform 17"/>
            <p:cNvSpPr>
              <a:spLocks/>
            </p:cNvSpPr>
            <p:nvPr/>
          </p:nvSpPr>
          <p:spPr bwMode="auto">
            <a:xfrm>
              <a:off x="4787900" y="619125"/>
              <a:ext cx="430212" cy="438150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1 h 61"/>
                <a:gd name="T4" fmla="*/ 3 w 60"/>
                <a:gd name="T5" fmla="*/ 44 h 61"/>
                <a:gd name="T6" fmla="*/ 7 w 60"/>
                <a:gd name="T7" fmla="*/ 46 h 61"/>
                <a:gd name="T8" fmla="*/ 8 w 60"/>
                <a:gd name="T9" fmla="*/ 42 h 61"/>
                <a:gd name="T10" fmla="*/ 5 w 60"/>
                <a:gd name="T11" fmla="*/ 31 h 61"/>
                <a:gd name="T12" fmla="*/ 30 w 60"/>
                <a:gd name="T13" fmla="*/ 6 h 61"/>
                <a:gd name="T14" fmla="*/ 55 w 60"/>
                <a:gd name="T15" fmla="*/ 31 h 61"/>
                <a:gd name="T16" fmla="*/ 30 w 60"/>
                <a:gd name="T17" fmla="*/ 55 h 61"/>
                <a:gd name="T18" fmla="*/ 24 w 60"/>
                <a:gd name="T19" fmla="*/ 55 h 61"/>
                <a:gd name="T20" fmla="*/ 21 w 60"/>
                <a:gd name="T21" fmla="*/ 57 h 61"/>
                <a:gd name="T22" fmla="*/ 23 w 60"/>
                <a:gd name="T23" fmla="*/ 60 h 61"/>
                <a:gd name="T24" fmla="*/ 30 w 60"/>
                <a:gd name="T25" fmla="*/ 61 h 61"/>
                <a:gd name="T26" fmla="*/ 60 w 60"/>
                <a:gd name="T27" fmla="*/ 31 h 61"/>
                <a:gd name="T28" fmla="*/ 30 w 60"/>
                <a:gd name="T2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1"/>
                  </a:cubicBezTo>
                  <a:cubicBezTo>
                    <a:pt x="0" y="35"/>
                    <a:pt x="1" y="40"/>
                    <a:pt x="3" y="44"/>
                  </a:cubicBezTo>
                  <a:cubicBezTo>
                    <a:pt x="4" y="46"/>
                    <a:pt x="5" y="46"/>
                    <a:pt x="7" y="46"/>
                  </a:cubicBezTo>
                  <a:cubicBezTo>
                    <a:pt x="8" y="45"/>
                    <a:pt x="9" y="43"/>
                    <a:pt x="8" y="42"/>
                  </a:cubicBezTo>
                  <a:cubicBezTo>
                    <a:pt x="6" y="38"/>
                    <a:pt x="5" y="35"/>
                    <a:pt x="5" y="31"/>
                  </a:cubicBezTo>
                  <a:cubicBezTo>
                    <a:pt x="5" y="17"/>
                    <a:pt x="16" y="6"/>
                    <a:pt x="30" y="6"/>
                  </a:cubicBezTo>
                  <a:cubicBezTo>
                    <a:pt x="44" y="6"/>
                    <a:pt x="55" y="17"/>
                    <a:pt x="55" y="31"/>
                  </a:cubicBezTo>
                  <a:cubicBezTo>
                    <a:pt x="55" y="44"/>
                    <a:pt x="44" y="55"/>
                    <a:pt x="30" y="55"/>
                  </a:cubicBezTo>
                  <a:cubicBezTo>
                    <a:pt x="28" y="55"/>
                    <a:pt x="26" y="55"/>
                    <a:pt x="24" y="55"/>
                  </a:cubicBezTo>
                  <a:cubicBezTo>
                    <a:pt x="23" y="54"/>
                    <a:pt x="22" y="55"/>
                    <a:pt x="21" y="57"/>
                  </a:cubicBezTo>
                  <a:cubicBezTo>
                    <a:pt x="21" y="58"/>
                    <a:pt x="22" y="60"/>
                    <a:pt x="23" y="60"/>
                  </a:cubicBezTo>
                  <a:cubicBezTo>
                    <a:pt x="25" y="61"/>
                    <a:pt x="28" y="61"/>
                    <a:pt x="30" y="61"/>
                  </a:cubicBezTo>
                  <a:cubicBezTo>
                    <a:pt x="47" y="61"/>
                    <a:pt x="60" y="47"/>
                    <a:pt x="60" y="31"/>
                  </a:cubicBezTo>
                  <a:cubicBezTo>
                    <a:pt x="60" y="14"/>
                    <a:pt x="47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  <a:latin typeface="Arial" panose="020F0502020204030204"/>
                <a:ea typeface="微软雅黑"/>
              </a:endParaRPr>
            </a:p>
          </p:txBody>
        </p:sp>
        <p:sp>
          <p:nvSpPr>
            <p:cNvPr id="150" name="Freeform 18"/>
            <p:cNvSpPr>
              <a:spLocks/>
            </p:cNvSpPr>
            <p:nvPr/>
          </p:nvSpPr>
          <p:spPr bwMode="auto">
            <a:xfrm>
              <a:off x="4795838" y="762000"/>
              <a:ext cx="279400" cy="538163"/>
            </a:xfrm>
            <a:custGeom>
              <a:avLst/>
              <a:gdLst>
                <a:gd name="T0" fmla="*/ 24 w 39"/>
                <a:gd name="T1" fmla="*/ 18 h 75"/>
                <a:gd name="T2" fmla="*/ 29 w 39"/>
                <a:gd name="T3" fmla="*/ 20 h 75"/>
                <a:gd name="T4" fmla="*/ 39 w 39"/>
                <a:gd name="T5" fmla="*/ 10 h 75"/>
                <a:gd name="T6" fmla="*/ 29 w 39"/>
                <a:gd name="T7" fmla="*/ 0 h 75"/>
                <a:gd name="T8" fmla="*/ 19 w 39"/>
                <a:gd name="T9" fmla="*/ 10 h 75"/>
                <a:gd name="T10" fmla="*/ 20 w 39"/>
                <a:gd name="T11" fmla="*/ 14 h 75"/>
                <a:gd name="T12" fmla="*/ 13 w 39"/>
                <a:gd name="T13" fmla="*/ 23 h 75"/>
                <a:gd name="T14" fmla="*/ 2 w 39"/>
                <a:gd name="T15" fmla="*/ 72 h 75"/>
                <a:gd name="T16" fmla="*/ 4 w 39"/>
                <a:gd name="T17" fmla="*/ 75 h 75"/>
                <a:gd name="T18" fmla="*/ 5 w 39"/>
                <a:gd name="T19" fmla="*/ 75 h 75"/>
                <a:gd name="T20" fmla="*/ 7 w 39"/>
                <a:gd name="T21" fmla="*/ 71 h 75"/>
                <a:gd name="T22" fmla="*/ 18 w 39"/>
                <a:gd name="T23" fmla="*/ 26 h 75"/>
                <a:gd name="T24" fmla="*/ 24 w 39"/>
                <a:gd name="T25" fmla="*/ 1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75">
                  <a:moveTo>
                    <a:pt x="24" y="18"/>
                  </a:moveTo>
                  <a:cubicBezTo>
                    <a:pt x="25" y="19"/>
                    <a:pt x="27" y="20"/>
                    <a:pt x="29" y="20"/>
                  </a:cubicBezTo>
                  <a:cubicBezTo>
                    <a:pt x="35" y="20"/>
                    <a:pt x="39" y="16"/>
                    <a:pt x="39" y="10"/>
                  </a:cubicBezTo>
                  <a:cubicBezTo>
                    <a:pt x="39" y="4"/>
                    <a:pt x="35" y="0"/>
                    <a:pt x="29" y="0"/>
                  </a:cubicBezTo>
                  <a:cubicBezTo>
                    <a:pt x="24" y="0"/>
                    <a:pt x="19" y="4"/>
                    <a:pt x="19" y="10"/>
                  </a:cubicBezTo>
                  <a:cubicBezTo>
                    <a:pt x="19" y="11"/>
                    <a:pt x="20" y="13"/>
                    <a:pt x="20" y="14"/>
                  </a:cubicBezTo>
                  <a:cubicBezTo>
                    <a:pt x="18" y="16"/>
                    <a:pt x="16" y="19"/>
                    <a:pt x="13" y="23"/>
                  </a:cubicBezTo>
                  <a:cubicBezTo>
                    <a:pt x="7" y="32"/>
                    <a:pt x="0" y="49"/>
                    <a:pt x="2" y="72"/>
                  </a:cubicBezTo>
                  <a:cubicBezTo>
                    <a:pt x="2" y="73"/>
                    <a:pt x="3" y="75"/>
                    <a:pt x="4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5"/>
                    <a:pt x="7" y="73"/>
                    <a:pt x="7" y="71"/>
                  </a:cubicBezTo>
                  <a:cubicBezTo>
                    <a:pt x="6" y="54"/>
                    <a:pt x="9" y="39"/>
                    <a:pt x="18" y="26"/>
                  </a:cubicBezTo>
                  <a:cubicBezTo>
                    <a:pt x="20" y="23"/>
                    <a:pt x="22" y="20"/>
                    <a:pt x="2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  <a:latin typeface="Arial" panose="020F0502020204030204"/>
                <a:ea typeface="微软雅黑"/>
              </a:endParaRPr>
            </a:p>
          </p:txBody>
        </p:sp>
        <p:sp>
          <p:nvSpPr>
            <p:cNvPr id="151" name="Freeform 19"/>
            <p:cNvSpPr>
              <a:spLocks/>
            </p:cNvSpPr>
            <p:nvPr/>
          </p:nvSpPr>
          <p:spPr bwMode="auto">
            <a:xfrm>
              <a:off x="5260975" y="539750"/>
              <a:ext cx="279400" cy="265113"/>
            </a:xfrm>
            <a:custGeom>
              <a:avLst/>
              <a:gdLst>
                <a:gd name="T0" fmla="*/ 20 w 39"/>
                <a:gd name="T1" fmla="*/ 34 h 37"/>
                <a:gd name="T2" fmla="*/ 14 w 39"/>
                <a:gd name="T3" fmla="*/ 32 h 37"/>
                <a:gd name="T4" fmla="*/ 7 w 39"/>
                <a:gd name="T5" fmla="*/ 13 h 37"/>
                <a:gd name="T6" fmla="*/ 26 w 39"/>
                <a:gd name="T7" fmla="*/ 7 h 37"/>
                <a:gd name="T8" fmla="*/ 33 w 39"/>
                <a:gd name="T9" fmla="*/ 25 h 37"/>
                <a:gd name="T10" fmla="*/ 31 w 39"/>
                <a:gd name="T11" fmla="*/ 28 h 37"/>
                <a:gd name="T12" fmla="*/ 31 w 39"/>
                <a:gd name="T13" fmla="*/ 30 h 37"/>
                <a:gd name="T14" fmla="*/ 33 w 39"/>
                <a:gd name="T15" fmla="*/ 30 h 37"/>
                <a:gd name="T16" fmla="*/ 35 w 39"/>
                <a:gd name="T17" fmla="*/ 27 h 37"/>
                <a:gd name="T18" fmla="*/ 27 w 39"/>
                <a:gd name="T19" fmla="*/ 4 h 37"/>
                <a:gd name="T20" fmla="*/ 4 w 39"/>
                <a:gd name="T21" fmla="*/ 12 h 37"/>
                <a:gd name="T22" fmla="*/ 12 w 39"/>
                <a:gd name="T23" fmla="*/ 35 h 37"/>
                <a:gd name="T24" fmla="*/ 20 w 39"/>
                <a:gd name="T25" fmla="*/ 37 h 37"/>
                <a:gd name="T26" fmla="*/ 22 w 39"/>
                <a:gd name="T27" fmla="*/ 35 h 37"/>
                <a:gd name="T28" fmla="*/ 20 w 39"/>
                <a:gd name="T29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" h="37">
                  <a:moveTo>
                    <a:pt x="20" y="34"/>
                  </a:moveTo>
                  <a:cubicBezTo>
                    <a:pt x="18" y="34"/>
                    <a:pt x="16" y="33"/>
                    <a:pt x="14" y="32"/>
                  </a:cubicBezTo>
                  <a:cubicBezTo>
                    <a:pt x="7" y="29"/>
                    <a:pt x="4" y="20"/>
                    <a:pt x="7" y="13"/>
                  </a:cubicBezTo>
                  <a:cubicBezTo>
                    <a:pt x="10" y="6"/>
                    <a:pt x="19" y="3"/>
                    <a:pt x="26" y="7"/>
                  </a:cubicBezTo>
                  <a:cubicBezTo>
                    <a:pt x="33" y="10"/>
                    <a:pt x="36" y="18"/>
                    <a:pt x="33" y="25"/>
                  </a:cubicBezTo>
                  <a:cubicBezTo>
                    <a:pt x="32" y="26"/>
                    <a:pt x="32" y="27"/>
                    <a:pt x="31" y="28"/>
                  </a:cubicBezTo>
                  <a:cubicBezTo>
                    <a:pt x="30" y="29"/>
                    <a:pt x="30" y="30"/>
                    <a:pt x="31" y="30"/>
                  </a:cubicBezTo>
                  <a:cubicBezTo>
                    <a:pt x="32" y="31"/>
                    <a:pt x="33" y="31"/>
                    <a:pt x="33" y="30"/>
                  </a:cubicBezTo>
                  <a:cubicBezTo>
                    <a:pt x="34" y="29"/>
                    <a:pt x="35" y="28"/>
                    <a:pt x="35" y="27"/>
                  </a:cubicBezTo>
                  <a:cubicBezTo>
                    <a:pt x="39" y="18"/>
                    <a:pt x="36" y="8"/>
                    <a:pt x="27" y="4"/>
                  </a:cubicBezTo>
                  <a:cubicBezTo>
                    <a:pt x="19" y="0"/>
                    <a:pt x="8" y="3"/>
                    <a:pt x="4" y="12"/>
                  </a:cubicBezTo>
                  <a:cubicBezTo>
                    <a:pt x="0" y="21"/>
                    <a:pt x="4" y="31"/>
                    <a:pt x="12" y="35"/>
                  </a:cubicBezTo>
                  <a:cubicBezTo>
                    <a:pt x="15" y="36"/>
                    <a:pt x="18" y="37"/>
                    <a:pt x="20" y="37"/>
                  </a:cubicBezTo>
                  <a:cubicBezTo>
                    <a:pt x="21" y="37"/>
                    <a:pt x="22" y="36"/>
                    <a:pt x="22" y="35"/>
                  </a:cubicBezTo>
                  <a:cubicBezTo>
                    <a:pt x="22" y="34"/>
                    <a:pt x="21" y="33"/>
                    <a:pt x="2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  <a:latin typeface="Arial" panose="020F0502020204030204"/>
                <a:ea typeface="微软雅黑"/>
              </a:endParaRPr>
            </a:p>
          </p:txBody>
        </p:sp>
        <p:sp>
          <p:nvSpPr>
            <p:cNvPr id="152" name="Freeform 20"/>
            <p:cNvSpPr>
              <a:spLocks/>
            </p:cNvSpPr>
            <p:nvPr/>
          </p:nvSpPr>
          <p:spPr bwMode="auto">
            <a:xfrm>
              <a:off x="5354638" y="633413"/>
              <a:ext cx="236537" cy="250825"/>
            </a:xfrm>
            <a:custGeom>
              <a:avLst/>
              <a:gdLst>
                <a:gd name="T0" fmla="*/ 32 w 33"/>
                <a:gd name="T1" fmla="*/ 32 h 35"/>
                <a:gd name="T2" fmla="*/ 12 w 33"/>
                <a:gd name="T3" fmla="*/ 16 h 35"/>
                <a:gd name="T4" fmla="*/ 9 w 33"/>
                <a:gd name="T5" fmla="*/ 11 h 35"/>
                <a:gd name="T6" fmla="*/ 12 w 33"/>
                <a:gd name="T7" fmla="*/ 8 h 35"/>
                <a:gd name="T8" fmla="*/ 9 w 33"/>
                <a:gd name="T9" fmla="*/ 1 h 35"/>
                <a:gd name="T10" fmla="*/ 1 w 33"/>
                <a:gd name="T11" fmla="*/ 4 h 35"/>
                <a:gd name="T12" fmla="*/ 4 w 33"/>
                <a:gd name="T13" fmla="*/ 11 h 35"/>
                <a:gd name="T14" fmla="*/ 6 w 33"/>
                <a:gd name="T15" fmla="*/ 12 h 35"/>
                <a:gd name="T16" fmla="*/ 9 w 33"/>
                <a:gd name="T17" fmla="*/ 17 h 35"/>
                <a:gd name="T18" fmla="*/ 31 w 33"/>
                <a:gd name="T19" fmla="*/ 35 h 35"/>
                <a:gd name="T20" fmla="*/ 33 w 33"/>
                <a:gd name="T21" fmla="*/ 34 h 35"/>
                <a:gd name="T22" fmla="*/ 33 w 33"/>
                <a:gd name="T23" fmla="*/ 34 h 35"/>
                <a:gd name="T24" fmla="*/ 32 w 33"/>
                <a:gd name="T25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5">
                  <a:moveTo>
                    <a:pt x="32" y="32"/>
                  </a:moveTo>
                  <a:cubicBezTo>
                    <a:pt x="23" y="29"/>
                    <a:pt x="16" y="23"/>
                    <a:pt x="12" y="16"/>
                  </a:cubicBezTo>
                  <a:cubicBezTo>
                    <a:pt x="11" y="14"/>
                    <a:pt x="10" y="12"/>
                    <a:pt x="9" y="11"/>
                  </a:cubicBezTo>
                  <a:cubicBezTo>
                    <a:pt x="10" y="10"/>
                    <a:pt x="11" y="10"/>
                    <a:pt x="12" y="8"/>
                  </a:cubicBezTo>
                  <a:cubicBezTo>
                    <a:pt x="13" y="6"/>
                    <a:pt x="12" y="2"/>
                    <a:pt x="9" y="1"/>
                  </a:cubicBezTo>
                  <a:cubicBezTo>
                    <a:pt x="6" y="0"/>
                    <a:pt x="3" y="1"/>
                    <a:pt x="1" y="4"/>
                  </a:cubicBezTo>
                  <a:cubicBezTo>
                    <a:pt x="0" y="6"/>
                    <a:pt x="1" y="10"/>
                    <a:pt x="4" y="11"/>
                  </a:cubicBezTo>
                  <a:cubicBezTo>
                    <a:pt x="5" y="12"/>
                    <a:pt x="6" y="12"/>
                    <a:pt x="6" y="12"/>
                  </a:cubicBezTo>
                  <a:cubicBezTo>
                    <a:pt x="7" y="13"/>
                    <a:pt x="8" y="15"/>
                    <a:pt x="9" y="17"/>
                  </a:cubicBezTo>
                  <a:cubicBezTo>
                    <a:pt x="12" y="23"/>
                    <a:pt x="19" y="31"/>
                    <a:pt x="31" y="35"/>
                  </a:cubicBezTo>
                  <a:cubicBezTo>
                    <a:pt x="32" y="35"/>
                    <a:pt x="33" y="35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3"/>
                    <a:pt x="33" y="32"/>
                    <a:pt x="3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  <a:latin typeface="Arial" panose="020F0502020204030204"/>
                <a:ea typeface="微软雅黑"/>
              </a:endParaRPr>
            </a:p>
          </p:txBody>
        </p:sp>
      </p:grpSp>
      <p:sp>
        <p:nvSpPr>
          <p:cNvPr id="176" name="椭圆 175"/>
          <p:cNvSpPr/>
          <p:nvPr/>
        </p:nvSpPr>
        <p:spPr>
          <a:xfrm>
            <a:off x="831338" y="2345479"/>
            <a:ext cx="1741911" cy="1741911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06156" y="4480204"/>
            <a:ext cx="2009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AA</a:t>
            </a:r>
            <a:r>
              <a:rPr lang="zh-CN" altLang="en-US" sz="2800" b="1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等级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799349" y="2345479"/>
            <a:ext cx="1741911" cy="1741911"/>
            <a:chOff x="4113964" y="2023187"/>
            <a:chExt cx="1741911" cy="1741911"/>
          </a:xfrm>
        </p:grpSpPr>
        <p:grpSp>
          <p:nvGrpSpPr>
            <p:cNvPr id="153" name="组合 152"/>
            <p:cNvGrpSpPr/>
            <p:nvPr/>
          </p:nvGrpSpPr>
          <p:grpSpPr>
            <a:xfrm>
              <a:off x="4835773" y="2537062"/>
              <a:ext cx="435249" cy="616797"/>
              <a:chOff x="4170363" y="1870075"/>
              <a:chExt cx="296862" cy="420687"/>
            </a:xfrm>
            <a:solidFill>
              <a:srgbClr val="ED1E79"/>
            </a:solidFill>
          </p:grpSpPr>
          <p:sp>
            <p:nvSpPr>
              <p:cNvPr id="154" name="Freeform 8"/>
              <p:cNvSpPr>
                <a:spLocks/>
              </p:cNvSpPr>
              <p:nvPr/>
            </p:nvSpPr>
            <p:spPr bwMode="auto">
              <a:xfrm>
                <a:off x="4318000" y="2193925"/>
                <a:ext cx="36513" cy="96837"/>
              </a:xfrm>
              <a:custGeom>
                <a:avLst/>
                <a:gdLst>
                  <a:gd name="T0" fmla="*/ 4 w 4"/>
                  <a:gd name="T1" fmla="*/ 9 h 11"/>
                  <a:gd name="T2" fmla="*/ 2 w 4"/>
                  <a:gd name="T3" fmla="*/ 11 h 11"/>
                  <a:gd name="T4" fmla="*/ 0 w 4"/>
                  <a:gd name="T5" fmla="*/ 9 h 11"/>
                  <a:gd name="T6" fmla="*/ 0 w 4"/>
                  <a:gd name="T7" fmla="*/ 1 h 11"/>
                  <a:gd name="T8" fmla="*/ 4 w 4"/>
                  <a:gd name="T9" fmla="*/ 0 h 11"/>
                  <a:gd name="T10" fmla="*/ 4 w 4"/>
                  <a:gd name="T11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1">
                    <a:moveTo>
                      <a:pt x="4" y="9"/>
                    </a:moveTo>
                    <a:cubicBezTo>
                      <a:pt x="4" y="10"/>
                      <a:pt x="4" y="11"/>
                      <a:pt x="2" y="11"/>
                    </a:cubicBezTo>
                    <a:cubicBezTo>
                      <a:pt x="0" y="11"/>
                      <a:pt x="0" y="10"/>
                      <a:pt x="0" y="9"/>
                    </a:cubicBezTo>
                    <a:cubicBezTo>
                      <a:pt x="0" y="9"/>
                      <a:pt x="0" y="1"/>
                      <a:pt x="0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55" name="Freeform 9"/>
              <p:cNvSpPr>
                <a:spLocks/>
              </p:cNvSpPr>
              <p:nvPr/>
            </p:nvSpPr>
            <p:spPr bwMode="auto">
              <a:xfrm>
                <a:off x="4170363" y="1870075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33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56" name="Freeform 10"/>
              <p:cNvSpPr>
                <a:spLocks/>
              </p:cNvSpPr>
              <p:nvPr/>
            </p:nvSpPr>
            <p:spPr bwMode="auto">
              <a:xfrm>
                <a:off x="4240213" y="1870075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27 w 38"/>
                  <a:gd name="T7" fmla="*/ 6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27" y="6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57" name="Freeform 11"/>
              <p:cNvSpPr>
                <a:spLocks/>
              </p:cNvSpPr>
              <p:nvPr/>
            </p:nvSpPr>
            <p:spPr bwMode="auto">
              <a:xfrm>
                <a:off x="4300538" y="1879600"/>
                <a:ext cx="61913" cy="77787"/>
              </a:xfrm>
              <a:custGeom>
                <a:avLst/>
                <a:gdLst>
                  <a:gd name="T0" fmla="*/ 39 w 39"/>
                  <a:gd name="T1" fmla="*/ 49 h 49"/>
                  <a:gd name="T2" fmla="*/ 11 w 39"/>
                  <a:gd name="T3" fmla="*/ 49 h 49"/>
                  <a:gd name="T4" fmla="*/ 0 w 39"/>
                  <a:gd name="T5" fmla="*/ 0 h 49"/>
                  <a:gd name="T6" fmla="*/ 34 w 39"/>
                  <a:gd name="T7" fmla="*/ 0 h 49"/>
                  <a:gd name="T8" fmla="*/ 39 w 39"/>
                  <a:gd name="T9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9">
                    <a:moveTo>
                      <a:pt x="39" y="49"/>
                    </a:moveTo>
                    <a:lnTo>
                      <a:pt x="11" y="49"/>
                    </a:lnTo>
                    <a:lnTo>
                      <a:pt x="0" y="0"/>
                    </a:lnTo>
                    <a:lnTo>
                      <a:pt x="34" y="0"/>
                    </a:lnTo>
                    <a:lnTo>
                      <a:pt x="39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58" name="Freeform 12"/>
              <p:cNvSpPr>
                <a:spLocks/>
              </p:cNvSpPr>
              <p:nvPr/>
            </p:nvSpPr>
            <p:spPr bwMode="auto">
              <a:xfrm>
                <a:off x="4362450" y="187960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1 w 39"/>
                  <a:gd name="T3" fmla="*/ 49 h 55"/>
                  <a:gd name="T4" fmla="*/ 0 w 39"/>
                  <a:gd name="T5" fmla="*/ 0 h 55"/>
                  <a:gd name="T6" fmla="*/ 28 w 39"/>
                  <a:gd name="T7" fmla="*/ 5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1" y="49"/>
                    </a:lnTo>
                    <a:lnTo>
                      <a:pt x="0" y="0"/>
                    </a:lnTo>
                    <a:lnTo>
                      <a:pt x="28" y="5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59" name="Freeform 13"/>
              <p:cNvSpPr>
                <a:spLocks/>
              </p:cNvSpPr>
              <p:nvPr/>
            </p:nvSpPr>
            <p:spPr bwMode="auto">
              <a:xfrm>
                <a:off x="4178300" y="1974850"/>
                <a:ext cx="69850" cy="96837"/>
              </a:xfrm>
              <a:custGeom>
                <a:avLst/>
                <a:gdLst>
                  <a:gd name="T0" fmla="*/ 44 w 44"/>
                  <a:gd name="T1" fmla="*/ 55 h 61"/>
                  <a:gd name="T2" fmla="*/ 11 w 44"/>
                  <a:gd name="T3" fmla="*/ 61 h 61"/>
                  <a:gd name="T4" fmla="*/ 0 w 44"/>
                  <a:gd name="T5" fmla="*/ 0 h 61"/>
                  <a:gd name="T6" fmla="*/ 33 w 44"/>
                  <a:gd name="T7" fmla="*/ 0 h 61"/>
                  <a:gd name="T8" fmla="*/ 44 w 44"/>
                  <a:gd name="T9" fmla="*/ 5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1">
                    <a:moveTo>
                      <a:pt x="44" y="55"/>
                    </a:moveTo>
                    <a:lnTo>
                      <a:pt x="11" y="61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0" name="Freeform 14"/>
              <p:cNvSpPr>
                <a:spLocks/>
              </p:cNvSpPr>
              <p:nvPr/>
            </p:nvSpPr>
            <p:spPr bwMode="auto">
              <a:xfrm>
                <a:off x="4257675" y="1974850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5 w 38"/>
                  <a:gd name="T3" fmla="*/ 55 h 55"/>
                  <a:gd name="T4" fmla="*/ 0 w 38"/>
                  <a:gd name="T5" fmla="*/ 0 h 55"/>
                  <a:gd name="T6" fmla="*/ 27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5" y="55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1" name="Freeform 15"/>
              <p:cNvSpPr>
                <a:spLocks/>
              </p:cNvSpPr>
              <p:nvPr/>
            </p:nvSpPr>
            <p:spPr bwMode="auto">
              <a:xfrm>
                <a:off x="4318000" y="197485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2 w 39"/>
                  <a:gd name="T3" fmla="*/ 55 h 55"/>
                  <a:gd name="T4" fmla="*/ 0 w 39"/>
                  <a:gd name="T5" fmla="*/ 0 h 55"/>
                  <a:gd name="T6" fmla="*/ 34 w 39"/>
                  <a:gd name="T7" fmla="*/ 0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2" y="55"/>
                    </a:lnTo>
                    <a:lnTo>
                      <a:pt x="0" y="0"/>
                    </a:lnTo>
                    <a:lnTo>
                      <a:pt x="34" y="0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2" name="Freeform 16"/>
              <p:cNvSpPr>
                <a:spLocks/>
              </p:cNvSpPr>
              <p:nvPr/>
            </p:nvSpPr>
            <p:spPr bwMode="auto">
              <a:xfrm>
                <a:off x="4379913" y="1974850"/>
                <a:ext cx="61913" cy="87312"/>
              </a:xfrm>
              <a:custGeom>
                <a:avLst/>
                <a:gdLst>
                  <a:gd name="T0" fmla="*/ 39 w 39"/>
                  <a:gd name="T1" fmla="*/ 55 h 55"/>
                  <a:gd name="T2" fmla="*/ 11 w 39"/>
                  <a:gd name="T3" fmla="*/ 55 h 55"/>
                  <a:gd name="T4" fmla="*/ 0 w 39"/>
                  <a:gd name="T5" fmla="*/ 0 h 55"/>
                  <a:gd name="T6" fmla="*/ 28 w 39"/>
                  <a:gd name="T7" fmla="*/ 6 h 55"/>
                  <a:gd name="T8" fmla="*/ 39 w 39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5">
                    <a:moveTo>
                      <a:pt x="39" y="55"/>
                    </a:moveTo>
                    <a:lnTo>
                      <a:pt x="11" y="55"/>
                    </a:lnTo>
                    <a:lnTo>
                      <a:pt x="0" y="0"/>
                    </a:lnTo>
                    <a:lnTo>
                      <a:pt x="28" y="6"/>
                    </a:lnTo>
                    <a:lnTo>
                      <a:pt x="39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3" name="Freeform 17"/>
              <p:cNvSpPr>
                <a:spLocks/>
              </p:cNvSpPr>
              <p:nvPr/>
            </p:nvSpPr>
            <p:spPr bwMode="auto">
              <a:xfrm>
                <a:off x="4195763" y="2089150"/>
                <a:ext cx="69850" cy="96837"/>
              </a:xfrm>
              <a:custGeom>
                <a:avLst/>
                <a:gdLst>
                  <a:gd name="T0" fmla="*/ 44 w 44"/>
                  <a:gd name="T1" fmla="*/ 61 h 61"/>
                  <a:gd name="T2" fmla="*/ 11 w 44"/>
                  <a:gd name="T3" fmla="*/ 61 h 61"/>
                  <a:gd name="T4" fmla="*/ 0 w 44"/>
                  <a:gd name="T5" fmla="*/ 0 h 61"/>
                  <a:gd name="T6" fmla="*/ 33 w 44"/>
                  <a:gd name="T7" fmla="*/ 0 h 61"/>
                  <a:gd name="T8" fmla="*/ 44 w 44"/>
                  <a:gd name="T9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1">
                    <a:moveTo>
                      <a:pt x="44" y="61"/>
                    </a:moveTo>
                    <a:lnTo>
                      <a:pt x="11" y="61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4" name="Freeform 18"/>
              <p:cNvSpPr>
                <a:spLocks/>
              </p:cNvSpPr>
              <p:nvPr/>
            </p:nvSpPr>
            <p:spPr bwMode="auto">
              <a:xfrm>
                <a:off x="4275138" y="2081213"/>
                <a:ext cx="61913" cy="104775"/>
              </a:xfrm>
              <a:custGeom>
                <a:avLst/>
                <a:gdLst>
                  <a:gd name="T0" fmla="*/ 39 w 39"/>
                  <a:gd name="T1" fmla="*/ 60 h 66"/>
                  <a:gd name="T2" fmla="*/ 5 w 39"/>
                  <a:gd name="T3" fmla="*/ 66 h 66"/>
                  <a:gd name="T4" fmla="*/ 0 w 39"/>
                  <a:gd name="T5" fmla="*/ 5 h 66"/>
                  <a:gd name="T6" fmla="*/ 27 w 39"/>
                  <a:gd name="T7" fmla="*/ 0 h 66"/>
                  <a:gd name="T8" fmla="*/ 39 w 39"/>
                  <a:gd name="T9" fmla="*/ 6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66">
                    <a:moveTo>
                      <a:pt x="39" y="60"/>
                    </a:moveTo>
                    <a:lnTo>
                      <a:pt x="5" y="66"/>
                    </a:lnTo>
                    <a:lnTo>
                      <a:pt x="0" y="5"/>
                    </a:lnTo>
                    <a:lnTo>
                      <a:pt x="27" y="0"/>
                    </a:lnTo>
                    <a:lnTo>
                      <a:pt x="39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5" name="Freeform 19"/>
              <p:cNvSpPr>
                <a:spLocks/>
              </p:cNvSpPr>
              <p:nvPr/>
            </p:nvSpPr>
            <p:spPr bwMode="auto">
              <a:xfrm>
                <a:off x="4337050" y="2081213"/>
                <a:ext cx="69850" cy="95250"/>
              </a:xfrm>
              <a:custGeom>
                <a:avLst/>
                <a:gdLst>
                  <a:gd name="T0" fmla="*/ 44 w 44"/>
                  <a:gd name="T1" fmla="*/ 55 h 60"/>
                  <a:gd name="T2" fmla="*/ 11 w 44"/>
                  <a:gd name="T3" fmla="*/ 60 h 60"/>
                  <a:gd name="T4" fmla="*/ 0 w 44"/>
                  <a:gd name="T5" fmla="*/ 0 h 60"/>
                  <a:gd name="T6" fmla="*/ 33 w 44"/>
                  <a:gd name="T7" fmla="*/ 0 h 60"/>
                  <a:gd name="T8" fmla="*/ 44 w 44"/>
                  <a:gd name="T9" fmla="*/ 5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0">
                    <a:moveTo>
                      <a:pt x="44" y="55"/>
                    </a:moveTo>
                    <a:lnTo>
                      <a:pt x="11" y="60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44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6" name="Freeform 20"/>
              <p:cNvSpPr>
                <a:spLocks/>
              </p:cNvSpPr>
              <p:nvPr/>
            </p:nvSpPr>
            <p:spPr bwMode="auto">
              <a:xfrm>
                <a:off x="4406900" y="2081213"/>
                <a:ext cx="60325" cy="87312"/>
              </a:xfrm>
              <a:custGeom>
                <a:avLst/>
                <a:gdLst>
                  <a:gd name="T0" fmla="*/ 38 w 38"/>
                  <a:gd name="T1" fmla="*/ 55 h 55"/>
                  <a:gd name="T2" fmla="*/ 11 w 38"/>
                  <a:gd name="T3" fmla="*/ 55 h 55"/>
                  <a:gd name="T4" fmla="*/ 0 w 38"/>
                  <a:gd name="T5" fmla="*/ 0 h 55"/>
                  <a:gd name="T6" fmla="*/ 27 w 38"/>
                  <a:gd name="T7" fmla="*/ 0 h 55"/>
                  <a:gd name="T8" fmla="*/ 38 w 38"/>
                  <a:gd name="T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8" y="55"/>
                    </a:moveTo>
                    <a:lnTo>
                      <a:pt x="11" y="55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177" name="椭圆 176"/>
            <p:cNvSpPr/>
            <p:nvPr/>
          </p:nvSpPr>
          <p:spPr>
            <a:xfrm>
              <a:off x="4113964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ED1E79"/>
                  </a:gs>
                  <a:gs pos="34000">
                    <a:srgbClr val="ED1E79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矩形 74"/>
          <p:cNvSpPr/>
          <p:nvPr/>
        </p:nvSpPr>
        <p:spPr>
          <a:xfrm>
            <a:off x="3670219" y="4491008"/>
            <a:ext cx="2009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2800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等级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636644" y="2345479"/>
            <a:ext cx="1741911" cy="1741911"/>
            <a:chOff x="6729209" y="2023187"/>
            <a:chExt cx="1741911" cy="1741911"/>
          </a:xfrm>
        </p:grpSpPr>
        <p:grpSp>
          <p:nvGrpSpPr>
            <p:cNvPr id="172" name="组合 171"/>
            <p:cNvGrpSpPr/>
            <p:nvPr/>
          </p:nvGrpSpPr>
          <p:grpSpPr>
            <a:xfrm>
              <a:off x="7387934" y="2578532"/>
              <a:ext cx="449860" cy="638800"/>
              <a:chOff x="6956426" y="5984875"/>
              <a:chExt cx="158750" cy="225425"/>
            </a:xfrm>
            <a:solidFill>
              <a:srgbClr val="73E14F"/>
            </a:solidFill>
          </p:grpSpPr>
          <p:sp>
            <p:nvSpPr>
              <p:cNvPr id="173" name="Freeform 471"/>
              <p:cNvSpPr>
                <a:spLocks/>
              </p:cNvSpPr>
              <p:nvPr/>
            </p:nvSpPr>
            <p:spPr bwMode="auto">
              <a:xfrm>
                <a:off x="6956426" y="5984875"/>
                <a:ext cx="95250" cy="225425"/>
              </a:xfrm>
              <a:custGeom>
                <a:avLst/>
                <a:gdLst>
                  <a:gd name="T0" fmla="*/ 3 w 30"/>
                  <a:gd name="T1" fmla="*/ 0 h 71"/>
                  <a:gd name="T2" fmla="*/ 2 w 30"/>
                  <a:gd name="T3" fmla="*/ 0 h 71"/>
                  <a:gd name="T4" fmla="*/ 2 w 30"/>
                  <a:gd name="T5" fmla="*/ 71 h 71"/>
                  <a:gd name="T6" fmla="*/ 28 w 30"/>
                  <a:gd name="T7" fmla="*/ 54 h 71"/>
                  <a:gd name="T8" fmla="*/ 28 w 30"/>
                  <a:gd name="T9" fmla="*/ 35 h 71"/>
                  <a:gd name="T10" fmla="*/ 28 w 30"/>
                  <a:gd name="T11" fmla="*/ 17 h 71"/>
                  <a:gd name="T12" fmla="*/ 17 w 30"/>
                  <a:gd name="T13" fmla="*/ 8 h 71"/>
                  <a:gd name="T14" fmla="*/ 3 w 30"/>
                  <a:gd name="T15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71">
                    <a:moveTo>
                      <a:pt x="3" y="0"/>
                    </a:moveTo>
                    <a:cubicBezTo>
                      <a:pt x="3" y="0"/>
                      <a:pt x="2" y="0"/>
                      <a:pt x="2" y="0"/>
                    </a:cubicBezTo>
                    <a:cubicBezTo>
                      <a:pt x="0" y="21"/>
                      <a:pt x="0" y="49"/>
                      <a:pt x="2" y="71"/>
                    </a:cubicBezTo>
                    <a:cubicBezTo>
                      <a:pt x="11" y="66"/>
                      <a:pt x="20" y="60"/>
                      <a:pt x="28" y="54"/>
                    </a:cubicBezTo>
                    <a:cubicBezTo>
                      <a:pt x="28" y="48"/>
                      <a:pt x="28" y="42"/>
                      <a:pt x="28" y="35"/>
                    </a:cubicBezTo>
                    <a:cubicBezTo>
                      <a:pt x="28" y="29"/>
                      <a:pt x="30" y="22"/>
                      <a:pt x="28" y="17"/>
                    </a:cubicBezTo>
                    <a:cubicBezTo>
                      <a:pt x="27" y="15"/>
                      <a:pt x="20" y="10"/>
                      <a:pt x="17" y="8"/>
                    </a:cubicBezTo>
                    <a:cubicBezTo>
                      <a:pt x="11" y="5"/>
                      <a:pt x="7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74" name="Freeform 472"/>
              <p:cNvSpPr>
                <a:spLocks/>
              </p:cNvSpPr>
              <p:nvPr/>
            </p:nvSpPr>
            <p:spPr bwMode="auto">
              <a:xfrm>
                <a:off x="7054851" y="6035675"/>
                <a:ext cx="60325" cy="123825"/>
              </a:xfrm>
              <a:custGeom>
                <a:avLst/>
                <a:gdLst>
                  <a:gd name="T0" fmla="*/ 0 w 19"/>
                  <a:gd name="T1" fmla="*/ 0 h 39"/>
                  <a:gd name="T2" fmla="*/ 0 w 19"/>
                  <a:gd name="T3" fmla="*/ 39 h 39"/>
                  <a:gd name="T4" fmla="*/ 19 w 19"/>
                  <a:gd name="T5" fmla="*/ 39 h 39"/>
                  <a:gd name="T6" fmla="*/ 19 w 19"/>
                  <a:gd name="T7" fmla="*/ 0 h 39"/>
                  <a:gd name="T8" fmla="*/ 0 w 19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9">
                    <a:moveTo>
                      <a:pt x="0" y="0"/>
                    </a:moveTo>
                    <a:cubicBezTo>
                      <a:pt x="0" y="13"/>
                      <a:pt x="0" y="26"/>
                      <a:pt x="0" y="39"/>
                    </a:cubicBezTo>
                    <a:cubicBezTo>
                      <a:pt x="6" y="39"/>
                      <a:pt x="13" y="39"/>
                      <a:pt x="19" y="39"/>
                    </a:cubicBezTo>
                    <a:cubicBezTo>
                      <a:pt x="19" y="26"/>
                      <a:pt x="19" y="13"/>
                      <a:pt x="19" y="0"/>
                    </a:cubicBezTo>
                    <a:cubicBezTo>
                      <a:pt x="13" y="0"/>
                      <a:pt x="6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178" name="椭圆 177"/>
            <p:cNvSpPr/>
            <p:nvPr/>
          </p:nvSpPr>
          <p:spPr>
            <a:xfrm>
              <a:off x="6729209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73E14F"/>
                  </a:gs>
                  <a:gs pos="34000">
                    <a:srgbClr val="73E14F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矩形 80"/>
          <p:cNvSpPr/>
          <p:nvPr/>
        </p:nvSpPr>
        <p:spPr>
          <a:xfrm>
            <a:off x="6569724" y="4472929"/>
            <a:ext cx="2009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等级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584215" y="2345479"/>
            <a:ext cx="1741911" cy="1741911"/>
            <a:chOff x="9504904" y="2023187"/>
            <a:chExt cx="1741911" cy="1741911"/>
          </a:xfrm>
        </p:grpSpPr>
        <p:grpSp>
          <p:nvGrpSpPr>
            <p:cNvPr id="167" name="组合 166"/>
            <p:cNvGrpSpPr/>
            <p:nvPr/>
          </p:nvGrpSpPr>
          <p:grpSpPr>
            <a:xfrm>
              <a:off x="10077785" y="2633715"/>
              <a:ext cx="596148" cy="425820"/>
              <a:chOff x="5419725" y="669925"/>
              <a:chExt cx="866776" cy="619126"/>
            </a:xfrm>
            <a:solidFill>
              <a:srgbClr val="4EC0FF"/>
            </a:solidFill>
          </p:grpSpPr>
          <p:sp>
            <p:nvSpPr>
              <p:cNvPr id="168" name="Freeform 15"/>
              <p:cNvSpPr>
                <a:spLocks/>
              </p:cNvSpPr>
              <p:nvPr/>
            </p:nvSpPr>
            <p:spPr bwMode="auto">
              <a:xfrm>
                <a:off x="5441950" y="1008063"/>
                <a:ext cx="825500" cy="280988"/>
              </a:xfrm>
              <a:custGeom>
                <a:avLst/>
                <a:gdLst>
                  <a:gd name="T0" fmla="*/ 110 w 220"/>
                  <a:gd name="T1" fmla="*/ 25 h 75"/>
                  <a:gd name="T2" fmla="*/ 81 w 220"/>
                  <a:gd name="T3" fmla="*/ 0 h 75"/>
                  <a:gd name="T4" fmla="*/ 0 w 220"/>
                  <a:gd name="T5" fmla="*/ 70 h 75"/>
                  <a:gd name="T6" fmla="*/ 11 w 220"/>
                  <a:gd name="T7" fmla="*/ 75 h 75"/>
                  <a:gd name="T8" fmla="*/ 209 w 220"/>
                  <a:gd name="T9" fmla="*/ 75 h 75"/>
                  <a:gd name="T10" fmla="*/ 220 w 220"/>
                  <a:gd name="T11" fmla="*/ 70 h 75"/>
                  <a:gd name="T12" fmla="*/ 138 w 220"/>
                  <a:gd name="T13" fmla="*/ 0 h 75"/>
                  <a:gd name="T14" fmla="*/ 110 w 220"/>
                  <a:gd name="T15" fmla="*/ 2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0" h="75">
                    <a:moveTo>
                      <a:pt x="110" y="25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3" y="73"/>
                      <a:pt x="7" y="75"/>
                      <a:pt x="11" y="75"/>
                    </a:cubicBezTo>
                    <a:cubicBezTo>
                      <a:pt x="209" y="75"/>
                      <a:pt x="209" y="75"/>
                      <a:pt x="209" y="75"/>
                    </a:cubicBezTo>
                    <a:cubicBezTo>
                      <a:pt x="213" y="75"/>
                      <a:pt x="217" y="73"/>
                      <a:pt x="220" y="70"/>
                    </a:cubicBezTo>
                    <a:cubicBezTo>
                      <a:pt x="138" y="0"/>
                      <a:pt x="138" y="0"/>
                      <a:pt x="138" y="0"/>
                    </a:cubicBezTo>
                    <a:lnTo>
                      <a:pt x="11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69" name="Freeform 16"/>
              <p:cNvSpPr>
                <a:spLocks/>
              </p:cNvSpPr>
              <p:nvPr/>
            </p:nvSpPr>
            <p:spPr bwMode="auto">
              <a:xfrm>
                <a:off x="5441950" y="669925"/>
                <a:ext cx="825500" cy="371475"/>
              </a:xfrm>
              <a:custGeom>
                <a:avLst/>
                <a:gdLst>
                  <a:gd name="T0" fmla="*/ 220 w 220"/>
                  <a:gd name="T1" fmla="*/ 4 h 99"/>
                  <a:gd name="T2" fmla="*/ 209 w 220"/>
                  <a:gd name="T3" fmla="*/ 0 h 99"/>
                  <a:gd name="T4" fmla="*/ 11 w 220"/>
                  <a:gd name="T5" fmla="*/ 0 h 99"/>
                  <a:gd name="T6" fmla="*/ 0 w 220"/>
                  <a:gd name="T7" fmla="*/ 4 h 99"/>
                  <a:gd name="T8" fmla="*/ 110 w 220"/>
                  <a:gd name="T9" fmla="*/ 99 h 99"/>
                  <a:gd name="T10" fmla="*/ 220 w 220"/>
                  <a:gd name="T11" fmla="*/ 4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0" h="99">
                    <a:moveTo>
                      <a:pt x="220" y="4"/>
                    </a:moveTo>
                    <a:cubicBezTo>
                      <a:pt x="217" y="1"/>
                      <a:pt x="213" y="0"/>
                      <a:pt x="209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3" y="1"/>
                      <a:pt x="0" y="4"/>
                    </a:cubicBezTo>
                    <a:cubicBezTo>
                      <a:pt x="110" y="99"/>
                      <a:pt x="110" y="99"/>
                      <a:pt x="110" y="99"/>
                    </a:cubicBezTo>
                    <a:lnTo>
                      <a:pt x="22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70" name="Freeform 17"/>
              <p:cNvSpPr>
                <a:spLocks/>
              </p:cNvSpPr>
              <p:nvPr/>
            </p:nvSpPr>
            <p:spPr bwMode="auto">
              <a:xfrm>
                <a:off x="5419725" y="723900"/>
                <a:ext cx="300038" cy="512763"/>
              </a:xfrm>
              <a:custGeom>
                <a:avLst/>
                <a:gdLst>
                  <a:gd name="T0" fmla="*/ 0 w 189"/>
                  <a:gd name="T1" fmla="*/ 0 h 323"/>
                  <a:gd name="T2" fmla="*/ 0 w 189"/>
                  <a:gd name="T3" fmla="*/ 323 h 323"/>
                  <a:gd name="T4" fmla="*/ 189 w 189"/>
                  <a:gd name="T5" fmla="*/ 163 h 323"/>
                  <a:gd name="T6" fmla="*/ 0 w 189"/>
                  <a:gd name="T7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323">
                    <a:moveTo>
                      <a:pt x="0" y="0"/>
                    </a:moveTo>
                    <a:lnTo>
                      <a:pt x="0" y="323"/>
                    </a:lnTo>
                    <a:lnTo>
                      <a:pt x="189" y="16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  <p:sp>
            <p:nvSpPr>
              <p:cNvPr id="171" name="Freeform 18"/>
              <p:cNvSpPr>
                <a:spLocks/>
              </p:cNvSpPr>
              <p:nvPr/>
            </p:nvSpPr>
            <p:spPr bwMode="auto">
              <a:xfrm>
                <a:off x="5986463" y="723900"/>
                <a:ext cx="300038" cy="512763"/>
              </a:xfrm>
              <a:custGeom>
                <a:avLst/>
                <a:gdLst>
                  <a:gd name="T0" fmla="*/ 0 w 189"/>
                  <a:gd name="T1" fmla="*/ 163 h 323"/>
                  <a:gd name="T2" fmla="*/ 189 w 189"/>
                  <a:gd name="T3" fmla="*/ 323 h 323"/>
                  <a:gd name="T4" fmla="*/ 189 w 189"/>
                  <a:gd name="T5" fmla="*/ 0 h 323"/>
                  <a:gd name="T6" fmla="*/ 0 w 189"/>
                  <a:gd name="T7" fmla="*/ 163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9" h="323">
                    <a:moveTo>
                      <a:pt x="0" y="163"/>
                    </a:moveTo>
                    <a:lnTo>
                      <a:pt x="189" y="323"/>
                    </a:lnTo>
                    <a:lnTo>
                      <a:pt x="189" y="0"/>
                    </a:lnTo>
                    <a:lnTo>
                      <a:pt x="0" y="1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zh-CN" altLang="en-US" kern="0">
                  <a:solidFill>
                    <a:prstClr val="black"/>
                  </a:solidFill>
                  <a:latin typeface="Arial" panose="020F0502020204030204"/>
                  <a:ea typeface="微软雅黑"/>
                </a:endParaRPr>
              </a:p>
            </p:txBody>
          </p:sp>
        </p:grpSp>
        <p:sp>
          <p:nvSpPr>
            <p:cNvPr id="175" name="椭圆 174"/>
            <p:cNvSpPr/>
            <p:nvPr/>
          </p:nvSpPr>
          <p:spPr>
            <a:xfrm>
              <a:off x="9504904" y="2023187"/>
              <a:ext cx="1741911" cy="1741911"/>
            </a:xfrm>
            <a:prstGeom prst="ellipse">
              <a:avLst/>
            </a:prstGeom>
            <a:noFill/>
            <a:ln w="38100">
              <a:gradFill flip="none" rotWithShape="1">
                <a:gsLst>
                  <a:gs pos="0">
                    <a:srgbClr val="4DBEFE"/>
                  </a:gs>
                  <a:gs pos="34000">
                    <a:srgbClr val="4DBEFE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4" name="矩形 83"/>
          <p:cNvSpPr/>
          <p:nvPr/>
        </p:nvSpPr>
        <p:spPr>
          <a:xfrm>
            <a:off x="9450612" y="4472929"/>
            <a:ext cx="20091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2800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等级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6807473" y="2499035"/>
            <a:ext cx="1400252" cy="1400252"/>
            <a:chOff x="3909333" y="2043501"/>
            <a:chExt cx="2020498" cy="2020498"/>
          </a:xfrm>
        </p:grpSpPr>
        <p:sp>
          <p:nvSpPr>
            <p:cNvPr id="53" name="椭圆 52"/>
            <p:cNvSpPr/>
            <p:nvPr/>
          </p:nvSpPr>
          <p:spPr>
            <a:xfrm>
              <a:off x="3909333" y="2043501"/>
              <a:ext cx="2020498" cy="2020498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4220100" y="2263652"/>
              <a:ext cx="1504922" cy="1504922"/>
            </a:xfrm>
            <a:prstGeom prst="ellipse">
              <a:avLst/>
            </a:prstGeom>
            <a:gradFill>
              <a:gsLst>
                <a:gs pos="0">
                  <a:srgbClr val="73E14F"/>
                </a:gs>
                <a:gs pos="100000">
                  <a:srgbClr val="0FA51E"/>
                </a:gs>
                <a:gs pos="64000">
                  <a:srgbClr val="41C5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 useBgFill="1">
        <p:nvSpPr>
          <p:cNvPr id="51" name="弦形 50"/>
          <p:cNvSpPr/>
          <p:nvPr/>
        </p:nvSpPr>
        <p:spPr>
          <a:xfrm rot="10800000">
            <a:off x="6998559" y="2641400"/>
            <a:ext cx="1091512" cy="1091516"/>
          </a:xfrm>
          <a:prstGeom prst="chord">
            <a:avLst>
              <a:gd name="adj1" fmla="val 2210734"/>
              <a:gd name="adj2" fmla="val 86119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237246" y="3328352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755043" y="2532798"/>
            <a:ext cx="1400252" cy="1400252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933695" y="2711451"/>
            <a:ext cx="1042946" cy="1042946"/>
          </a:xfrm>
          <a:prstGeom prst="ellipse">
            <a:avLst/>
          </a:prstGeom>
          <a:gradFill>
            <a:gsLst>
              <a:gs pos="0">
                <a:srgbClr val="57D3FF"/>
              </a:gs>
              <a:gs pos="100000">
                <a:srgbClr val="5D63FE"/>
              </a:gs>
              <a:gs pos="64000">
                <a:srgbClr val="44ADFE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57" name="弦形 56"/>
          <p:cNvSpPr/>
          <p:nvPr/>
        </p:nvSpPr>
        <p:spPr>
          <a:xfrm rot="10800000">
            <a:off x="9909412" y="2701246"/>
            <a:ext cx="1091512" cy="1091516"/>
          </a:xfrm>
          <a:prstGeom prst="chord">
            <a:avLst>
              <a:gd name="adj1" fmla="val 2210734"/>
              <a:gd name="adj2" fmla="val 86119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184816" y="3362115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75250" y="2969301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1.89</a:t>
            </a:r>
            <a:r>
              <a:rPr lang="en-US" altLang="zh-CN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96247" y="2520098"/>
            <a:ext cx="1400252" cy="1400252"/>
            <a:chOff x="6553679" y="5472844"/>
            <a:chExt cx="1400252" cy="1400252"/>
          </a:xfrm>
        </p:grpSpPr>
        <p:sp>
          <p:nvSpPr>
            <p:cNvPr id="60" name="椭圆 59"/>
            <p:cNvSpPr/>
            <p:nvPr/>
          </p:nvSpPr>
          <p:spPr>
            <a:xfrm>
              <a:off x="6553679" y="5472844"/>
              <a:ext cx="1400252" cy="1400252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6732331" y="5651497"/>
              <a:ext cx="1042946" cy="1042946"/>
            </a:xfrm>
            <a:prstGeom prst="ellipse">
              <a:avLst/>
            </a:prstGeom>
            <a:gradFill>
              <a:gsLst>
                <a:gs pos="0">
                  <a:srgbClr val="FCD320"/>
                </a:gs>
                <a:gs pos="100000">
                  <a:srgbClr val="F07D0D"/>
                </a:gs>
                <a:gs pos="64000">
                  <a:srgbClr val="FABA15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 useBgFill="1">
          <p:nvSpPr>
            <p:cNvPr id="62" name="弦形 61"/>
            <p:cNvSpPr/>
            <p:nvPr/>
          </p:nvSpPr>
          <p:spPr>
            <a:xfrm rot="10800000">
              <a:off x="6708048" y="5641292"/>
              <a:ext cx="1091512" cy="1091516"/>
            </a:xfrm>
            <a:prstGeom prst="chord">
              <a:avLst>
                <a:gd name="adj1" fmla="val 2210734"/>
                <a:gd name="adj2" fmla="val 86119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964216" y="6302161"/>
              <a:ext cx="60785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百分比</a:t>
              </a:r>
              <a:r>
                <a:rPr lang="en-US" altLang="zh-CN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6773886" y="5909347"/>
              <a:ext cx="96212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0.78</a:t>
              </a:r>
              <a:r>
                <a:rPr lang="en-US" altLang="zh-CN" sz="1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endParaRPr lang="zh-CN" altLang="en-US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椭圆 64"/>
          <p:cNvSpPr/>
          <p:nvPr/>
        </p:nvSpPr>
        <p:spPr>
          <a:xfrm>
            <a:off x="3988574" y="2472952"/>
            <a:ext cx="1400252" cy="1400252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4167226" y="2651605"/>
            <a:ext cx="1042946" cy="1042946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67" name="弦形 66"/>
          <p:cNvSpPr/>
          <p:nvPr/>
        </p:nvSpPr>
        <p:spPr>
          <a:xfrm rot="10800000">
            <a:off x="4142943" y="2641400"/>
            <a:ext cx="1091512" cy="1091516"/>
          </a:xfrm>
          <a:prstGeom prst="chord">
            <a:avLst>
              <a:gd name="adj1" fmla="val 2210734"/>
              <a:gd name="adj2" fmla="val 86119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418347" y="3302269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208781" y="2909455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1.29</a:t>
            </a:r>
            <a:r>
              <a:rPr lang="en-US" altLang="zh-CN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组合 75"/>
          <p:cNvGrpSpPr/>
          <p:nvPr/>
        </p:nvGrpSpPr>
        <p:grpSpPr>
          <a:xfrm rot="1800000">
            <a:off x="7804310" y="-1848540"/>
            <a:ext cx="2819450" cy="3436180"/>
            <a:chOff x="5138696" y="1187319"/>
            <a:chExt cx="2819450" cy="3436180"/>
          </a:xfrm>
        </p:grpSpPr>
        <p:sp>
          <p:nvSpPr>
            <p:cNvPr id="77" name="等腰三角形 76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等腰三角形 84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6" name="等腰三角形 85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等腰三角形 86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8" name="等腰三角形 87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9" name="等腰三角形 88"/>
            <p:cNvSpPr/>
            <p:nvPr/>
          </p:nvSpPr>
          <p:spPr>
            <a:xfrm rot="10110591">
              <a:off x="6930678" y="118731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0" name="等腰三角形 89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 rot="18000000">
            <a:off x="5242675" y="5884334"/>
            <a:ext cx="2381874" cy="3423254"/>
            <a:chOff x="5655918" y="1200245"/>
            <a:chExt cx="2381874" cy="3423254"/>
          </a:xfrm>
        </p:grpSpPr>
        <p:sp>
          <p:nvSpPr>
            <p:cNvPr id="92" name="等腰三角形 91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3" name="等腰三角形 92"/>
            <p:cNvSpPr/>
            <p:nvPr/>
          </p:nvSpPr>
          <p:spPr>
            <a:xfrm rot="10110591">
              <a:off x="6879676" y="2374145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4" name="等腰三角形 93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5" name="等腰三角形 94"/>
            <p:cNvSpPr/>
            <p:nvPr/>
          </p:nvSpPr>
          <p:spPr>
            <a:xfrm rot="10110591">
              <a:off x="5853283" y="1910137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6" name="等腰三角形 95"/>
            <p:cNvSpPr/>
            <p:nvPr/>
          </p:nvSpPr>
          <p:spPr>
            <a:xfrm rot="10110591">
              <a:off x="7447379" y="1698736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7" name="等腰三角形 96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8" name="等腰三角形 97"/>
            <p:cNvSpPr/>
            <p:nvPr/>
          </p:nvSpPr>
          <p:spPr>
            <a:xfrm rot="10110591">
              <a:off x="6758018" y="1586043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9" name="等腰三角形 98"/>
            <p:cNvSpPr/>
            <p:nvPr/>
          </p:nvSpPr>
          <p:spPr>
            <a:xfrm rot="10110591">
              <a:off x="7624164" y="3010285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120" name="矩形 119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椭圆 120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1158012" y="484569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利息计算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93D4DD4-0C18-4469-A2CE-4EACA301F860}"/>
              </a:ext>
            </a:extLst>
          </p:cNvPr>
          <p:cNvSpPr/>
          <p:nvPr/>
        </p:nvSpPr>
        <p:spPr>
          <a:xfrm>
            <a:off x="7093219" y="2903653"/>
            <a:ext cx="962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1.59</a:t>
            </a:r>
            <a:r>
              <a:rPr lang="en-US" altLang="zh-CN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74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 tmFilter="0,0; .5, 1; 1, 1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 tmFilter="0,0; .5, 1; 1, 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 tmFilter="0,0; .5, 1; 1, 1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 tmFilter="0,0; .5, 1; 1, 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  <p:bldP spid="176" grpId="1" animBg="1"/>
      <p:bldP spid="72" grpId="0"/>
      <p:bldP spid="75" grpId="0"/>
      <p:bldP spid="81" grpId="0"/>
      <p:bldP spid="8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240911999"/>
              </p:ext>
            </p:extLst>
          </p:nvPr>
        </p:nvGraphicFramePr>
        <p:xfrm>
          <a:off x="772523" y="1437968"/>
          <a:ext cx="5960446" cy="4878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矩形 27"/>
          <p:cNvSpPr/>
          <p:nvPr/>
        </p:nvSpPr>
        <p:spPr>
          <a:xfrm>
            <a:off x="8010771" y="422036"/>
            <a:ext cx="2186817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5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</a:t>
            </a:r>
            <a:r>
              <a:rPr lang="en-US" altLang="zh-CN" sz="138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6600" dirty="0">
              <a:solidFill>
                <a:prstClr val="white">
                  <a:alpha val="27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76604" y="1467334"/>
            <a:ext cx="3049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数据分析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671187" y="5486245"/>
            <a:ext cx="2744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还款方式</a:t>
            </a:r>
            <a:r>
              <a:rPr lang="en-US" altLang="zh-CN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等额本息和等息本金</a:t>
            </a:r>
          </a:p>
        </p:txBody>
      </p:sp>
      <p:sp>
        <p:nvSpPr>
          <p:cNvPr id="41" name="矩形 40"/>
          <p:cNvSpPr/>
          <p:nvPr/>
        </p:nvSpPr>
        <p:spPr>
          <a:xfrm>
            <a:off x="8656773" y="2974297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贷款时间</a:t>
            </a:r>
            <a:r>
              <a:rPr lang="en-US" altLang="zh-CN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b="1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个月</a:t>
            </a:r>
            <a:endParaRPr lang="zh-CN" altLang="en-US" sz="1600" b="1" dirty="0">
              <a:solidFill>
                <a:srgbClr val="ED1E79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556996" y="2627647"/>
            <a:ext cx="907554" cy="907554"/>
            <a:chOff x="8118363" y="2104862"/>
            <a:chExt cx="1305336" cy="1305336"/>
          </a:xfrm>
        </p:grpSpPr>
        <p:sp>
          <p:nvSpPr>
            <p:cNvPr id="23" name="椭圆 22"/>
            <p:cNvSpPr/>
            <p:nvPr/>
          </p:nvSpPr>
          <p:spPr>
            <a:xfrm>
              <a:off x="8118363" y="2104862"/>
              <a:ext cx="1305336" cy="1305336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8284905" y="2271405"/>
              <a:ext cx="972250" cy="972250"/>
            </a:xfrm>
            <a:prstGeom prst="ellipse">
              <a:avLst/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 useBgFill="1">
          <p:nvSpPr>
            <p:cNvPr id="25" name="弦形 24"/>
            <p:cNvSpPr/>
            <p:nvPr/>
          </p:nvSpPr>
          <p:spPr>
            <a:xfrm rot="10800000">
              <a:off x="8265693" y="2258467"/>
              <a:ext cx="1017523" cy="1017528"/>
            </a:xfrm>
            <a:prstGeom prst="chord">
              <a:avLst>
                <a:gd name="adj1" fmla="val 2210734"/>
                <a:gd name="adj2" fmla="val 86119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865010" y="3006801"/>
            <a:ext cx="291524" cy="259513"/>
            <a:chOff x="6699251" y="2735263"/>
            <a:chExt cx="404812" cy="360362"/>
          </a:xfrm>
          <a:solidFill>
            <a:sysClr val="window" lastClr="FFFFFF"/>
          </a:solidFill>
        </p:grpSpPr>
        <p:sp>
          <p:nvSpPr>
            <p:cNvPr id="57" name="Freeform 27"/>
            <p:cNvSpPr>
              <a:spLocks/>
            </p:cNvSpPr>
            <p:nvPr/>
          </p:nvSpPr>
          <p:spPr bwMode="auto">
            <a:xfrm>
              <a:off x="6980238" y="2746375"/>
              <a:ext cx="123825" cy="338137"/>
            </a:xfrm>
            <a:custGeom>
              <a:avLst/>
              <a:gdLst>
                <a:gd name="T0" fmla="*/ 9 w 11"/>
                <a:gd name="T1" fmla="*/ 15 h 30"/>
                <a:gd name="T2" fmla="*/ 1 w 11"/>
                <a:gd name="T3" fmla="*/ 1 h 30"/>
                <a:gd name="T4" fmla="*/ 2 w 11"/>
                <a:gd name="T5" fmla="*/ 0 h 30"/>
                <a:gd name="T6" fmla="*/ 11 w 11"/>
                <a:gd name="T7" fmla="*/ 15 h 30"/>
                <a:gd name="T8" fmla="*/ 1 w 11"/>
                <a:gd name="T9" fmla="*/ 30 h 30"/>
                <a:gd name="T10" fmla="*/ 0 w 11"/>
                <a:gd name="T11" fmla="*/ 28 h 30"/>
                <a:gd name="T12" fmla="*/ 9 w 11"/>
                <a:gd name="T13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0">
                  <a:moveTo>
                    <a:pt x="9" y="15"/>
                  </a:moveTo>
                  <a:cubicBezTo>
                    <a:pt x="9" y="9"/>
                    <a:pt x="6" y="4"/>
                    <a:pt x="1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2"/>
                    <a:pt x="11" y="8"/>
                    <a:pt x="11" y="15"/>
                  </a:cubicBezTo>
                  <a:cubicBezTo>
                    <a:pt x="11" y="21"/>
                    <a:pt x="7" y="27"/>
                    <a:pt x="1" y="3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5"/>
                    <a:pt x="9" y="20"/>
                    <a:pt x="9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58" name="Freeform 28"/>
            <p:cNvSpPr>
              <a:spLocks/>
            </p:cNvSpPr>
            <p:nvPr/>
          </p:nvSpPr>
          <p:spPr bwMode="auto">
            <a:xfrm>
              <a:off x="6946901" y="2768600"/>
              <a:ext cx="101600" cy="282575"/>
            </a:xfrm>
            <a:custGeom>
              <a:avLst/>
              <a:gdLst>
                <a:gd name="T0" fmla="*/ 7 w 9"/>
                <a:gd name="T1" fmla="*/ 13 h 25"/>
                <a:gd name="T2" fmla="*/ 0 w 9"/>
                <a:gd name="T3" fmla="*/ 2 h 25"/>
                <a:gd name="T4" fmla="*/ 1 w 9"/>
                <a:gd name="T5" fmla="*/ 0 h 25"/>
                <a:gd name="T6" fmla="*/ 9 w 9"/>
                <a:gd name="T7" fmla="*/ 13 h 25"/>
                <a:gd name="T8" fmla="*/ 1 w 9"/>
                <a:gd name="T9" fmla="*/ 25 h 25"/>
                <a:gd name="T10" fmla="*/ 0 w 9"/>
                <a:gd name="T11" fmla="*/ 23 h 25"/>
                <a:gd name="T12" fmla="*/ 7 w 9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5">
                  <a:moveTo>
                    <a:pt x="7" y="13"/>
                  </a:moveTo>
                  <a:cubicBezTo>
                    <a:pt x="7" y="8"/>
                    <a:pt x="4" y="4"/>
                    <a:pt x="0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2"/>
                    <a:pt x="9" y="7"/>
                    <a:pt x="9" y="13"/>
                  </a:cubicBezTo>
                  <a:cubicBezTo>
                    <a:pt x="9" y="18"/>
                    <a:pt x="6" y="23"/>
                    <a:pt x="1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21"/>
                    <a:pt x="7" y="17"/>
                    <a:pt x="7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59" name="Freeform 29"/>
            <p:cNvSpPr>
              <a:spLocks/>
            </p:cNvSpPr>
            <p:nvPr/>
          </p:nvSpPr>
          <p:spPr bwMode="auto">
            <a:xfrm>
              <a:off x="6789738" y="2735263"/>
              <a:ext cx="123825" cy="360362"/>
            </a:xfrm>
            <a:custGeom>
              <a:avLst/>
              <a:gdLst>
                <a:gd name="T0" fmla="*/ 0 w 78"/>
                <a:gd name="T1" fmla="*/ 64 h 227"/>
                <a:gd name="T2" fmla="*/ 0 w 78"/>
                <a:gd name="T3" fmla="*/ 156 h 227"/>
                <a:gd name="T4" fmla="*/ 49 w 78"/>
                <a:gd name="T5" fmla="*/ 199 h 227"/>
                <a:gd name="T6" fmla="*/ 49 w 78"/>
                <a:gd name="T7" fmla="*/ 114 h 227"/>
                <a:gd name="T8" fmla="*/ 56 w 78"/>
                <a:gd name="T9" fmla="*/ 114 h 227"/>
                <a:gd name="T10" fmla="*/ 56 w 78"/>
                <a:gd name="T11" fmla="*/ 206 h 227"/>
                <a:gd name="T12" fmla="*/ 78 w 78"/>
                <a:gd name="T13" fmla="*/ 227 h 227"/>
                <a:gd name="T14" fmla="*/ 78 w 78"/>
                <a:gd name="T15" fmla="*/ 0 h 227"/>
                <a:gd name="T16" fmla="*/ 0 w 78"/>
                <a:gd name="T17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227">
                  <a:moveTo>
                    <a:pt x="0" y="64"/>
                  </a:moveTo>
                  <a:lnTo>
                    <a:pt x="0" y="156"/>
                  </a:lnTo>
                  <a:lnTo>
                    <a:pt x="49" y="199"/>
                  </a:lnTo>
                  <a:lnTo>
                    <a:pt x="49" y="114"/>
                  </a:lnTo>
                  <a:lnTo>
                    <a:pt x="56" y="114"/>
                  </a:lnTo>
                  <a:lnTo>
                    <a:pt x="56" y="206"/>
                  </a:lnTo>
                  <a:lnTo>
                    <a:pt x="78" y="227"/>
                  </a:lnTo>
                  <a:lnTo>
                    <a:pt x="78" y="0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60" name="Freeform 30"/>
            <p:cNvSpPr>
              <a:spLocks/>
            </p:cNvSpPr>
            <p:nvPr/>
          </p:nvSpPr>
          <p:spPr bwMode="auto">
            <a:xfrm>
              <a:off x="6699251" y="2847975"/>
              <a:ext cx="66675" cy="134937"/>
            </a:xfrm>
            <a:custGeom>
              <a:avLst/>
              <a:gdLst>
                <a:gd name="T0" fmla="*/ 0 w 42"/>
                <a:gd name="T1" fmla="*/ 0 h 85"/>
                <a:gd name="T2" fmla="*/ 0 w 42"/>
                <a:gd name="T3" fmla="*/ 85 h 85"/>
                <a:gd name="T4" fmla="*/ 28 w 42"/>
                <a:gd name="T5" fmla="*/ 85 h 85"/>
                <a:gd name="T6" fmla="*/ 28 w 42"/>
                <a:gd name="T7" fmla="*/ 35 h 85"/>
                <a:gd name="T8" fmla="*/ 35 w 42"/>
                <a:gd name="T9" fmla="*/ 35 h 85"/>
                <a:gd name="T10" fmla="*/ 35 w 42"/>
                <a:gd name="T11" fmla="*/ 85 h 85"/>
                <a:gd name="T12" fmla="*/ 42 w 42"/>
                <a:gd name="T13" fmla="*/ 85 h 85"/>
                <a:gd name="T14" fmla="*/ 42 w 42"/>
                <a:gd name="T15" fmla="*/ 0 h 85"/>
                <a:gd name="T16" fmla="*/ 0 w 42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85">
                  <a:moveTo>
                    <a:pt x="0" y="0"/>
                  </a:moveTo>
                  <a:lnTo>
                    <a:pt x="0" y="85"/>
                  </a:lnTo>
                  <a:lnTo>
                    <a:pt x="28" y="85"/>
                  </a:lnTo>
                  <a:lnTo>
                    <a:pt x="28" y="35"/>
                  </a:lnTo>
                  <a:lnTo>
                    <a:pt x="35" y="35"/>
                  </a:lnTo>
                  <a:lnTo>
                    <a:pt x="35" y="85"/>
                  </a:lnTo>
                  <a:lnTo>
                    <a:pt x="42" y="85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8656773" y="4230271"/>
            <a:ext cx="20091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贷款金额</a:t>
            </a:r>
            <a:r>
              <a:rPr lang="en-US" altLang="zh-CN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元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556996" y="3921966"/>
            <a:ext cx="907554" cy="907554"/>
            <a:chOff x="8088227" y="3627253"/>
            <a:chExt cx="1305336" cy="1305336"/>
          </a:xfrm>
        </p:grpSpPr>
        <p:sp>
          <p:nvSpPr>
            <p:cNvPr id="11" name="椭圆 10"/>
            <p:cNvSpPr/>
            <p:nvPr/>
          </p:nvSpPr>
          <p:spPr>
            <a:xfrm>
              <a:off x="8088227" y="3627253"/>
              <a:ext cx="1305336" cy="1305336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254769" y="3793796"/>
              <a:ext cx="972250" cy="972250"/>
            </a:xfrm>
            <a:prstGeom prst="ellipse">
              <a:avLst/>
            </a:prstGeom>
            <a:gradFill>
              <a:gsLst>
                <a:gs pos="0">
                  <a:srgbClr val="57D3FF"/>
                </a:gs>
                <a:gs pos="100000">
                  <a:srgbClr val="5D63FE"/>
                </a:gs>
                <a:gs pos="64000">
                  <a:srgbClr val="44ADF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 useBgFill="1">
          <p:nvSpPr>
            <p:cNvPr id="13" name="弦形 12"/>
            <p:cNvSpPr/>
            <p:nvPr/>
          </p:nvSpPr>
          <p:spPr>
            <a:xfrm rot="10800000">
              <a:off x="8232132" y="3784283"/>
              <a:ext cx="1017524" cy="1017528"/>
            </a:xfrm>
            <a:prstGeom prst="chord">
              <a:avLst>
                <a:gd name="adj1" fmla="val 2210734"/>
                <a:gd name="adj2" fmla="val 86119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" name="KSO_Shape"/>
          <p:cNvSpPr>
            <a:spLocks/>
          </p:cNvSpPr>
          <p:nvPr/>
        </p:nvSpPr>
        <p:spPr bwMode="auto">
          <a:xfrm>
            <a:off x="7873739" y="4310413"/>
            <a:ext cx="282287" cy="261585"/>
          </a:xfrm>
          <a:custGeom>
            <a:avLst/>
            <a:gdLst>
              <a:gd name="T0" fmla="*/ 2147483646 w 5982"/>
              <a:gd name="T1" fmla="*/ 0 h 5544"/>
              <a:gd name="T2" fmla="*/ 2147483646 w 5982"/>
              <a:gd name="T3" fmla="*/ 2147483646 h 5544"/>
              <a:gd name="T4" fmla="*/ 2147483646 w 5982"/>
              <a:gd name="T5" fmla="*/ 2147483646 h 5544"/>
              <a:gd name="T6" fmla="*/ 2147483646 w 5982"/>
              <a:gd name="T7" fmla="*/ 2147483646 h 5544"/>
              <a:gd name="T8" fmla="*/ 2147483646 w 5982"/>
              <a:gd name="T9" fmla="*/ 2147483646 h 5544"/>
              <a:gd name="T10" fmla="*/ 1840863726 w 5982"/>
              <a:gd name="T11" fmla="*/ 2147483646 h 5544"/>
              <a:gd name="T12" fmla="*/ 904306876 w 5982"/>
              <a:gd name="T13" fmla="*/ 2147483646 h 5544"/>
              <a:gd name="T14" fmla="*/ 290651983 w 5982"/>
              <a:gd name="T15" fmla="*/ 2147483646 h 5544"/>
              <a:gd name="T16" fmla="*/ 0 w 5982"/>
              <a:gd name="T17" fmla="*/ 2147483646 h 5544"/>
              <a:gd name="T18" fmla="*/ 2147483646 w 5982"/>
              <a:gd name="T19" fmla="*/ 2147483646 h 5544"/>
              <a:gd name="T20" fmla="*/ 2147483646 w 5982"/>
              <a:gd name="T21" fmla="*/ 2147483646 h 5544"/>
              <a:gd name="T22" fmla="*/ 2147483646 w 5982"/>
              <a:gd name="T23" fmla="*/ 2147483646 h 5544"/>
              <a:gd name="T24" fmla="*/ 2147483646 w 5982"/>
              <a:gd name="T25" fmla="*/ 2147483646 h 5544"/>
              <a:gd name="T26" fmla="*/ 2147483646 w 5982"/>
              <a:gd name="T27" fmla="*/ 2147483646 h 5544"/>
              <a:gd name="T28" fmla="*/ 2147483646 w 5982"/>
              <a:gd name="T29" fmla="*/ 2147483646 h 5544"/>
              <a:gd name="T30" fmla="*/ 2147483646 w 5982"/>
              <a:gd name="T31" fmla="*/ 2147483646 h 5544"/>
              <a:gd name="T32" fmla="*/ 2147483646 w 5982"/>
              <a:gd name="T33" fmla="*/ 2147483646 h 5544"/>
              <a:gd name="T34" fmla="*/ 2147483646 w 5982"/>
              <a:gd name="T35" fmla="*/ 2147483646 h 5544"/>
              <a:gd name="T36" fmla="*/ 2147483646 w 5982"/>
              <a:gd name="T37" fmla="*/ 2147483646 h 5544"/>
              <a:gd name="T38" fmla="*/ 2147483646 w 5982"/>
              <a:gd name="T39" fmla="*/ 2147483646 h 5544"/>
              <a:gd name="T40" fmla="*/ 2147483646 w 5982"/>
              <a:gd name="T41" fmla="*/ 2147483646 h 5544"/>
              <a:gd name="T42" fmla="*/ 2147483646 w 5982"/>
              <a:gd name="T43" fmla="*/ 2147483646 h 5544"/>
              <a:gd name="T44" fmla="*/ 2147483646 w 5982"/>
              <a:gd name="T45" fmla="*/ 2147483646 h 5544"/>
              <a:gd name="T46" fmla="*/ 2147483646 w 5982"/>
              <a:gd name="T47" fmla="*/ 2147483646 h 5544"/>
              <a:gd name="T48" fmla="*/ 2147483646 w 5982"/>
              <a:gd name="T49" fmla="*/ 2147483646 h 5544"/>
              <a:gd name="T50" fmla="*/ 2147483646 w 5982"/>
              <a:gd name="T51" fmla="*/ 2147483646 h 5544"/>
              <a:gd name="T52" fmla="*/ 2147483646 w 5982"/>
              <a:gd name="T53" fmla="*/ 2147483646 h 5544"/>
              <a:gd name="T54" fmla="*/ 2147483646 w 5982"/>
              <a:gd name="T55" fmla="*/ 2147483646 h 5544"/>
              <a:gd name="T56" fmla="*/ 2147483646 w 5982"/>
              <a:gd name="T57" fmla="*/ 2147483646 h 5544"/>
              <a:gd name="T58" fmla="*/ 2147483646 w 5982"/>
              <a:gd name="T59" fmla="*/ 2147483646 h 5544"/>
              <a:gd name="T60" fmla="*/ 2147483646 w 5982"/>
              <a:gd name="T61" fmla="*/ 2147483646 h 5544"/>
              <a:gd name="T62" fmla="*/ 2147483646 w 5982"/>
              <a:gd name="T63" fmla="*/ 2147483646 h 5544"/>
              <a:gd name="T64" fmla="*/ 2147483646 w 5982"/>
              <a:gd name="T65" fmla="*/ 2147483646 h 5544"/>
              <a:gd name="T66" fmla="*/ 2147483646 w 5982"/>
              <a:gd name="T67" fmla="*/ 2147483646 h 5544"/>
              <a:gd name="T68" fmla="*/ 2147483646 w 5982"/>
              <a:gd name="T69" fmla="*/ 2147483646 h 5544"/>
              <a:gd name="T70" fmla="*/ 2147483646 w 5982"/>
              <a:gd name="T71" fmla="*/ 2147483646 h 5544"/>
              <a:gd name="T72" fmla="*/ 2147483646 w 5982"/>
              <a:gd name="T73" fmla="*/ 2147483646 h 5544"/>
              <a:gd name="T74" fmla="*/ 2147483646 w 5982"/>
              <a:gd name="T75" fmla="*/ 2147483646 h 5544"/>
              <a:gd name="T76" fmla="*/ 2147483646 w 5982"/>
              <a:gd name="T77" fmla="*/ 2147483646 h 5544"/>
              <a:gd name="T78" fmla="*/ 2147483646 w 5982"/>
              <a:gd name="T79" fmla="*/ 2147483646 h 5544"/>
              <a:gd name="T80" fmla="*/ 2147483646 w 5982"/>
              <a:gd name="T81" fmla="*/ 2147483646 h 5544"/>
              <a:gd name="T82" fmla="*/ 2147483646 w 5982"/>
              <a:gd name="T83" fmla="*/ 2147483646 h 5544"/>
              <a:gd name="T84" fmla="*/ 2147483646 w 5982"/>
              <a:gd name="T85" fmla="*/ 2147483646 h 5544"/>
              <a:gd name="T86" fmla="*/ 2147483646 w 5982"/>
              <a:gd name="T87" fmla="*/ 2147483646 h 5544"/>
              <a:gd name="T88" fmla="*/ 2147483646 w 5982"/>
              <a:gd name="T89" fmla="*/ 2147483646 h 5544"/>
              <a:gd name="T90" fmla="*/ 2147483646 w 5982"/>
              <a:gd name="T91" fmla="*/ 2147483646 h 5544"/>
              <a:gd name="T92" fmla="*/ 2147483646 w 5982"/>
              <a:gd name="T93" fmla="*/ 2147483646 h 5544"/>
              <a:gd name="T94" fmla="*/ 2147483646 w 5982"/>
              <a:gd name="T95" fmla="*/ 2147483646 h 5544"/>
              <a:gd name="T96" fmla="*/ 2147483646 w 5982"/>
              <a:gd name="T97" fmla="*/ 2147483646 h 5544"/>
              <a:gd name="T98" fmla="*/ 2147483646 w 5982"/>
              <a:gd name="T99" fmla="*/ 2147483646 h 5544"/>
              <a:gd name="T100" fmla="*/ 2147483646 w 5982"/>
              <a:gd name="T101" fmla="*/ 2147483646 h 5544"/>
              <a:gd name="T102" fmla="*/ 2147483646 w 5982"/>
              <a:gd name="T103" fmla="*/ 2147483646 h 5544"/>
              <a:gd name="T104" fmla="*/ 2147483646 w 5982"/>
              <a:gd name="T105" fmla="*/ 2147483646 h 5544"/>
              <a:gd name="T106" fmla="*/ 2147483646 w 5982"/>
              <a:gd name="T107" fmla="*/ 2147483646 h 5544"/>
              <a:gd name="T108" fmla="*/ 2147483646 w 5982"/>
              <a:gd name="T109" fmla="*/ 2147483646 h 5544"/>
              <a:gd name="T110" fmla="*/ 2147483646 w 5982"/>
              <a:gd name="T111" fmla="*/ 2147483646 h 5544"/>
              <a:gd name="T112" fmla="*/ 2147483646 w 5982"/>
              <a:gd name="T113" fmla="*/ 2147483646 h 5544"/>
              <a:gd name="T114" fmla="*/ 2147483646 w 5982"/>
              <a:gd name="T115" fmla="*/ 2147483646 h 5544"/>
              <a:gd name="T116" fmla="*/ 2147483646 w 5982"/>
              <a:gd name="T117" fmla="*/ 2147483646 h 5544"/>
              <a:gd name="T118" fmla="*/ 2147483646 w 5982"/>
              <a:gd name="T119" fmla="*/ 2147483646 h 5544"/>
              <a:gd name="T120" fmla="*/ 2147483646 w 5982"/>
              <a:gd name="T121" fmla="*/ 2147483646 h 5544"/>
              <a:gd name="T122" fmla="*/ 2147483646 w 5982"/>
              <a:gd name="T123" fmla="*/ 2147483646 h 5544"/>
              <a:gd name="T124" fmla="*/ 2147483646 w 5982"/>
              <a:gd name="T125" fmla="*/ 2147483646 h 5544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5982" h="5544">
                <a:moveTo>
                  <a:pt x="5691" y="1008"/>
                </a:moveTo>
                <a:lnTo>
                  <a:pt x="4765" y="1008"/>
                </a:lnTo>
                <a:lnTo>
                  <a:pt x="4765" y="0"/>
                </a:lnTo>
                <a:lnTo>
                  <a:pt x="1217" y="0"/>
                </a:lnTo>
                <a:lnTo>
                  <a:pt x="1217" y="1008"/>
                </a:lnTo>
                <a:lnTo>
                  <a:pt x="291" y="1008"/>
                </a:lnTo>
                <a:lnTo>
                  <a:pt x="275" y="1008"/>
                </a:lnTo>
                <a:lnTo>
                  <a:pt x="261" y="1009"/>
                </a:lnTo>
                <a:lnTo>
                  <a:pt x="246" y="1012"/>
                </a:lnTo>
                <a:lnTo>
                  <a:pt x="232" y="1014"/>
                </a:lnTo>
                <a:lnTo>
                  <a:pt x="217" y="1017"/>
                </a:lnTo>
                <a:lnTo>
                  <a:pt x="204" y="1021"/>
                </a:lnTo>
                <a:lnTo>
                  <a:pt x="190" y="1026"/>
                </a:lnTo>
                <a:lnTo>
                  <a:pt x="177" y="1031"/>
                </a:lnTo>
                <a:lnTo>
                  <a:pt x="164" y="1037"/>
                </a:lnTo>
                <a:lnTo>
                  <a:pt x="151" y="1043"/>
                </a:lnTo>
                <a:lnTo>
                  <a:pt x="139" y="1051"/>
                </a:lnTo>
                <a:lnTo>
                  <a:pt x="128" y="1057"/>
                </a:lnTo>
                <a:lnTo>
                  <a:pt x="116" y="1066"/>
                </a:lnTo>
                <a:lnTo>
                  <a:pt x="106" y="1074"/>
                </a:lnTo>
                <a:lnTo>
                  <a:pt x="84" y="1093"/>
                </a:lnTo>
                <a:lnTo>
                  <a:pt x="65" y="1114"/>
                </a:lnTo>
                <a:lnTo>
                  <a:pt x="57" y="1125"/>
                </a:lnTo>
                <a:lnTo>
                  <a:pt x="49" y="1137"/>
                </a:lnTo>
                <a:lnTo>
                  <a:pt x="41" y="1148"/>
                </a:lnTo>
                <a:lnTo>
                  <a:pt x="34" y="1160"/>
                </a:lnTo>
                <a:lnTo>
                  <a:pt x="28" y="1173"/>
                </a:lnTo>
                <a:lnTo>
                  <a:pt x="22" y="1186"/>
                </a:lnTo>
                <a:lnTo>
                  <a:pt x="16" y="1199"/>
                </a:lnTo>
                <a:lnTo>
                  <a:pt x="12" y="1212"/>
                </a:lnTo>
                <a:lnTo>
                  <a:pt x="9" y="1227"/>
                </a:lnTo>
                <a:lnTo>
                  <a:pt x="5" y="1240"/>
                </a:lnTo>
                <a:lnTo>
                  <a:pt x="3" y="1255"/>
                </a:lnTo>
                <a:lnTo>
                  <a:pt x="1" y="1269"/>
                </a:lnTo>
                <a:lnTo>
                  <a:pt x="0" y="1284"/>
                </a:lnTo>
                <a:lnTo>
                  <a:pt x="0" y="1299"/>
                </a:lnTo>
                <a:lnTo>
                  <a:pt x="0" y="3772"/>
                </a:lnTo>
                <a:lnTo>
                  <a:pt x="1217" y="3772"/>
                </a:lnTo>
                <a:lnTo>
                  <a:pt x="1217" y="4194"/>
                </a:lnTo>
                <a:lnTo>
                  <a:pt x="2567" y="5544"/>
                </a:lnTo>
                <a:lnTo>
                  <a:pt x="4765" y="5544"/>
                </a:lnTo>
                <a:lnTo>
                  <a:pt x="4765" y="3787"/>
                </a:lnTo>
                <a:lnTo>
                  <a:pt x="5982" y="3787"/>
                </a:lnTo>
                <a:lnTo>
                  <a:pt x="5982" y="1299"/>
                </a:lnTo>
                <a:lnTo>
                  <a:pt x="5982" y="1284"/>
                </a:lnTo>
                <a:lnTo>
                  <a:pt x="5981" y="1269"/>
                </a:lnTo>
                <a:lnTo>
                  <a:pt x="5979" y="1255"/>
                </a:lnTo>
                <a:lnTo>
                  <a:pt x="5976" y="1240"/>
                </a:lnTo>
                <a:lnTo>
                  <a:pt x="5973" y="1227"/>
                </a:lnTo>
                <a:lnTo>
                  <a:pt x="5969" y="1212"/>
                </a:lnTo>
                <a:lnTo>
                  <a:pt x="5964" y="1199"/>
                </a:lnTo>
                <a:lnTo>
                  <a:pt x="5959" y="1186"/>
                </a:lnTo>
                <a:lnTo>
                  <a:pt x="5953" y="1173"/>
                </a:lnTo>
                <a:lnTo>
                  <a:pt x="5946" y="1160"/>
                </a:lnTo>
                <a:lnTo>
                  <a:pt x="5940" y="1148"/>
                </a:lnTo>
                <a:lnTo>
                  <a:pt x="5932" y="1137"/>
                </a:lnTo>
                <a:lnTo>
                  <a:pt x="5924" y="1125"/>
                </a:lnTo>
                <a:lnTo>
                  <a:pt x="5915" y="1114"/>
                </a:lnTo>
                <a:lnTo>
                  <a:pt x="5896" y="1093"/>
                </a:lnTo>
                <a:lnTo>
                  <a:pt x="5876" y="1074"/>
                </a:lnTo>
                <a:lnTo>
                  <a:pt x="5865" y="1066"/>
                </a:lnTo>
                <a:lnTo>
                  <a:pt x="5854" y="1057"/>
                </a:lnTo>
                <a:lnTo>
                  <a:pt x="5841" y="1051"/>
                </a:lnTo>
                <a:lnTo>
                  <a:pt x="5829" y="1043"/>
                </a:lnTo>
                <a:lnTo>
                  <a:pt x="5817" y="1037"/>
                </a:lnTo>
                <a:lnTo>
                  <a:pt x="5804" y="1031"/>
                </a:lnTo>
                <a:lnTo>
                  <a:pt x="5791" y="1026"/>
                </a:lnTo>
                <a:lnTo>
                  <a:pt x="5777" y="1021"/>
                </a:lnTo>
                <a:lnTo>
                  <a:pt x="5763" y="1017"/>
                </a:lnTo>
                <a:lnTo>
                  <a:pt x="5749" y="1014"/>
                </a:lnTo>
                <a:lnTo>
                  <a:pt x="5735" y="1012"/>
                </a:lnTo>
                <a:lnTo>
                  <a:pt x="5720" y="1009"/>
                </a:lnTo>
                <a:lnTo>
                  <a:pt x="5705" y="1008"/>
                </a:lnTo>
                <a:lnTo>
                  <a:pt x="5691" y="1008"/>
                </a:lnTo>
                <a:close/>
                <a:moveTo>
                  <a:pt x="1559" y="342"/>
                </a:moveTo>
                <a:lnTo>
                  <a:pt x="4423" y="342"/>
                </a:lnTo>
                <a:lnTo>
                  <a:pt x="4423" y="1008"/>
                </a:lnTo>
                <a:lnTo>
                  <a:pt x="1559" y="1008"/>
                </a:lnTo>
                <a:lnTo>
                  <a:pt x="1559" y="342"/>
                </a:lnTo>
                <a:close/>
                <a:moveTo>
                  <a:pt x="5104" y="3310"/>
                </a:moveTo>
                <a:lnTo>
                  <a:pt x="4765" y="3310"/>
                </a:lnTo>
                <a:lnTo>
                  <a:pt x="4765" y="2632"/>
                </a:lnTo>
                <a:lnTo>
                  <a:pt x="4423" y="2632"/>
                </a:lnTo>
                <a:lnTo>
                  <a:pt x="4423" y="5202"/>
                </a:lnTo>
                <a:lnTo>
                  <a:pt x="3016" y="5202"/>
                </a:lnTo>
                <a:lnTo>
                  <a:pt x="2992" y="5201"/>
                </a:lnTo>
                <a:lnTo>
                  <a:pt x="2970" y="5198"/>
                </a:lnTo>
                <a:lnTo>
                  <a:pt x="2949" y="5194"/>
                </a:lnTo>
                <a:lnTo>
                  <a:pt x="2929" y="5188"/>
                </a:lnTo>
                <a:lnTo>
                  <a:pt x="2910" y="5181"/>
                </a:lnTo>
                <a:lnTo>
                  <a:pt x="2892" y="5172"/>
                </a:lnTo>
                <a:lnTo>
                  <a:pt x="2874" y="5162"/>
                </a:lnTo>
                <a:lnTo>
                  <a:pt x="2859" y="5150"/>
                </a:lnTo>
                <a:lnTo>
                  <a:pt x="2843" y="5136"/>
                </a:lnTo>
                <a:lnTo>
                  <a:pt x="2829" y="5123"/>
                </a:lnTo>
                <a:lnTo>
                  <a:pt x="2815" y="5107"/>
                </a:lnTo>
                <a:lnTo>
                  <a:pt x="2803" y="5090"/>
                </a:lnTo>
                <a:lnTo>
                  <a:pt x="2791" y="5073"/>
                </a:lnTo>
                <a:lnTo>
                  <a:pt x="2779" y="5054"/>
                </a:lnTo>
                <a:lnTo>
                  <a:pt x="2769" y="5034"/>
                </a:lnTo>
                <a:lnTo>
                  <a:pt x="2759" y="5012"/>
                </a:lnTo>
                <a:lnTo>
                  <a:pt x="2752" y="4991"/>
                </a:lnTo>
                <a:lnTo>
                  <a:pt x="2743" y="4969"/>
                </a:lnTo>
                <a:lnTo>
                  <a:pt x="2736" y="4945"/>
                </a:lnTo>
                <a:lnTo>
                  <a:pt x="2729" y="4922"/>
                </a:lnTo>
                <a:lnTo>
                  <a:pt x="2723" y="4896"/>
                </a:lnTo>
                <a:lnTo>
                  <a:pt x="2718" y="4872"/>
                </a:lnTo>
                <a:lnTo>
                  <a:pt x="2709" y="4819"/>
                </a:lnTo>
                <a:lnTo>
                  <a:pt x="2701" y="4766"/>
                </a:lnTo>
                <a:lnTo>
                  <a:pt x="2697" y="4710"/>
                </a:lnTo>
                <a:lnTo>
                  <a:pt x="2695" y="4654"/>
                </a:lnTo>
                <a:lnTo>
                  <a:pt x="2694" y="4598"/>
                </a:lnTo>
                <a:lnTo>
                  <a:pt x="2694" y="4542"/>
                </a:lnTo>
                <a:lnTo>
                  <a:pt x="2695" y="4485"/>
                </a:lnTo>
                <a:lnTo>
                  <a:pt x="2698" y="4430"/>
                </a:lnTo>
                <a:lnTo>
                  <a:pt x="2701" y="4377"/>
                </a:lnTo>
                <a:lnTo>
                  <a:pt x="2706" y="4324"/>
                </a:lnTo>
                <a:lnTo>
                  <a:pt x="2710" y="4274"/>
                </a:lnTo>
                <a:lnTo>
                  <a:pt x="2721" y="4183"/>
                </a:lnTo>
                <a:lnTo>
                  <a:pt x="2733" y="4106"/>
                </a:lnTo>
                <a:lnTo>
                  <a:pt x="2743" y="4047"/>
                </a:lnTo>
                <a:lnTo>
                  <a:pt x="2752" y="3994"/>
                </a:lnTo>
                <a:lnTo>
                  <a:pt x="2701" y="4005"/>
                </a:lnTo>
                <a:lnTo>
                  <a:pt x="2643" y="4018"/>
                </a:lnTo>
                <a:lnTo>
                  <a:pt x="2567" y="4031"/>
                </a:lnTo>
                <a:lnTo>
                  <a:pt x="2478" y="4044"/>
                </a:lnTo>
                <a:lnTo>
                  <a:pt x="2429" y="4051"/>
                </a:lnTo>
                <a:lnTo>
                  <a:pt x="2379" y="4057"/>
                </a:lnTo>
                <a:lnTo>
                  <a:pt x="2325" y="4061"/>
                </a:lnTo>
                <a:lnTo>
                  <a:pt x="2272" y="4065"/>
                </a:lnTo>
                <a:lnTo>
                  <a:pt x="2217" y="4069"/>
                </a:lnTo>
                <a:lnTo>
                  <a:pt x="2161" y="4070"/>
                </a:lnTo>
                <a:lnTo>
                  <a:pt x="2106" y="4070"/>
                </a:lnTo>
                <a:lnTo>
                  <a:pt x="2051" y="4068"/>
                </a:lnTo>
                <a:lnTo>
                  <a:pt x="1996" y="4064"/>
                </a:lnTo>
                <a:lnTo>
                  <a:pt x="1943" y="4058"/>
                </a:lnTo>
                <a:lnTo>
                  <a:pt x="1917" y="4054"/>
                </a:lnTo>
                <a:lnTo>
                  <a:pt x="1891" y="4050"/>
                </a:lnTo>
                <a:lnTo>
                  <a:pt x="1867" y="4044"/>
                </a:lnTo>
                <a:lnTo>
                  <a:pt x="1842" y="4039"/>
                </a:lnTo>
                <a:lnTo>
                  <a:pt x="1819" y="4032"/>
                </a:lnTo>
                <a:lnTo>
                  <a:pt x="1796" y="4025"/>
                </a:lnTo>
                <a:lnTo>
                  <a:pt x="1773" y="4016"/>
                </a:lnTo>
                <a:lnTo>
                  <a:pt x="1752" y="4007"/>
                </a:lnTo>
                <a:lnTo>
                  <a:pt x="1731" y="3999"/>
                </a:lnTo>
                <a:lnTo>
                  <a:pt x="1712" y="3987"/>
                </a:lnTo>
                <a:lnTo>
                  <a:pt x="1693" y="3976"/>
                </a:lnTo>
                <a:lnTo>
                  <a:pt x="1675" y="3964"/>
                </a:lnTo>
                <a:lnTo>
                  <a:pt x="1658" y="3952"/>
                </a:lnTo>
                <a:lnTo>
                  <a:pt x="1643" y="3937"/>
                </a:lnTo>
                <a:lnTo>
                  <a:pt x="1628" y="3923"/>
                </a:lnTo>
                <a:lnTo>
                  <a:pt x="1615" y="3906"/>
                </a:lnTo>
                <a:lnTo>
                  <a:pt x="1603" y="3889"/>
                </a:lnTo>
                <a:lnTo>
                  <a:pt x="1593" y="3871"/>
                </a:lnTo>
                <a:lnTo>
                  <a:pt x="1583" y="3852"/>
                </a:lnTo>
                <a:lnTo>
                  <a:pt x="1575" y="3832"/>
                </a:lnTo>
                <a:lnTo>
                  <a:pt x="1569" y="3811"/>
                </a:lnTo>
                <a:lnTo>
                  <a:pt x="1564" y="3789"/>
                </a:lnTo>
                <a:lnTo>
                  <a:pt x="1561" y="3765"/>
                </a:lnTo>
                <a:lnTo>
                  <a:pt x="1559" y="3741"/>
                </a:lnTo>
                <a:lnTo>
                  <a:pt x="1559" y="2632"/>
                </a:lnTo>
                <a:lnTo>
                  <a:pt x="1217" y="2632"/>
                </a:lnTo>
                <a:lnTo>
                  <a:pt x="1217" y="3296"/>
                </a:lnTo>
                <a:lnTo>
                  <a:pt x="876" y="3296"/>
                </a:lnTo>
                <a:lnTo>
                  <a:pt x="876" y="2141"/>
                </a:lnTo>
                <a:lnTo>
                  <a:pt x="5104" y="2141"/>
                </a:lnTo>
                <a:lnTo>
                  <a:pt x="5104" y="3310"/>
                </a:lnTo>
                <a:close/>
                <a:moveTo>
                  <a:pt x="5350" y="1722"/>
                </a:moveTo>
                <a:lnTo>
                  <a:pt x="5350" y="1722"/>
                </a:lnTo>
                <a:lnTo>
                  <a:pt x="5325" y="1721"/>
                </a:lnTo>
                <a:lnTo>
                  <a:pt x="5303" y="1718"/>
                </a:lnTo>
                <a:lnTo>
                  <a:pt x="5280" y="1712"/>
                </a:lnTo>
                <a:lnTo>
                  <a:pt x="5258" y="1704"/>
                </a:lnTo>
                <a:lnTo>
                  <a:pt x="5238" y="1694"/>
                </a:lnTo>
                <a:lnTo>
                  <a:pt x="5219" y="1682"/>
                </a:lnTo>
                <a:lnTo>
                  <a:pt x="5201" y="1669"/>
                </a:lnTo>
                <a:lnTo>
                  <a:pt x="5184" y="1654"/>
                </a:lnTo>
                <a:lnTo>
                  <a:pt x="5169" y="1637"/>
                </a:lnTo>
                <a:lnTo>
                  <a:pt x="5155" y="1619"/>
                </a:lnTo>
                <a:lnTo>
                  <a:pt x="5144" y="1601"/>
                </a:lnTo>
                <a:lnTo>
                  <a:pt x="5134" y="1579"/>
                </a:lnTo>
                <a:lnTo>
                  <a:pt x="5126" y="1558"/>
                </a:lnTo>
                <a:lnTo>
                  <a:pt x="5121" y="1536"/>
                </a:lnTo>
                <a:lnTo>
                  <a:pt x="5117" y="1512"/>
                </a:lnTo>
                <a:lnTo>
                  <a:pt x="5116" y="1489"/>
                </a:lnTo>
                <a:lnTo>
                  <a:pt x="5117" y="1466"/>
                </a:lnTo>
                <a:lnTo>
                  <a:pt x="5121" y="1442"/>
                </a:lnTo>
                <a:lnTo>
                  <a:pt x="5126" y="1420"/>
                </a:lnTo>
                <a:lnTo>
                  <a:pt x="5134" y="1399"/>
                </a:lnTo>
                <a:lnTo>
                  <a:pt x="5144" y="1379"/>
                </a:lnTo>
                <a:lnTo>
                  <a:pt x="5155" y="1359"/>
                </a:lnTo>
                <a:lnTo>
                  <a:pt x="5169" y="1341"/>
                </a:lnTo>
                <a:lnTo>
                  <a:pt x="5184" y="1324"/>
                </a:lnTo>
                <a:lnTo>
                  <a:pt x="5201" y="1309"/>
                </a:lnTo>
                <a:lnTo>
                  <a:pt x="5219" y="1296"/>
                </a:lnTo>
                <a:lnTo>
                  <a:pt x="5238" y="1284"/>
                </a:lnTo>
                <a:lnTo>
                  <a:pt x="5258" y="1275"/>
                </a:lnTo>
                <a:lnTo>
                  <a:pt x="5280" y="1267"/>
                </a:lnTo>
                <a:lnTo>
                  <a:pt x="5303" y="1261"/>
                </a:lnTo>
                <a:lnTo>
                  <a:pt x="5325" y="1257"/>
                </a:lnTo>
                <a:lnTo>
                  <a:pt x="5350" y="1256"/>
                </a:lnTo>
                <a:lnTo>
                  <a:pt x="5373" y="1257"/>
                </a:lnTo>
                <a:lnTo>
                  <a:pt x="5396" y="1261"/>
                </a:lnTo>
                <a:lnTo>
                  <a:pt x="5419" y="1267"/>
                </a:lnTo>
                <a:lnTo>
                  <a:pt x="5440" y="1275"/>
                </a:lnTo>
                <a:lnTo>
                  <a:pt x="5460" y="1284"/>
                </a:lnTo>
                <a:lnTo>
                  <a:pt x="5479" y="1296"/>
                </a:lnTo>
                <a:lnTo>
                  <a:pt x="5497" y="1309"/>
                </a:lnTo>
                <a:lnTo>
                  <a:pt x="5513" y="1324"/>
                </a:lnTo>
                <a:lnTo>
                  <a:pt x="5529" y="1341"/>
                </a:lnTo>
                <a:lnTo>
                  <a:pt x="5542" y="1359"/>
                </a:lnTo>
                <a:lnTo>
                  <a:pt x="5554" y="1379"/>
                </a:lnTo>
                <a:lnTo>
                  <a:pt x="5564" y="1399"/>
                </a:lnTo>
                <a:lnTo>
                  <a:pt x="5571" y="1420"/>
                </a:lnTo>
                <a:lnTo>
                  <a:pt x="5577" y="1442"/>
                </a:lnTo>
                <a:lnTo>
                  <a:pt x="5580" y="1466"/>
                </a:lnTo>
                <a:lnTo>
                  <a:pt x="5582" y="1489"/>
                </a:lnTo>
                <a:lnTo>
                  <a:pt x="5580" y="1512"/>
                </a:lnTo>
                <a:lnTo>
                  <a:pt x="5577" y="1536"/>
                </a:lnTo>
                <a:lnTo>
                  <a:pt x="5571" y="1558"/>
                </a:lnTo>
                <a:lnTo>
                  <a:pt x="5564" y="1579"/>
                </a:lnTo>
                <a:lnTo>
                  <a:pt x="5554" y="1601"/>
                </a:lnTo>
                <a:lnTo>
                  <a:pt x="5542" y="1619"/>
                </a:lnTo>
                <a:lnTo>
                  <a:pt x="5529" y="1637"/>
                </a:lnTo>
                <a:lnTo>
                  <a:pt x="5513" y="1654"/>
                </a:lnTo>
                <a:lnTo>
                  <a:pt x="5497" y="1669"/>
                </a:lnTo>
                <a:lnTo>
                  <a:pt x="5479" y="1682"/>
                </a:lnTo>
                <a:lnTo>
                  <a:pt x="5460" y="1694"/>
                </a:lnTo>
                <a:lnTo>
                  <a:pt x="5440" y="1704"/>
                </a:lnTo>
                <a:lnTo>
                  <a:pt x="5419" y="1712"/>
                </a:lnTo>
                <a:lnTo>
                  <a:pt x="5396" y="1718"/>
                </a:lnTo>
                <a:lnTo>
                  <a:pt x="5373" y="1721"/>
                </a:lnTo>
                <a:lnTo>
                  <a:pt x="5350" y="1722"/>
                </a:lnTo>
                <a:close/>
                <a:moveTo>
                  <a:pt x="4016" y="2679"/>
                </a:moveTo>
                <a:lnTo>
                  <a:pt x="2045" y="2679"/>
                </a:lnTo>
                <a:lnTo>
                  <a:pt x="2045" y="3023"/>
                </a:lnTo>
                <a:lnTo>
                  <a:pt x="4016" y="3023"/>
                </a:lnTo>
                <a:lnTo>
                  <a:pt x="4016" y="2679"/>
                </a:lnTo>
                <a:close/>
                <a:moveTo>
                  <a:pt x="2045" y="3695"/>
                </a:moveTo>
                <a:lnTo>
                  <a:pt x="4016" y="3695"/>
                </a:lnTo>
                <a:lnTo>
                  <a:pt x="4016" y="3352"/>
                </a:lnTo>
                <a:lnTo>
                  <a:pt x="2045" y="3352"/>
                </a:lnTo>
                <a:lnTo>
                  <a:pt x="2045" y="36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556996" y="5216285"/>
            <a:ext cx="907554" cy="907554"/>
            <a:chOff x="8063098" y="5023697"/>
            <a:chExt cx="1305336" cy="1305336"/>
          </a:xfrm>
        </p:grpSpPr>
        <p:grpSp>
          <p:nvGrpSpPr>
            <p:cNvPr id="4" name="组合 3"/>
            <p:cNvGrpSpPr/>
            <p:nvPr/>
          </p:nvGrpSpPr>
          <p:grpSpPr>
            <a:xfrm>
              <a:off x="8063098" y="5023697"/>
              <a:ext cx="1305336" cy="1305336"/>
              <a:chOff x="3909333" y="2043501"/>
              <a:chExt cx="2020498" cy="2020498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3909333" y="2043501"/>
                <a:ext cx="2020498" cy="20204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4167119" y="2301289"/>
                <a:ext cx="1504922" cy="1504922"/>
              </a:xfrm>
              <a:prstGeom prst="ellipse">
                <a:avLst/>
              </a:prstGeom>
              <a:gradFill>
                <a:gsLst>
                  <a:gs pos="0">
                    <a:srgbClr val="73E14F"/>
                  </a:gs>
                  <a:gs pos="100000">
                    <a:srgbClr val="0FA51E"/>
                  </a:gs>
                  <a:gs pos="64000">
                    <a:srgbClr val="41C52D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 useBgFill="1">
          <p:nvSpPr>
            <p:cNvPr id="5" name="弦形 4"/>
            <p:cNvSpPr/>
            <p:nvPr/>
          </p:nvSpPr>
          <p:spPr>
            <a:xfrm rot="10800000">
              <a:off x="8207003" y="5180727"/>
              <a:ext cx="1017524" cy="1017528"/>
            </a:xfrm>
            <a:prstGeom prst="chord">
              <a:avLst>
                <a:gd name="adj1" fmla="val 2210734"/>
                <a:gd name="adj2" fmla="val 861192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2" name="KSO_Shape"/>
          <p:cNvSpPr>
            <a:spLocks/>
          </p:cNvSpPr>
          <p:nvPr/>
        </p:nvSpPr>
        <p:spPr bwMode="auto">
          <a:xfrm>
            <a:off x="7879424" y="5571177"/>
            <a:ext cx="270917" cy="268659"/>
          </a:xfrm>
          <a:custGeom>
            <a:avLst/>
            <a:gdLst>
              <a:gd name="T0" fmla="*/ 0 w 1438275"/>
              <a:gd name="T1" fmla="*/ 2252360 h 1425575"/>
              <a:gd name="T2" fmla="*/ 365180 w 1438275"/>
              <a:gd name="T3" fmla="*/ 2252360 h 1425575"/>
              <a:gd name="T4" fmla="*/ 365180 w 1438275"/>
              <a:gd name="T5" fmla="*/ 2946274 h 1425575"/>
              <a:gd name="T6" fmla="*/ 2979731 w 1438275"/>
              <a:gd name="T7" fmla="*/ 2946274 h 1425575"/>
              <a:gd name="T8" fmla="*/ 2979731 w 1438275"/>
              <a:gd name="T9" fmla="*/ 2252360 h 1425575"/>
              <a:gd name="T10" fmla="*/ 3341959 w 1438275"/>
              <a:gd name="T11" fmla="*/ 2252360 h 1425575"/>
              <a:gd name="T12" fmla="*/ 3341959 w 1438275"/>
              <a:gd name="T13" fmla="*/ 3315771 h 1425575"/>
              <a:gd name="T14" fmla="*/ 0 w 1438275"/>
              <a:gd name="T15" fmla="*/ 3315771 h 1425575"/>
              <a:gd name="T16" fmla="*/ 1209893 w 1438275"/>
              <a:gd name="T17" fmla="*/ 0 h 1425575"/>
              <a:gd name="T18" fmla="*/ 2154199 w 1438275"/>
              <a:gd name="T19" fmla="*/ 0 h 1425575"/>
              <a:gd name="T20" fmla="*/ 2154199 w 1438275"/>
              <a:gd name="T21" fmla="*/ 1183932 h 1425575"/>
              <a:gd name="T22" fmla="*/ 2725946 w 1438275"/>
              <a:gd name="T23" fmla="*/ 1183932 h 1425575"/>
              <a:gd name="T24" fmla="*/ 1682783 w 1438275"/>
              <a:gd name="T25" fmla="*/ 2632679 h 1425575"/>
              <a:gd name="T26" fmla="*/ 1681307 w 1438275"/>
              <a:gd name="T27" fmla="*/ 2632679 h 1425575"/>
              <a:gd name="T28" fmla="*/ 638144 w 1438275"/>
              <a:gd name="T29" fmla="*/ 1183932 h 1425575"/>
              <a:gd name="T30" fmla="*/ 1209893 w 1438275"/>
              <a:gd name="T31" fmla="*/ 1183932 h 14255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438275" h="1425575">
                <a:moveTo>
                  <a:pt x="0" y="968375"/>
                </a:moveTo>
                <a:lnTo>
                  <a:pt x="157162" y="968375"/>
                </a:lnTo>
                <a:lnTo>
                  <a:pt x="157162" y="1266715"/>
                </a:lnTo>
                <a:lnTo>
                  <a:pt x="1282383" y="1266715"/>
                </a:lnTo>
                <a:lnTo>
                  <a:pt x="1282383" y="968375"/>
                </a:lnTo>
                <a:lnTo>
                  <a:pt x="1438275" y="968375"/>
                </a:lnTo>
                <a:lnTo>
                  <a:pt x="1438275" y="1425575"/>
                </a:lnTo>
                <a:lnTo>
                  <a:pt x="0" y="1425575"/>
                </a:lnTo>
                <a:lnTo>
                  <a:pt x="0" y="968375"/>
                </a:lnTo>
                <a:close/>
                <a:moveTo>
                  <a:pt x="520700" y="0"/>
                </a:moveTo>
                <a:lnTo>
                  <a:pt x="927100" y="0"/>
                </a:lnTo>
                <a:lnTo>
                  <a:pt x="927100" y="509017"/>
                </a:lnTo>
                <a:lnTo>
                  <a:pt x="1173162" y="509017"/>
                </a:lnTo>
                <a:lnTo>
                  <a:pt x="724217" y="1131888"/>
                </a:lnTo>
                <a:lnTo>
                  <a:pt x="723582" y="1131888"/>
                </a:lnTo>
                <a:lnTo>
                  <a:pt x="274637" y="509017"/>
                </a:lnTo>
                <a:lnTo>
                  <a:pt x="520700" y="509017"/>
                </a:lnTo>
                <a:lnTo>
                  <a:pt x="5207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42" name="矩形 41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1240103" y="405497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实例分析</a:t>
            </a:r>
          </a:p>
        </p:txBody>
      </p:sp>
    </p:spTree>
    <p:extLst>
      <p:ext uri="{BB962C8B-B14F-4D97-AF65-F5344CB8AC3E}">
        <p14:creationId xmlns:p14="http://schemas.microsoft.com/office/powerpoint/2010/main" val="157136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6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 tmFilter="0,0; .5, 1; 1, 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series"/>
        </p:bldSub>
      </p:bldGraphic>
      <p:bldP spid="29" grpId="0"/>
      <p:bldP spid="35" grpId="0"/>
      <p:bldP spid="41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 rot="19800000">
            <a:off x="991461" y="1698181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椭圆 63"/>
          <p:cNvSpPr/>
          <p:nvPr/>
        </p:nvSpPr>
        <p:spPr>
          <a:xfrm rot="19800000">
            <a:off x="6183158" y="4752001"/>
            <a:ext cx="1346956" cy="1346954"/>
          </a:xfrm>
          <a:prstGeom prst="ellipse">
            <a:avLst/>
          </a:prstGeom>
          <a:noFill/>
          <a:ln w="381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90100" y="1896487"/>
            <a:ext cx="1133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spc="-300" dirty="0">
                <a:solidFill>
                  <a:srgbClr val="ED1E79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反馈</a:t>
            </a:r>
            <a:endParaRPr lang="zh-CN" altLang="en-US" sz="4000" spc="-300" dirty="0">
              <a:solidFill>
                <a:srgbClr val="ED1E79"/>
              </a:solidFill>
            </a:endParaRPr>
          </a:p>
        </p:txBody>
      </p:sp>
      <p:sp>
        <p:nvSpPr>
          <p:cNvPr id="29" name="椭圆 28"/>
          <p:cNvSpPr>
            <a:spLocks noChangeAspect="1"/>
          </p:cNvSpPr>
          <p:nvPr/>
        </p:nvSpPr>
        <p:spPr>
          <a:xfrm>
            <a:off x="910101" y="2160430"/>
            <a:ext cx="180000" cy="180000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441562" y="1451670"/>
            <a:ext cx="2890217" cy="5111968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89813" y="4971185"/>
            <a:ext cx="113364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spc="-300" dirty="0">
                <a:solidFill>
                  <a:srgbClr val="4EC0FF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更多</a:t>
            </a:r>
            <a:endParaRPr lang="zh-CN" altLang="en-US" sz="4000" spc="-300" dirty="0">
              <a:solidFill>
                <a:srgbClr val="4EC0FF"/>
              </a:solidFill>
            </a:endParaRPr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6121937" y="5235128"/>
            <a:ext cx="180000" cy="180000"/>
          </a:xfrm>
          <a:prstGeom prst="ellipse">
            <a:avLst/>
          </a:prstGeom>
          <a:solidFill>
            <a:srgbClr val="4E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970205" y="1451670"/>
            <a:ext cx="3015122" cy="5111967"/>
          </a:xfrm>
          <a:prstGeom prst="roundRect">
            <a:avLst>
              <a:gd name="adj" fmla="val 11874"/>
            </a:avLst>
          </a:prstGeom>
          <a:noFill/>
          <a:ln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39" name="矩形 38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1173909" y="416703"/>
            <a:ext cx="2132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意见反馈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679784E-3CF7-40B2-A2E8-68C41E4B7E53}"/>
              </a:ext>
            </a:extLst>
          </p:cNvPr>
          <p:cNvGrpSpPr/>
          <p:nvPr/>
        </p:nvGrpSpPr>
        <p:grpSpPr>
          <a:xfrm rot="14400000">
            <a:off x="9931866" y="-788440"/>
            <a:ext cx="3130315" cy="3002665"/>
            <a:chOff x="5297230" y="3714929"/>
            <a:chExt cx="3130315" cy="3002665"/>
          </a:xfrm>
        </p:grpSpPr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5E74DFBA-DC71-404B-838F-034B3BAF1285}"/>
                </a:ext>
              </a:extLst>
            </p:cNvPr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11D4F0B7-2F96-4838-978A-EF7A9E145C13}"/>
                </a:ext>
              </a:extLst>
            </p:cNvPr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3B768C76-A5E7-4CFD-B8B6-BD4A39A94552}"/>
                </a:ext>
              </a:extLst>
            </p:cNvPr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911B5AC1-68B4-4889-9178-F950ED327635}"/>
                </a:ext>
              </a:extLst>
            </p:cNvPr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0DC3D74F-88AB-4D73-A346-7FBAFA307413}"/>
                </a:ext>
              </a:extLst>
            </p:cNvPr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>
              <a:extLst>
                <a:ext uri="{FF2B5EF4-FFF2-40B4-BE49-F238E27FC236}">
                  <a16:creationId xmlns:a16="http://schemas.microsoft.com/office/drawing/2014/main" id="{9C2268CF-2A26-43F3-A3E3-89A5BFAA9AFE}"/>
                </a:ext>
              </a:extLst>
            </p:cNvPr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>
              <a:extLst>
                <a:ext uri="{FF2B5EF4-FFF2-40B4-BE49-F238E27FC236}">
                  <a16:creationId xmlns:a16="http://schemas.microsoft.com/office/drawing/2014/main" id="{ED61A8D1-8F88-412B-9D63-D48933FF8FA0}"/>
                </a:ext>
              </a:extLst>
            </p:cNvPr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1C4911A0-DE6B-4869-A00B-57A1C67C1B0C}"/>
                </a:ext>
              </a:extLst>
            </p:cNvPr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3753CB27-3DF0-4942-A6E3-09C9428D873A}"/>
                </a:ext>
              </a:extLst>
            </p:cNvPr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BBD3AD2-29AE-4658-88C1-017A6E081B5F}"/>
              </a:ext>
            </a:extLst>
          </p:cNvPr>
          <p:cNvGrpSpPr/>
          <p:nvPr/>
        </p:nvGrpSpPr>
        <p:grpSpPr>
          <a:xfrm rot="8100000">
            <a:off x="-1404134" y="4471657"/>
            <a:ext cx="2147387" cy="3073761"/>
            <a:chOff x="5352628" y="1549737"/>
            <a:chExt cx="2147387" cy="3073761"/>
          </a:xfrm>
        </p:grpSpPr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D22CC29A-CDC6-4B81-AB77-5030A179877B}"/>
                </a:ext>
              </a:extLst>
            </p:cNvPr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BB55DC5E-5CA7-43BC-BDB5-E2C6840C1608}"/>
                </a:ext>
              </a:extLst>
            </p:cNvPr>
            <p:cNvSpPr/>
            <p:nvPr/>
          </p:nvSpPr>
          <p:spPr>
            <a:xfrm rot="10110591">
              <a:off x="6474098" y="23732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993498DC-2720-4F31-8BE3-38CDF8402F8E}"/>
                </a:ext>
              </a:extLst>
            </p:cNvPr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94C39ECB-F0BE-46AD-B157-C09E5B68592E}"/>
                </a:ext>
              </a:extLst>
            </p:cNvPr>
            <p:cNvSpPr/>
            <p:nvPr/>
          </p:nvSpPr>
          <p:spPr>
            <a:xfrm rot="10110591">
              <a:off x="5745682" y="231976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B79770B1-A07B-4BCC-ACB8-F8F17B9C1C90}"/>
                </a:ext>
              </a:extLst>
            </p:cNvPr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C61A646B-8BE4-4C08-94C0-2EBC384D6088}"/>
                </a:ext>
              </a:extLst>
            </p:cNvPr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5A4AE6C9-6549-4B95-9338-AE436BD18A65}"/>
                </a:ext>
              </a:extLst>
            </p:cNvPr>
            <p:cNvSpPr/>
            <p:nvPr/>
          </p:nvSpPr>
          <p:spPr>
            <a:xfrm rot="10110591">
              <a:off x="5966874" y="189484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50" name="Picture 2" descr="截屏_20170802_200543">
            <a:extLst>
              <a:ext uri="{FF2B5EF4-FFF2-40B4-BE49-F238E27FC236}">
                <a16:creationId xmlns:a16="http://schemas.microsoft.com/office/drawing/2014/main" id="{F5B5C12C-83AF-4B7D-8CB8-95FADB12F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694" y="1671456"/>
            <a:ext cx="2586444" cy="467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23" descr="C:\Users\zzmile\AppData\Local\Microsoft\Windows\INetCache\Content.Word\6A94CA1C303C437D202C7085CD52D3F9.jpg">
            <a:extLst>
              <a:ext uri="{FF2B5EF4-FFF2-40B4-BE49-F238E27FC236}">
                <a16:creationId xmlns:a16="http://schemas.microsoft.com/office/drawing/2014/main" id="{902C59A5-9159-4391-9055-CB704E7A5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311" y="1650751"/>
            <a:ext cx="2592486" cy="462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50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64" grpId="0" animBg="1"/>
      <p:bldP spid="64" grpId="1" animBg="1"/>
      <p:bldP spid="2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/>
          <p:cNvSpPr/>
          <p:nvPr/>
        </p:nvSpPr>
        <p:spPr>
          <a:xfrm>
            <a:off x="662622" y="4614909"/>
            <a:ext cx="1689273" cy="1662374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431560" y="1654965"/>
            <a:ext cx="4203122" cy="1862048"/>
            <a:chOff x="9559545" y="1850082"/>
            <a:chExt cx="4203122" cy="1862048"/>
          </a:xfrm>
        </p:grpSpPr>
        <p:sp>
          <p:nvSpPr>
            <p:cNvPr id="51" name="矩形 50"/>
            <p:cNvSpPr/>
            <p:nvPr/>
          </p:nvSpPr>
          <p:spPr>
            <a:xfrm>
              <a:off x="9559545" y="1850082"/>
              <a:ext cx="1659429" cy="1862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人</a:t>
              </a:r>
              <a:endParaRPr lang="zh-CN" altLang="en-US" sz="60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0500235" y="2465059"/>
              <a:ext cx="3262432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人工客服</a:t>
              </a:r>
              <a:endPara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椭圆 15"/>
          <p:cNvSpPr>
            <a:spLocks noChangeAspect="1"/>
          </p:cNvSpPr>
          <p:nvPr/>
        </p:nvSpPr>
        <p:spPr>
          <a:xfrm rot="18900000">
            <a:off x="-2357563" y="1695662"/>
            <a:ext cx="7901276" cy="790127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>
            <a:spLocks noChangeAspect="1"/>
          </p:cNvSpPr>
          <p:nvPr/>
        </p:nvSpPr>
        <p:spPr>
          <a:xfrm rot="20742885">
            <a:off x="-626824" y="3232462"/>
            <a:ext cx="4421184" cy="442118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 rot="20700000">
            <a:off x="-78063" y="3982448"/>
            <a:ext cx="3176354" cy="3176350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rot="19422828">
            <a:off x="-1411664" y="2447623"/>
            <a:ext cx="5990864" cy="5990862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FBC91B"/>
                </a:gs>
                <a:gs pos="34000">
                  <a:srgbClr val="FBC91B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94534" y="1830434"/>
            <a:ext cx="2819450" cy="3436180"/>
            <a:chOff x="5138696" y="1187319"/>
            <a:chExt cx="2819450" cy="3436180"/>
          </a:xfrm>
        </p:grpSpPr>
        <p:sp>
          <p:nvSpPr>
            <p:cNvPr id="20" name="等腰三角形 19"/>
            <p:cNvSpPr/>
            <p:nvPr/>
          </p:nvSpPr>
          <p:spPr>
            <a:xfrm rot="6510591" flipV="1">
              <a:off x="5623894" y="1232269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等腰三角形 21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6510591" flipV="1">
              <a:off x="5977303" y="3413844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等腰三角形 26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 rot="10110591">
              <a:off x="6930678" y="118731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27409" y="2976195"/>
            <a:ext cx="3422117" cy="3946128"/>
            <a:chOff x="5005428" y="2771466"/>
            <a:chExt cx="3422117" cy="3946128"/>
          </a:xfrm>
        </p:grpSpPr>
        <p:sp>
          <p:nvSpPr>
            <p:cNvPr id="34" name="等腰三角形 33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 rot="6510591">
              <a:off x="4963117" y="2813777"/>
              <a:ext cx="237910" cy="153288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等腰三角形 38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等腰三角形 39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等腰三角形 42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7412360" y="4094674"/>
            <a:ext cx="428476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4000" dirty="0">
                <a:solidFill>
                  <a:srgbClr val="5AD3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调用系统拨号功能，实现人工客服咨询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50" name="矩形 49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0" name="矩形 69"/>
          <p:cNvSpPr/>
          <p:nvPr/>
        </p:nvSpPr>
        <p:spPr>
          <a:xfrm>
            <a:off x="1195579" y="397912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人工客服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1C931E-2B6F-4054-9872-C09F6FCF7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23" y="4985478"/>
            <a:ext cx="919971" cy="91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6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27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648056" y="4600575"/>
            <a:ext cx="1718406" cy="1691042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椭圆 15"/>
          <p:cNvSpPr>
            <a:spLocks noChangeAspect="1"/>
          </p:cNvSpPr>
          <p:nvPr/>
        </p:nvSpPr>
        <p:spPr>
          <a:xfrm rot="18900000">
            <a:off x="-2357563" y="1695662"/>
            <a:ext cx="7901276" cy="790127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>
            <a:spLocks noChangeAspect="1"/>
          </p:cNvSpPr>
          <p:nvPr/>
        </p:nvSpPr>
        <p:spPr>
          <a:xfrm rot="20742885">
            <a:off x="-626824" y="3232462"/>
            <a:ext cx="4421184" cy="442118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 rot="20700000">
            <a:off x="-78063" y="3982448"/>
            <a:ext cx="3176354" cy="3176350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rot="19422828">
            <a:off x="-1411664" y="2447623"/>
            <a:ext cx="5990864" cy="5990862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FBC91B"/>
                </a:gs>
                <a:gs pos="34000">
                  <a:srgbClr val="FBC91B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等腰三角形 19"/>
          <p:cNvSpPr/>
          <p:nvPr/>
        </p:nvSpPr>
        <p:spPr>
          <a:xfrm rot="6510591">
            <a:off x="5228208" y="1982310"/>
            <a:ext cx="300389" cy="258957"/>
          </a:xfrm>
          <a:prstGeom prst="triangle">
            <a:avLst>
              <a:gd name="adj" fmla="val 37166"/>
            </a:avLst>
          </a:prstGeom>
          <a:solidFill>
            <a:srgbClr val="4E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2" name="等腰三角形 21"/>
          <p:cNvSpPr/>
          <p:nvPr/>
        </p:nvSpPr>
        <p:spPr>
          <a:xfrm rot="10110591">
            <a:off x="6138095" y="2311866"/>
            <a:ext cx="613244" cy="528664"/>
          </a:xfrm>
          <a:prstGeom prst="triangle">
            <a:avLst>
              <a:gd name="adj" fmla="val 37166"/>
            </a:avLst>
          </a:prstGeom>
          <a:solidFill>
            <a:srgbClr val="4EC0F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等腰三角形 23"/>
          <p:cNvSpPr/>
          <p:nvPr/>
        </p:nvSpPr>
        <p:spPr>
          <a:xfrm rot="10110591">
            <a:off x="4732300" y="2929680"/>
            <a:ext cx="613244" cy="528664"/>
          </a:xfrm>
          <a:prstGeom prst="triangle">
            <a:avLst>
              <a:gd name="adj" fmla="val 37166"/>
            </a:avLst>
          </a:prstGeom>
          <a:solidFill>
            <a:srgbClr val="73E14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等腰三角形 24"/>
          <p:cNvSpPr/>
          <p:nvPr/>
        </p:nvSpPr>
        <p:spPr>
          <a:xfrm rot="8310591">
            <a:off x="6087752" y="1665016"/>
            <a:ext cx="191127" cy="164766"/>
          </a:xfrm>
          <a:prstGeom prst="triangle">
            <a:avLst>
              <a:gd name="adj" fmla="val 37166"/>
            </a:avLst>
          </a:prstGeom>
          <a:solidFill>
            <a:srgbClr val="FBC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等腰三角形 25"/>
          <p:cNvSpPr/>
          <p:nvPr/>
        </p:nvSpPr>
        <p:spPr>
          <a:xfrm rot="10110591">
            <a:off x="7138122" y="1448539"/>
            <a:ext cx="413628" cy="356577"/>
          </a:xfrm>
          <a:prstGeom prst="triangle">
            <a:avLst>
              <a:gd name="adj" fmla="val 37166"/>
            </a:avLst>
          </a:prstGeom>
          <a:solidFill>
            <a:srgbClr val="FBCB1D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等腰三角形 26"/>
          <p:cNvSpPr/>
          <p:nvPr/>
        </p:nvSpPr>
        <p:spPr>
          <a:xfrm rot="3810591">
            <a:off x="5766128" y="2950843"/>
            <a:ext cx="248844" cy="214521"/>
          </a:xfrm>
          <a:prstGeom prst="triangle">
            <a:avLst>
              <a:gd name="adj" fmla="val 37166"/>
            </a:avLst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等腰三角形 33"/>
          <p:cNvSpPr/>
          <p:nvPr/>
        </p:nvSpPr>
        <p:spPr>
          <a:xfrm rot="6510591">
            <a:off x="6600567" y="4912120"/>
            <a:ext cx="190621" cy="164329"/>
          </a:xfrm>
          <a:prstGeom prst="triangle">
            <a:avLst>
              <a:gd name="adj" fmla="val 37166"/>
            </a:avLst>
          </a:prstGeom>
          <a:solidFill>
            <a:srgbClr val="4E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等腰三角形 34"/>
          <p:cNvSpPr/>
          <p:nvPr/>
        </p:nvSpPr>
        <p:spPr>
          <a:xfrm rot="10110591">
            <a:off x="8021722" y="5789729"/>
            <a:ext cx="613244" cy="528664"/>
          </a:xfrm>
          <a:prstGeom prst="triangle">
            <a:avLst>
              <a:gd name="adj" fmla="val 37166"/>
            </a:avLst>
          </a:prstGeom>
          <a:solidFill>
            <a:srgbClr val="4EC0F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等腰三角形 35"/>
          <p:cNvSpPr/>
          <p:nvPr/>
        </p:nvSpPr>
        <p:spPr>
          <a:xfrm rot="6510591">
            <a:off x="7833969" y="4133729"/>
            <a:ext cx="190621" cy="164329"/>
          </a:xfrm>
          <a:prstGeom prst="triangle">
            <a:avLst>
              <a:gd name="adj" fmla="val 37166"/>
            </a:avLst>
          </a:prstGeom>
          <a:solidFill>
            <a:srgbClr val="73E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7" name="等腰三角形 36"/>
          <p:cNvSpPr/>
          <p:nvPr/>
        </p:nvSpPr>
        <p:spPr>
          <a:xfrm rot="10110591">
            <a:off x="6077218" y="5879241"/>
            <a:ext cx="613244" cy="528664"/>
          </a:xfrm>
          <a:prstGeom prst="triangle">
            <a:avLst>
              <a:gd name="adj" fmla="val 37166"/>
            </a:avLst>
          </a:prstGeom>
          <a:solidFill>
            <a:srgbClr val="73E14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等腰三角形 37"/>
          <p:cNvSpPr/>
          <p:nvPr/>
        </p:nvSpPr>
        <p:spPr>
          <a:xfrm rot="8310591">
            <a:off x="6715288" y="3787961"/>
            <a:ext cx="121285" cy="104557"/>
          </a:xfrm>
          <a:prstGeom prst="triangle">
            <a:avLst>
              <a:gd name="adj" fmla="val 37166"/>
            </a:avLst>
          </a:prstGeom>
          <a:solidFill>
            <a:srgbClr val="FBC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 rot="10110591">
            <a:off x="6209729" y="6361017"/>
            <a:ext cx="413628" cy="356577"/>
          </a:xfrm>
          <a:prstGeom prst="triangle">
            <a:avLst>
              <a:gd name="adj" fmla="val 37166"/>
            </a:avLst>
          </a:prstGeom>
          <a:solidFill>
            <a:srgbClr val="FBCB1D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0" name="等腰三角形 39"/>
          <p:cNvSpPr/>
          <p:nvPr/>
        </p:nvSpPr>
        <p:spPr>
          <a:xfrm rot="3810591">
            <a:off x="7171312" y="5881425"/>
            <a:ext cx="157911" cy="136130"/>
          </a:xfrm>
          <a:prstGeom prst="triangle">
            <a:avLst>
              <a:gd name="adj" fmla="val 37166"/>
            </a:avLst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" name="等腰三角形 40"/>
          <p:cNvSpPr/>
          <p:nvPr/>
        </p:nvSpPr>
        <p:spPr>
          <a:xfrm rot="10110591">
            <a:off x="5683736" y="4086067"/>
            <a:ext cx="413628" cy="356577"/>
          </a:xfrm>
          <a:prstGeom prst="triangle">
            <a:avLst>
              <a:gd name="adj" fmla="val 37166"/>
            </a:avLst>
          </a:prstGeom>
          <a:solidFill>
            <a:srgbClr val="ED1E79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等腰三角形 41"/>
          <p:cNvSpPr/>
          <p:nvPr/>
        </p:nvSpPr>
        <p:spPr>
          <a:xfrm rot="10110591">
            <a:off x="5543093" y="5198635"/>
            <a:ext cx="613244" cy="528664"/>
          </a:xfrm>
          <a:prstGeom prst="triangle">
            <a:avLst>
              <a:gd name="adj" fmla="val 37166"/>
            </a:avLst>
          </a:prstGeom>
          <a:solidFill>
            <a:schemeClr val="bg1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等腰三角形 43"/>
          <p:cNvSpPr/>
          <p:nvPr/>
        </p:nvSpPr>
        <p:spPr>
          <a:xfrm rot="10110591">
            <a:off x="7407905" y="5660216"/>
            <a:ext cx="613244" cy="528664"/>
          </a:xfrm>
          <a:prstGeom prst="triangle">
            <a:avLst>
              <a:gd name="adj" fmla="val 37166"/>
            </a:avLst>
          </a:prstGeom>
          <a:solidFill>
            <a:srgbClr val="73E14F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5" name="等腰三角形 44"/>
          <p:cNvSpPr/>
          <p:nvPr/>
        </p:nvSpPr>
        <p:spPr>
          <a:xfrm rot="10110591">
            <a:off x="7703319" y="3559916"/>
            <a:ext cx="613244" cy="528664"/>
          </a:xfrm>
          <a:prstGeom prst="triangle">
            <a:avLst>
              <a:gd name="adj" fmla="val 37166"/>
            </a:avLst>
          </a:prstGeom>
          <a:solidFill>
            <a:srgbClr val="FBCB1D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6" name="等腰三角形 45"/>
          <p:cNvSpPr/>
          <p:nvPr/>
        </p:nvSpPr>
        <p:spPr>
          <a:xfrm rot="10110591">
            <a:off x="7005254" y="4094711"/>
            <a:ext cx="613244" cy="528664"/>
          </a:xfrm>
          <a:prstGeom prst="triangle">
            <a:avLst>
              <a:gd name="adj" fmla="val 37166"/>
            </a:avLst>
          </a:prstGeom>
          <a:solidFill>
            <a:srgbClr val="ED1E79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219745" y="3809200"/>
            <a:ext cx="5655212" cy="2014124"/>
          </a:xfrm>
          <a:prstGeom prst="roundRect">
            <a:avLst>
              <a:gd name="adj" fmla="val 50000"/>
            </a:avLst>
          </a:prstGeom>
          <a:solidFill>
            <a:srgbClr val="73E14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98033" y="1207463"/>
            <a:ext cx="2293892" cy="1862048"/>
            <a:chOff x="8887452" y="195378"/>
            <a:chExt cx="2293892" cy="1862048"/>
          </a:xfrm>
        </p:grpSpPr>
        <p:sp>
          <p:nvSpPr>
            <p:cNvPr id="33" name="矩形 32"/>
            <p:cNvSpPr/>
            <p:nvPr/>
          </p:nvSpPr>
          <p:spPr>
            <a:xfrm>
              <a:off x="8887452" y="195378"/>
              <a:ext cx="1659430" cy="1862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设</a:t>
              </a:r>
              <a:endParaRPr lang="zh-CN" altLang="en-US" sz="60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9557309" y="1035591"/>
              <a:ext cx="1624035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4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设置</a:t>
              </a:r>
              <a:r>
                <a:rPr lang="en-US" altLang="zh-CN" sz="4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7270634" y="2853243"/>
            <a:ext cx="4300830" cy="34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用于设置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52" name="矩形 51"/>
            <p:cNvSpPr/>
            <p:nvPr/>
          </p:nvSpPr>
          <p:spPr>
            <a:xfrm>
              <a:off x="2904427" y="1415206"/>
              <a:ext cx="1201429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1258983" y="407470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26CC7E-9238-4288-B073-E0EA6B4E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24"/>
          <a:stretch/>
        </p:blipFill>
        <p:spPr>
          <a:xfrm>
            <a:off x="9803464" y="3946131"/>
            <a:ext cx="3857625" cy="1740261"/>
          </a:xfrm>
          <a:prstGeom prst="roundRect">
            <a:avLst/>
          </a:prstGeom>
        </p:spPr>
      </p:pic>
      <p:sp>
        <p:nvSpPr>
          <p:cNvPr id="49" name="Freeform 33">
            <a:extLst>
              <a:ext uri="{FF2B5EF4-FFF2-40B4-BE49-F238E27FC236}">
                <a16:creationId xmlns:a16="http://schemas.microsoft.com/office/drawing/2014/main" id="{83F2ADA3-BFAE-4E03-83F1-492A1761CFF6}"/>
              </a:ext>
            </a:extLst>
          </p:cNvPr>
          <p:cNvSpPr>
            <a:spLocks noEditPoints="1"/>
          </p:cNvSpPr>
          <p:nvPr/>
        </p:nvSpPr>
        <p:spPr bwMode="auto">
          <a:xfrm>
            <a:off x="1126317" y="5119420"/>
            <a:ext cx="761884" cy="742311"/>
          </a:xfrm>
          <a:custGeom>
            <a:avLst/>
            <a:gdLst>
              <a:gd name="T0" fmla="*/ 42 w 44"/>
              <a:gd name="T1" fmla="*/ 18 h 44"/>
              <a:gd name="T2" fmla="*/ 35 w 44"/>
              <a:gd name="T3" fmla="*/ 18 h 44"/>
              <a:gd name="T4" fmla="*/ 34 w 44"/>
              <a:gd name="T5" fmla="*/ 14 h 44"/>
              <a:gd name="T6" fmla="*/ 38 w 44"/>
              <a:gd name="T7" fmla="*/ 10 h 44"/>
              <a:gd name="T8" fmla="*/ 38 w 44"/>
              <a:gd name="T9" fmla="*/ 7 h 44"/>
              <a:gd name="T10" fmla="*/ 36 w 44"/>
              <a:gd name="T11" fmla="*/ 5 h 44"/>
              <a:gd name="T12" fmla="*/ 33 w 44"/>
              <a:gd name="T13" fmla="*/ 5 h 44"/>
              <a:gd name="T14" fmla="*/ 29 w 44"/>
              <a:gd name="T15" fmla="*/ 9 h 44"/>
              <a:gd name="T16" fmla="*/ 25 w 44"/>
              <a:gd name="T17" fmla="*/ 8 h 44"/>
              <a:gd name="T18" fmla="*/ 25 w 44"/>
              <a:gd name="T19" fmla="*/ 2 h 44"/>
              <a:gd name="T20" fmla="*/ 23 w 44"/>
              <a:gd name="T21" fmla="*/ 0 h 44"/>
              <a:gd name="T22" fmla="*/ 20 w 44"/>
              <a:gd name="T23" fmla="*/ 0 h 44"/>
              <a:gd name="T24" fmla="*/ 18 w 44"/>
              <a:gd name="T25" fmla="*/ 2 h 44"/>
              <a:gd name="T26" fmla="*/ 18 w 44"/>
              <a:gd name="T27" fmla="*/ 8 h 44"/>
              <a:gd name="T28" fmla="*/ 14 w 44"/>
              <a:gd name="T29" fmla="*/ 9 h 44"/>
              <a:gd name="T30" fmla="*/ 10 w 44"/>
              <a:gd name="T31" fmla="*/ 6 h 44"/>
              <a:gd name="T32" fmla="*/ 7 w 44"/>
              <a:gd name="T33" fmla="*/ 6 h 44"/>
              <a:gd name="T34" fmla="*/ 5 w 44"/>
              <a:gd name="T35" fmla="*/ 8 h 44"/>
              <a:gd name="T36" fmla="*/ 5 w 44"/>
              <a:gd name="T37" fmla="*/ 11 h 44"/>
              <a:gd name="T38" fmla="*/ 9 w 44"/>
              <a:gd name="T39" fmla="*/ 15 h 44"/>
              <a:gd name="T40" fmla="*/ 7 w 44"/>
              <a:gd name="T41" fmla="*/ 19 h 44"/>
              <a:gd name="T42" fmla="*/ 2 w 44"/>
              <a:gd name="T43" fmla="*/ 19 h 44"/>
              <a:gd name="T44" fmla="*/ 0 w 44"/>
              <a:gd name="T45" fmla="*/ 21 h 44"/>
              <a:gd name="T46" fmla="*/ 0 w 44"/>
              <a:gd name="T47" fmla="*/ 24 h 44"/>
              <a:gd name="T48" fmla="*/ 2 w 44"/>
              <a:gd name="T49" fmla="*/ 26 h 44"/>
              <a:gd name="T50" fmla="*/ 7 w 44"/>
              <a:gd name="T51" fmla="*/ 26 h 44"/>
              <a:gd name="T52" fmla="*/ 9 w 44"/>
              <a:gd name="T53" fmla="*/ 30 h 44"/>
              <a:gd name="T54" fmla="*/ 6 w 44"/>
              <a:gd name="T55" fmla="*/ 34 h 44"/>
              <a:gd name="T56" fmla="*/ 6 w 44"/>
              <a:gd name="T57" fmla="*/ 37 h 44"/>
              <a:gd name="T58" fmla="*/ 8 w 44"/>
              <a:gd name="T59" fmla="*/ 39 h 44"/>
              <a:gd name="T60" fmla="*/ 11 w 44"/>
              <a:gd name="T61" fmla="*/ 39 h 44"/>
              <a:gd name="T62" fmla="*/ 15 w 44"/>
              <a:gd name="T63" fmla="*/ 35 h 44"/>
              <a:gd name="T64" fmla="*/ 19 w 44"/>
              <a:gd name="T65" fmla="*/ 36 h 44"/>
              <a:gd name="T66" fmla="*/ 19 w 44"/>
              <a:gd name="T67" fmla="*/ 42 h 44"/>
              <a:gd name="T68" fmla="*/ 21 w 44"/>
              <a:gd name="T69" fmla="*/ 44 h 44"/>
              <a:gd name="T70" fmla="*/ 24 w 44"/>
              <a:gd name="T71" fmla="*/ 44 h 44"/>
              <a:gd name="T72" fmla="*/ 26 w 44"/>
              <a:gd name="T73" fmla="*/ 42 h 44"/>
              <a:gd name="T74" fmla="*/ 26 w 44"/>
              <a:gd name="T75" fmla="*/ 36 h 44"/>
              <a:gd name="T76" fmla="*/ 30 w 44"/>
              <a:gd name="T77" fmla="*/ 34 h 44"/>
              <a:gd name="T78" fmla="*/ 34 w 44"/>
              <a:gd name="T79" fmla="*/ 38 h 44"/>
              <a:gd name="T80" fmla="*/ 37 w 44"/>
              <a:gd name="T81" fmla="*/ 38 h 44"/>
              <a:gd name="T82" fmla="*/ 39 w 44"/>
              <a:gd name="T83" fmla="*/ 36 h 44"/>
              <a:gd name="T84" fmla="*/ 39 w 44"/>
              <a:gd name="T85" fmla="*/ 33 h 44"/>
              <a:gd name="T86" fmla="*/ 35 w 44"/>
              <a:gd name="T87" fmla="*/ 28 h 44"/>
              <a:gd name="T88" fmla="*/ 36 w 44"/>
              <a:gd name="T89" fmla="*/ 25 h 44"/>
              <a:gd name="T90" fmla="*/ 42 w 44"/>
              <a:gd name="T91" fmla="*/ 25 h 44"/>
              <a:gd name="T92" fmla="*/ 44 w 44"/>
              <a:gd name="T93" fmla="*/ 23 h 44"/>
              <a:gd name="T94" fmla="*/ 44 w 44"/>
              <a:gd name="T95" fmla="*/ 20 h 44"/>
              <a:gd name="T96" fmla="*/ 42 w 44"/>
              <a:gd name="T97" fmla="*/ 18 h 44"/>
              <a:gd name="T98" fmla="*/ 21 w 44"/>
              <a:gd name="T99" fmla="*/ 28 h 44"/>
              <a:gd name="T100" fmla="*/ 15 w 44"/>
              <a:gd name="T101" fmla="*/ 22 h 44"/>
              <a:gd name="T102" fmla="*/ 21 w 44"/>
              <a:gd name="T103" fmla="*/ 16 h 44"/>
              <a:gd name="T104" fmla="*/ 28 w 44"/>
              <a:gd name="T105" fmla="*/ 22 h 44"/>
              <a:gd name="T106" fmla="*/ 21 w 44"/>
              <a:gd name="T107" fmla="*/ 2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" h="44">
                <a:moveTo>
                  <a:pt x="42" y="18"/>
                </a:moveTo>
                <a:cubicBezTo>
                  <a:pt x="35" y="18"/>
                  <a:pt x="35" y="18"/>
                  <a:pt x="35" y="18"/>
                </a:cubicBezTo>
                <a:cubicBezTo>
                  <a:pt x="35" y="17"/>
                  <a:pt x="35" y="15"/>
                  <a:pt x="34" y="14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9"/>
                  <a:pt x="39" y="8"/>
                  <a:pt x="38" y="7"/>
                </a:cubicBezTo>
                <a:cubicBezTo>
                  <a:pt x="36" y="5"/>
                  <a:pt x="36" y="5"/>
                  <a:pt x="36" y="5"/>
                </a:cubicBezTo>
                <a:cubicBezTo>
                  <a:pt x="35" y="4"/>
                  <a:pt x="34" y="4"/>
                  <a:pt x="33" y="5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6" y="8"/>
                  <a:pt x="25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1"/>
                  <a:pt x="24" y="0"/>
                  <a:pt x="2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8"/>
                  <a:pt x="18" y="8"/>
                  <a:pt x="18" y="8"/>
                </a:cubicBezTo>
                <a:cubicBezTo>
                  <a:pt x="16" y="8"/>
                  <a:pt x="15" y="9"/>
                  <a:pt x="14" y="9"/>
                </a:cubicBezTo>
                <a:cubicBezTo>
                  <a:pt x="10" y="6"/>
                  <a:pt x="10" y="6"/>
                  <a:pt x="10" y="6"/>
                </a:cubicBezTo>
                <a:cubicBezTo>
                  <a:pt x="9" y="5"/>
                  <a:pt x="8" y="5"/>
                  <a:pt x="7" y="6"/>
                </a:cubicBezTo>
                <a:cubicBezTo>
                  <a:pt x="5" y="8"/>
                  <a:pt x="5" y="8"/>
                  <a:pt x="5" y="8"/>
                </a:cubicBezTo>
                <a:cubicBezTo>
                  <a:pt x="4" y="9"/>
                  <a:pt x="4" y="10"/>
                  <a:pt x="5" y="11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6"/>
                  <a:pt x="7" y="17"/>
                  <a:pt x="7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20"/>
                  <a:pt x="0" y="21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8"/>
                  <a:pt x="8" y="29"/>
                  <a:pt x="9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5"/>
                  <a:pt x="5" y="36"/>
                  <a:pt x="6" y="37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40"/>
                  <a:pt x="10" y="40"/>
                  <a:pt x="11" y="39"/>
                </a:cubicBezTo>
                <a:cubicBezTo>
                  <a:pt x="15" y="35"/>
                  <a:pt x="15" y="35"/>
                  <a:pt x="15" y="35"/>
                </a:cubicBezTo>
                <a:cubicBezTo>
                  <a:pt x="16" y="36"/>
                  <a:pt x="18" y="36"/>
                  <a:pt x="19" y="36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3"/>
                  <a:pt x="20" y="44"/>
                  <a:pt x="21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5" y="44"/>
                  <a:pt x="26" y="43"/>
                  <a:pt x="26" y="42"/>
                </a:cubicBezTo>
                <a:cubicBezTo>
                  <a:pt x="26" y="36"/>
                  <a:pt x="26" y="36"/>
                  <a:pt x="26" y="36"/>
                </a:cubicBezTo>
                <a:cubicBezTo>
                  <a:pt x="28" y="35"/>
                  <a:pt x="29" y="35"/>
                  <a:pt x="30" y="34"/>
                </a:cubicBezTo>
                <a:cubicBezTo>
                  <a:pt x="34" y="38"/>
                  <a:pt x="34" y="38"/>
                  <a:pt x="34" y="38"/>
                </a:cubicBezTo>
                <a:cubicBezTo>
                  <a:pt x="35" y="39"/>
                  <a:pt x="36" y="39"/>
                  <a:pt x="37" y="38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4"/>
                  <a:pt x="39" y="33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7"/>
                  <a:pt x="35" y="26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4" y="24"/>
                  <a:pt x="44" y="23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19"/>
                  <a:pt x="43" y="18"/>
                  <a:pt x="42" y="18"/>
                </a:cubicBezTo>
                <a:close/>
                <a:moveTo>
                  <a:pt x="21" y="28"/>
                </a:moveTo>
                <a:cubicBezTo>
                  <a:pt x="18" y="28"/>
                  <a:pt x="15" y="25"/>
                  <a:pt x="15" y="22"/>
                </a:cubicBezTo>
                <a:cubicBezTo>
                  <a:pt x="15" y="19"/>
                  <a:pt x="18" y="16"/>
                  <a:pt x="21" y="16"/>
                </a:cubicBezTo>
                <a:cubicBezTo>
                  <a:pt x="25" y="16"/>
                  <a:pt x="28" y="19"/>
                  <a:pt x="28" y="22"/>
                </a:cubicBezTo>
                <a:cubicBezTo>
                  <a:pt x="28" y="25"/>
                  <a:pt x="25" y="28"/>
                  <a:pt x="21" y="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5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21600000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23" presetClass="entr" presetSubtype="27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4440287" y="1167064"/>
            <a:ext cx="3311426" cy="3311426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684" y="1589128"/>
            <a:ext cx="2768927" cy="2768927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8100000">
            <a:off x="-1404134" y="4471656"/>
            <a:ext cx="2147387" cy="3073761"/>
            <a:chOff x="5352628" y="1549737"/>
            <a:chExt cx="2147387" cy="3073761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320604" y="1605182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6474098" y="2373231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745682" y="231975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3810591">
              <a:off x="5653534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10110591">
              <a:off x="6458959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10110591">
              <a:off x="5966873" y="189484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14400000">
            <a:off x="9931866" y="-788439"/>
            <a:ext cx="3130315" cy="3002665"/>
            <a:chOff x="5297229" y="3714929"/>
            <a:chExt cx="3130315" cy="3002665"/>
          </a:xfrm>
        </p:grpSpPr>
        <p:sp>
          <p:nvSpPr>
            <p:cNvPr id="45" name="等腰三角形 44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6510591">
              <a:off x="8240365" y="413373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 rot="3810591">
              <a:off x="7577707" y="5881426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10110591">
              <a:off x="6223096" y="5278983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rot="10110591">
              <a:off x="5297229" y="6084811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10110591">
              <a:off x="7814300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3397224" y="5094685"/>
            <a:ext cx="5416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4EC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终期总结</a:t>
            </a:r>
            <a:endParaRPr lang="zh-CN" altLang="en-US" sz="4800" dirty="0">
              <a:solidFill>
                <a:srgbClr val="FBCB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经典行楷繁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247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 flipH="1">
            <a:off x="7916473" y="1517408"/>
            <a:ext cx="26887" cy="1116000"/>
          </a:xfrm>
          <a:prstGeom prst="roundRect">
            <a:avLst/>
          </a:prstGeom>
          <a:gradFill>
            <a:gsLst>
              <a:gs pos="0">
                <a:srgbClr val="4EC0FF"/>
              </a:gs>
              <a:gs pos="100000">
                <a:srgbClr val="1F203F"/>
              </a:gs>
              <a:gs pos="21000">
                <a:srgbClr val="4EC0F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021128" y="2779417"/>
            <a:ext cx="1665706" cy="1665702"/>
          </a:xfrm>
          <a:prstGeom prst="ellipse">
            <a:avLst/>
          </a:prstGeom>
          <a:gradFill>
            <a:gsLst>
              <a:gs pos="0">
                <a:srgbClr val="57D3FF"/>
              </a:gs>
              <a:gs pos="100000">
                <a:srgbClr val="5D63FE"/>
              </a:gs>
              <a:gs pos="64000">
                <a:srgbClr val="44ADFE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402400" y="4571479"/>
            <a:ext cx="1313008" cy="1313004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083022" y="3191679"/>
            <a:ext cx="998032" cy="998028"/>
          </a:xfrm>
          <a:prstGeom prst="ellipse">
            <a:avLst/>
          </a:prstGeom>
          <a:gradFill>
            <a:gsLst>
              <a:gs pos="2000">
                <a:srgbClr val="FC9BE8"/>
              </a:gs>
              <a:gs pos="69000">
                <a:srgbClr val="ED1E79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041500" y="4181794"/>
            <a:ext cx="837028" cy="837024"/>
          </a:xfrm>
          <a:prstGeom prst="ellipse">
            <a:avLst/>
          </a:prstGeom>
          <a:gradFill>
            <a:gsLst>
              <a:gs pos="0">
                <a:srgbClr val="FCD320"/>
              </a:gs>
              <a:gs pos="100000">
                <a:srgbClr val="F07D0D"/>
              </a:gs>
              <a:gs pos="64000">
                <a:srgbClr val="FABA15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18387" y="2543872"/>
            <a:ext cx="3295982" cy="853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需要搭建</a:t>
            </a:r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管理端，审核用户以及系统的信息</a:t>
            </a:r>
          </a:p>
        </p:txBody>
      </p:sp>
      <p:sp>
        <p:nvSpPr>
          <p:cNvPr id="18" name="矩形 17"/>
          <p:cNvSpPr/>
          <p:nvPr/>
        </p:nvSpPr>
        <p:spPr>
          <a:xfrm>
            <a:off x="2803232" y="2209396"/>
            <a:ext cx="2009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2400" b="1" kern="0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WEB</a:t>
            </a:r>
            <a:r>
              <a:rPr lang="zh-CN" altLang="en-US" sz="2400" b="1" kern="0" dirty="0">
                <a:solidFill>
                  <a:srgbClr val="ED1E7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管理端</a:t>
            </a:r>
          </a:p>
        </p:txBody>
      </p:sp>
      <p:sp>
        <p:nvSpPr>
          <p:cNvPr id="19" name="矩形 18"/>
          <p:cNvSpPr/>
          <p:nvPr/>
        </p:nvSpPr>
        <p:spPr>
          <a:xfrm>
            <a:off x="749419" y="5285887"/>
            <a:ext cx="305991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由于</a:t>
            </a:r>
            <a:r>
              <a:rPr lang="en-US" altLang="zh-CN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</a:t>
            </a: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核心功能是贷款，所以涉及支付问题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183484" y="4924050"/>
            <a:ext cx="2632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zh-CN" altLang="en-US" sz="2400" b="1" kern="0" dirty="0">
                <a:solidFill>
                  <a:srgbClr val="73E14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支付功能的实现</a:t>
            </a:r>
          </a:p>
        </p:txBody>
      </p:sp>
      <p:sp>
        <p:nvSpPr>
          <p:cNvPr id="22" name="矩形 21"/>
          <p:cNvSpPr/>
          <p:nvPr/>
        </p:nvSpPr>
        <p:spPr>
          <a:xfrm>
            <a:off x="7990363" y="1730342"/>
            <a:ext cx="3383796" cy="930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需要获取用户数据，</a:t>
            </a:r>
            <a:endParaRPr lang="en-US" altLang="zh-CN" sz="2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产生统计表</a:t>
            </a:r>
          </a:p>
        </p:txBody>
      </p:sp>
      <p:sp>
        <p:nvSpPr>
          <p:cNvPr id="23" name="矩形 22"/>
          <p:cNvSpPr/>
          <p:nvPr/>
        </p:nvSpPr>
        <p:spPr>
          <a:xfrm>
            <a:off x="7971627" y="1383815"/>
            <a:ext cx="23534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rgbClr val="4EC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数据报表生成</a:t>
            </a:r>
          </a:p>
        </p:txBody>
      </p:sp>
      <p:sp>
        <p:nvSpPr>
          <p:cNvPr id="24" name="矩形 23"/>
          <p:cNvSpPr/>
          <p:nvPr/>
        </p:nvSpPr>
        <p:spPr>
          <a:xfrm>
            <a:off x="6938802" y="5625789"/>
            <a:ext cx="3386297" cy="853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由于安全性等因素，可能无法实现真实贷款数据</a:t>
            </a:r>
          </a:p>
        </p:txBody>
      </p:sp>
      <p:sp>
        <p:nvSpPr>
          <p:cNvPr id="25" name="矩形 24"/>
          <p:cNvSpPr/>
          <p:nvPr/>
        </p:nvSpPr>
        <p:spPr>
          <a:xfrm>
            <a:off x="6938803" y="5247700"/>
            <a:ext cx="2009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kern="0" dirty="0">
                <a:solidFill>
                  <a:srgbClr val="FBCB1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贷款数据</a:t>
            </a:r>
          </a:p>
        </p:txBody>
      </p:sp>
      <p:sp>
        <p:nvSpPr>
          <p:cNvPr id="26" name="椭圆 25"/>
          <p:cNvSpPr/>
          <p:nvPr/>
        </p:nvSpPr>
        <p:spPr>
          <a:xfrm>
            <a:off x="6343802" y="2390407"/>
            <a:ext cx="518873" cy="518873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prstClr val="black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241417" y="3153339"/>
            <a:ext cx="386258" cy="386258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prstClr val="black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036759" y="4716609"/>
            <a:ext cx="386258" cy="386258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prstClr val="black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351812" y="3456657"/>
            <a:ext cx="514337" cy="457860"/>
            <a:chOff x="6699251" y="2735263"/>
            <a:chExt cx="404812" cy="360362"/>
          </a:xfrm>
          <a:solidFill>
            <a:sysClr val="window" lastClr="FFFFFF"/>
          </a:solidFill>
        </p:grpSpPr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6980238" y="2746375"/>
              <a:ext cx="123825" cy="338137"/>
            </a:xfrm>
            <a:custGeom>
              <a:avLst/>
              <a:gdLst>
                <a:gd name="T0" fmla="*/ 9 w 11"/>
                <a:gd name="T1" fmla="*/ 15 h 30"/>
                <a:gd name="T2" fmla="*/ 1 w 11"/>
                <a:gd name="T3" fmla="*/ 1 h 30"/>
                <a:gd name="T4" fmla="*/ 2 w 11"/>
                <a:gd name="T5" fmla="*/ 0 h 30"/>
                <a:gd name="T6" fmla="*/ 11 w 11"/>
                <a:gd name="T7" fmla="*/ 15 h 30"/>
                <a:gd name="T8" fmla="*/ 1 w 11"/>
                <a:gd name="T9" fmla="*/ 30 h 30"/>
                <a:gd name="T10" fmla="*/ 0 w 11"/>
                <a:gd name="T11" fmla="*/ 28 h 30"/>
                <a:gd name="T12" fmla="*/ 9 w 11"/>
                <a:gd name="T13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0">
                  <a:moveTo>
                    <a:pt x="9" y="15"/>
                  </a:moveTo>
                  <a:cubicBezTo>
                    <a:pt x="9" y="9"/>
                    <a:pt x="6" y="4"/>
                    <a:pt x="1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2"/>
                    <a:pt x="11" y="8"/>
                    <a:pt x="11" y="15"/>
                  </a:cubicBezTo>
                  <a:cubicBezTo>
                    <a:pt x="11" y="21"/>
                    <a:pt x="7" y="27"/>
                    <a:pt x="1" y="3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5"/>
                    <a:pt x="9" y="20"/>
                    <a:pt x="9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6946901" y="2768600"/>
              <a:ext cx="101600" cy="282575"/>
            </a:xfrm>
            <a:custGeom>
              <a:avLst/>
              <a:gdLst>
                <a:gd name="T0" fmla="*/ 7 w 9"/>
                <a:gd name="T1" fmla="*/ 13 h 25"/>
                <a:gd name="T2" fmla="*/ 0 w 9"/>
                <a:gd name="T3" fmla="*/ 2 h 25"/>
                <a:gd name="T4" fmla="*/ 1 w 9"/>
                <a:gd name="T5" fmla="*/ 0 h 25"/>
                <a:gd name="T6" fmla="*/ 9 w 9"/>
                <a:gd name="T7" fmla="*/ 13 h 25"/>
                <a:gd name="T8" fmla="*/ 1 w 9"/>
                <a:gd name="T9" fmla="*/ 25 h 25"/>
                <a:gd name="T10" fmla="*/ 0 w 9"/>
                <a:gd name="T11" fmla="*/ 23 h 25"/>
                <a:gd name="T12" fmla="*/ 7 w 9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5">
                  <a:moveTo>
                    <a:pt x="7" y="13"/>
                  </a:moveTo>
                  <a:cubicBezTo>
                    <a:pt x="7" y="8"/>
                    <a:pt x="4" y="4"/>
                    <a:pt x="0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2"/>
                    <a:pt x="9" y="7"/>
                    <a:pt x="9" y="13"/>
                  </a:cubicBezTo>
                  <a:cubicBezTo>
                    <a:pt x="9" y="18"/>
                    <a:pt x="6" y="23"/>
                    <a:pt x="1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21"/>
                    <a:pt x="7" y="17"/>
                    <a:pt x="7" y="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6789738" y="2735263"/>
              <a:ext cx="123825" cy="360362"/>
            </a:xfrm>
            <a:custGeom>
              <a:avLst/>
              <a:gdLst>
                <a:gd name="T0" fmla="*/ 0 w 78"/>
                <a:gd name="T1" fmla="*/ 64 h 227"/>
                <a:gd name="T2" fmla="*/ 0 w 78"/>
                <a:gd name="T3" fmla="*/ 156 h 227"/>
                <a:gd name="T4" fmla="*/ 49 w 78"/>
                <a:gd name="T5" fmla="*/ 199 h 227"/>
                <a:gd name="T6" fmla="*/ 49 w 78"/>
                <a:gd name="T7" fmla="*/ 114 h 227"/>
                <a:gd name="T8" fmla="*/ 56 w 78"/>
                <a:gd name="T9" fmla="*/ 114 h 227"/>
                <a:gd name="T10" fmla="*/ 56 w 78"/>
                <a:gd name="T11" fmla="*/ 206 h 227"/>
                <a:gd name="T12" fmla="*/ 78 w 78"/>
                <a:gd name="T13" fmla="*/ 227 h 227"/>
                <a:gd name="T14" fmla="*/ 78 w 78"/>
                <a:gd name="T15" fmla="*/ 0 h 227"/>
                <a:gd name="T16" fmla="*/ 0 w 78"/>
                <a:gd name="T17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227">
                  <a:moveTo>
                    <a:pt x="0" y="64"/>
                  </a:moveTo>
                  <a:lnTo>
                    <a:pt x="0" y="156"/>
                  </a:lnTo>
                  <a:lnTo>
                    <a:pt x="49" y="199"/>
                  </a:lnTo>
                  <a:lnTo>
                    <a:pt x="49" y="114"/>
                  </a:lnTo>
                  <a:lnTo>
                    <a:pt x="56" y="114"/>
                  </a:lnTo>
                  <a:lnTo>
                    <a:pt x="56" y="206"/>
                  </a:lnTo>
                  <a:lnTo>
                    <a:pt x="78" y="227"/>
                  </a:lnTo>
                  <a:lnTo>
                    <a:pt x="78" y="0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6699251" y="2847975"/>
              <a:ext cx="66675" cy="134937"/>
            </a:xfrm>
            <a:custGeom>
              <a:avLst/>
              <a:gdLst>
                <a:gd name="T0" fmla="*/ 0 w 42"/>
                <a:gd name="T1" fmla="*/ 0 h 85"/>
                <a:gd name="T2" fmla="*/ 0 w 42"/>
                <a:gd name="T3" fmla="*/ 85 h 85"/>
                <a:gd name="T4" fmla="*/ 28 w 42"/>
                <a:gd name="T5" fmla="*/ 85 h 85"/>
                <a:gd name="T6" fmla="*/ 28 w 42"/>
                <a:gd name="T7" fmla="*/ 35 h 85"/>
                <a:gd name="T8" fmla="*/ 35 w 42"/>
                <a:gd name="T9" fmla="*/ 35 h 85"/>
                <a:gd name="T10" fmla="*/ 35 w 42"/>
                <a:gd name="T11" fmla="*/ 85 h 85"/>
                <a:gd name="T12" fmla="*/ 42 w 42"/>
                <a:gd name="T13" fmla="*/ 85 h 85"/>
                <a:gd name="T14" fmla="*/ 42 w 42"/>
                <a:gd name="T15" fmla="*/ 0 h 85"/>
                <a:gd name="T16" fmla="*/ 0 w 42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85">
                  <a:moveTo>
                    <a:pt x="0" y="0"/>
                  </a:moveTo>
                  <a:lnTo>
                    <a:pt x="0" y="85"/>
                  </a:lnTo>
                  <a:lnTo>
                    <a:pt x="28" y="85"/>
                  </a:lnTo>
                  <a:lnTo>
                    <a:pt x="28" y="35"/>
                  </a:lnTo>
                  <a:lnTo>
                    <a:pt x="35" y="35"/>
                  </a:lnTo>
                  <a:lnTo>
                    <a:pt x="35" y="85"/>
                  </a:lnTo>
                  <a:lnTo>
                    <a:pt x="42" y="85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</p:grpSp>
      <p:sp>
        <p:nvSpPr>
          <p:cNvPr id="34" name="KSO_Shape"/>
          <p:cNvSpPr/>
          <p:nvPr/>
        </p:nvSpPr>
        <p:spPr>
          <a:xfrm>
            <a:off x="7466471" y="3266437"/>
            <a:ext cx="820358" cy="648080"/>
          </a:xfrm>
          <a:custGeom>
            <a:avLst/>
            <a:gdLst/>
            <a:ahLst/>
            <a:cxnLst/>
            <a:rect l="l" t="t" r="r" b="b"/>
            <a:pathLst>
              <a:path w="936104" h="739561">
                <a:moveTo>
                  <a:pt x="282640" y="667561"/>
                </a:moveTo>
                <a:lnTo>
                  <a:pt x="653465" y="667561"/>
                </a:lnTo>
                <a:lnTo>
                  <a:pt x="684077" y="739561"/>
                </a:lnTo>
                <a:lnTo>
                  <a:pt x="252028" y="739561"/>
                </a:lnTo>
                <a:close/>
                <a:moveTo>
                  <a:pt x="54052" y="52175"/>
                </a:moveTo>
                <a:lnTo>
                  <a:pt x="54052" y="520175"/>
                </a:lnTo>
                <a:lnTo>
                  <a:pt x="882052" y="520175"/>
                </a:lnTo>
                <a:lnTo>
                  <a:pt x="882052" y="52175"/>
                </a:lnTo>
                <a:close/>
                <a:moveTo>
                  <a:pt x="0" y="0"/>
                </a:moveTo>
                <a:lnTo>
                  <a:pt x="936104" y="0"/>
                </a:lnTo>
                <a:lnTo>
                  <a:pt x="936104" y="648000"/>
                </a:lnTo>
                <a:lnTo>
                  <a:pt x="0" y="64800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bIns="324000" anchor="ctr"/>
          <a:lstStyle/>
          <a:p>
            <a:pPr algn="ctr">
              <a:defRPr/>
            </a:pPr>
            <a:endParaRPr lang="zh-CN" altLang="en-US" kern="0" dirty="0">
              <a:solidFill>
                <a:prstClr val="black"/>
              </a:solidFill>
            </a:endParaRPr>
          </a:p>
        </p:txBody>
      </p:sp>
      <p:sp>
        <p:nvSpPr>
          <p:cNvPr id="35" name="KSO_Shape"/>
          <p:cNvSpPr>
            <a:spLocks/>
          </p:cNvSpPr>
          <p:nvPr/>
        </p:nvSpPr>
        <p:spPr bwMode="auto">
          <a:xfrm>
            <a:off x="6250761" y="4409587"/>
            <a:ext cx="406014" cy="376238"/>
          </a:xfrm>
          <a:custGeom>
            <a:avLst/>
            <a:gdLst>
              <a:gd name="T0" fmla="*/ 2147483646 w 5982"/>
              <a:gd name="T1" fmla="*/ 0 h 5544"/>
              <a:gd name="T2" fmla="*/ 2147483646 w 5982"/>
              <a:gd name="T3" fmla="*/ 2147483646 h 5544"/>
              <a:gd name="T4" fmla="*/ 2147483646 w 5982"/>
              <a:gd name="T5" fmla="*/ 2147483646 h 5544"/>
              <a:gd name="T6" fmla="*/ 2147483646 w 5982"/>
              <a:gd name="T7" fmla="*/ 2147483646 h 5544"/>
              <a:gd name="T8" fmla="*/ 2147483646 w 5982"/>
              <a:gd name="T9" fmla="*/ 2147483646 h 5544"/>
              <a:gd name="T10" fmla="*/ 1840863726 w 5982"/>
              <a:gd name="T11" fmla="*/ 2147483646 h 5544"/>
              <a:gd name="T12" fmla="*/ 904306876 w 5982"/>
              <a:gd name="T13" fmla="*/ 2147483646 h 5544"/>
              <a:gd name="T14" fmla="*/ 290651983 w 5982"/>
              <a:gd name="T15" fmla="*/ 2147483646 h 5544"/>
              <a:gd name="T16" fmla="*/ 0 w 5982"/>
              <a:gd name="T17" fmla="*/ 2147483646 h 5544"/>
              <a:gd name="T18" fmla="*/ 2147483646 w 5982"/>
              <a:gd name="T19" fmla="*/ 2147483646 h 5544"/>
              <a:gd name="T20" fmla="*/ 2147483646 w 5982"/>
              <a:gd name="T21" fmla="*/ 2147483646 h 5544"/>
              <a:gd name="T22" fmla="*/ 2147483646 w 5982"/>
              <a:gd name="T23" fmla="*/ 2147483646 h 5544"/>
              <a:gd name="T24" fmla="*/ 2147483646 w 5982"/>
              <a:gd name="T25" fmla="*/ 2147483646 h 5544"/>
              <a:gd name="T26" fmla="*/ 2147483646 w 5982"/>
              <a:gd name="T27" fmla="*/ 2147483646 h 5544"/>
              <a:gd name="T28" fmla="*/ 2147483646 w 5982"/>
              <a:gd name="T29" fmla="*/ 2147483646 h 5544"/>
              <a:gd name="T30" fmla="*/ 2147483646 w 5982"/>
              <a:gd name="T31" fmla="*/ 2147483646 h 5544"/>
              <a:gd name="T32" fmla="*/ 2147483646 w 5982"/>
              <a:gd name="T33" fmla="*/ 2147483646 h 5544"/>
              <a:gd name="T34" fmla="*/ 2147483646 w 5982"/>
              <a:gd name="T35" fmla="*/ 2147483646 h 5544"/>
              <a:gd name="T36" fmla="*/ 2147483646 w 5982"/>
              <a:gd name="T37" fmla="*/ 2147483646 h 5544"/>
              <a:gd name="T38" fmla="*/ 2147483646 w 5982"/>
              <a:gd name="T39" fmla="*/ 2147483646 h 5544"/>
              <a:gd name="T40" fmla="*/ 2147483646 w 5982"/>
              <a:gd name="T41" fmla="*/ 2147483646 h 5544"/>
              <a:gd name="T42" fmla="*/ 2147483646 w 5982"/>
              <a:gd name="T43" fmla="*/ 2147483646 h 5544"/>
              <a:gd name="T44" fmla="*/ 2147483646 w 5982"/>
              <a:gd name="T45" fmla="*/ 2147483646 h 5544"/>
              <a:gd name="T46" fmla="*/ 2147483646 w 5982"/>
              <a:gd name="T47" fmla="*/ 2147483646 h 5544"/>
              <a:gd name="T48" fmla="*/ 2147483646 w 5982"/>
              <a:gd name="T49" fmla="*/ 2147483646 h 5544"/>
              <a:gd name="T50" fmla="*/ 2147483646 w 5982"/>
              <a:gd name="T51" fmla="*/ 2147483646 h 5544"/>
              <a:gd name="T52" fmla="*/ 2147483646 w 5982"/>
              <a:gd name="T53" fmla="*/ 2147483646 h 5544"/>
              <a:gd name="T54" fmla="*/ 2147483646 w 5982"/>
              <a:gd name="T55" fmla="*/ 2147483646 h 5544"/>
              <a:gd name="T56" fmla="*/ 2147483646 w 5982"/>
              <a:gd name="T57" fmla="*/ 2147483646 h 5544"/>
              <a:gd name="T58" fmla="*/ 2147483646 w 5982"/>
              <a:gd name="T59" fmla="*/ 2147483646 h 5544"/>
              <a:gd name="T60" fmla="*/ 2147483646 w 5982"/>
              <a:gd name="T61" fmla="*/ 2147483646 h 5544"/>
              <a:gd name="T62" fmla="*/ 2147483646 w 5982"/>
              <a:gd name="T63" fmla="*/ 2147483646 h 5544"/>
              <a:gd name="T64" fmla="*/ 2147483646 w 5982"/>
              <a:gd name="T65" fmla="*/ 2147483646 h 5544"/>
              <a:gd name="T66" fmla="*/ 2147483646 w 5982"/>
              <a:gd name="T67" fmla="*/ 2147483646 h 5544"/>
              <a:gd name="T68" fmla="*/ 2147483646 w 5982"/>
              <a:gd name="T69" fmla="*/ 2147483646 h 5544"/>
              <a:gd name="T70" fmla="*/ 2147483646 w 5982"/>
              <a:gd name="T71" fmla="*/ 2147483646 h 5544"/>
              <a:gd name="T72" fmla="*/ 2147483646 w 5982"/>
              <a:gd name="T73" fmla="*/ 2147483646 h 5544"/>
              <a:gd name="T74" fmla="*/ 2147483646 w 5982"/>
              <a:gd name="T75" fmla="*/ 2147483646 h 5544"/>
              <a:gd name="T76" fmla="*/ 2147483646 w 5982"/>
              <a:gd name="T77" fmla="*/ 2147483646 h 5544"/>
              <a:gd name="T78" fmla="*/ 2147483646 w 5982"/>
              <a:gd name="T79" fmla="*/ 2147483646 h 5544"/>
              <a:gd name="T80" fmla="*/ 2147483646 w 5982"/>
              <a:gd name="T81" fmla="*/ 2147483646 h 5544"/>
              <a:gd name="T82" fmla="*/ 2147483646 w 5982"/>
              <a:gd name="T83" fmla="*/ 2147483646 h 5544"/>
              <a:gd name="T84" fmla="*/ 2147483646 w 5982"/>
              <a:gd name="T85" fmla="*/ 2147483646 h 5544"/>
              <a:gd name="T86" fmla="*/ 2147483646 w 5982"/>
              <a:gd name="T87" fmla="*/ 2147483646 h 5544"/>
              <a:gd name="T88" fmla="*/ 2147483646 w 5982"/>
              <a:gd name="T89" fmla="*/ 2147483646 h 5544"/>
              <a:gd name="T90" fmla="*/ 2147483646 w 5982"/>
              <a:gd name="T91" fmla="*/ 2147483646 h 5544"/>
              <a:gd name="T92" fmla="*/ 2147483646 w 5982"/>
              <a:gd name="T93" fmla="*/ 2147483646 h 5544"/>
              <a:gd name="T94" fmla="*/ 2147483646 w 5982"/>
              <a:gd name="T95" fmla="*/ 2147483646 h 5544"/>
              <a:gd name="T96" fmla="*/ 2147483646 w 5982"/>
              <a:gd name="T97" fmla="*/ 2147483646 h 5544"/>
              <a:gd name="T98" fmla="*/ 2147483646 w 5982"/>
              <a:gd name="T99" fmla="*/ 2147483646 h 5544"/>
              <a:gd name="T100" fmla="*/ 2147483646 w 5982"/>
              <a:gd name="T101" fmla="*/ 2147483646 h 5544"/>
              <a:gd name="T102" fmla="*/ 2147483646 w 5982"/>
              <a:gd name="T103" fmla="*/ 2147483646 h 5544"/>
              <a:gd name="T104" fmla="*/ 2147483646 w 5982"/>
              <a:gd name="T105" fmla="*/ 2147483646 h 5544"/>
              <a:gd name="T106" fmla="*/ 2147483646 w 5982"/>
              <a:gd name="T107" fmla="*/ 2147483646 h 5544"/>
              <a:gd name="T108" fmla="*/ 2147483646 w 5982"/>
              <a:gd name="T109" fmla="*/ 2147483646 h 5544"/>
              <a:gd name="T110" fmla="*/ 2147483646 w 5982"/>
              <a:gd name="T111" fmla="*/ 2147483646 h 5544"/>
              <a:gd name="T112" fmla="*/ 2147483646 w 5982"/>
              <a:gd name="T113" fmla="*/ 2147483646 h 5544"/>
              <a:gd name="T114" fmla="*/ 2147483646 w 5982"/>
              <a:gd name="T115" fmla="*/ 2147483646 h 5544"/>
              <a:gd name="T116" fmla="*/ 2147483646 w 5982"/>
              <a:gd name="T117" fmla="*/ 2147483646 h 5544"/>
              <a:gd name="T118" fmla="*/ 2147483646 w 5982"/>
              <a:gd name="T119" fmla="*/ 2147483646 h 5544"/>
              <a:gd name="T120" fmla="*/ 2147483646 w 5982"/>
              <a:gd name="T121" fmla="*/ 2147483646 h 5544"/>
              <a:gd name="T122" fmla="*/ 2147483646 w 5982"/>
              <a:gd name="T123" fmla="*/ 2147483646 h 5544"/>
              <a:gd name="T124" fmla="*/ 2147483646 w 5982"/>
              <a:gd name="T125" fmla="*/ 2147483646 h 5544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5982" h="5544">
                <a:moveTo>
                  <a:pt x="5691" y="1008"/>
                </a:moveTo>
                <a:lnTo>
                  <a:pt x="4765" y="1008"/>
                </a:lnTo>
                <a:lnTo>
                  <a:pt x="4765" y="0"/>
                </a:lnTo>
                <a:lnTo>
                  <a:pt x="1217" y="0"/>
                </a:lnTo>
                <a:lnTo>
                  <a:pt x="1217" y="1008"/>
                </a:lnTo>
                <a:lnTo>
                  <a:pt x="291" y="1008"/>
                </a:lnTo>
                <a:lnTo>
                  <a:pt x="275" y="1008"/>
                </a:lnTo>
                <a:lnTo>
                  <a:pt x="261" y="1009"/>
                </a:lnTo>
                <a:lnTo>
                  <a:pt x="246" y="1012"/>
                </a:lnTo>
                <a:lnTo>
                  <a:pt x="232" y="1014"/>
                </a:lnTo>
                <a:lnTo>
                  <a:pt x="217" y="1017"/>
                </a:lnTo>
                <a:lnTo>
                  <a:pt x="204" y="1021"/>
                </a:lnTo>
                <a:lnTo>
                  <a:pt x="190" y="1026"/>
                </a:lnTo>
                <a:lnTo>
                  <a:pt x="177" y="1031"/>
                </a:lnTo>
                <a:lnTo>
                  <a:pt x="164" y="1037"/>
                </a:lnTo>
                <a:lnTo>
                  <a:pt x="151" y="1043"/>
                </a:lnTo>
                <a:lnTo>
                  <a:pt x="139" y="1051"/>
                </a:lnTo>
                <a:lnTo>
                  <a:pt x="128" y="1057"/>
                </a:lnTo>
                <a:lnTo>
                  <a:pt x="116" y="1066"/>
                </a:lnTo>
                <a:lnTo>
                  <a:pt x="106" y="1074"/>
                </a:lnTo>
                <a:lnTo>
                  <a:pt x="84" y="1093"/>
                </a:lnTo>
                <a:lnTo>
                  <a:pt x="65" y="1114"/>
                </a:lnTo>
                <a:lnTo>
                  <a:pt x="57" y="1125"/>
                </a:lnTo>
                <a:lnTo>
                  <a:pt x="49" y="1137"/>
                </a:lnTo>
                <a:lnTo>
                  <a:pt x="41" y="1148"/>
                </a:lnTo>
                <a:lnTo>
                  <a:pt x="34" y="1160"/>
                </a:lnTo>
                <a:lnTo>
                  <a:pt x="28" y="1173"/>
                </a:lnTo>
                <a:lnTo>
                  <a:pt x="22" y="1186"/>
                </a:lnTo>
                <a:lnTo>
                  <a:pt x="16" y="1199"/>
                </a:lnTo>
                <a:lnTo>
                  <a:pt x="12" y="1212"/>
                </a:lnTo>
                <a:lnTo>
                  <a:pt x="9" y="1227"/>
                </a:lnTo>
                <a:lnTo>
                  <a:pt x="5" y="1240"/>
                </a:lnTo>
                <a:lnTo>
                  <a:pt x="3" y="1255"/>
                </a:lnTo>
                <a:lnTo>
                  <a:pt x="1" y="1269"/>
                </a:lnTo>
                <a:lnTo>
                  <a:pt x="0" y="1284"/>
                </a:lnTo>
                <a:lnTo>
                  <a:pt x="0" y="1299"/>
                </a:lnTo>
                <a:lnTo>
                  <a:pt x="0" y="3772"/>
                </a:lnTo>
                <a:lnTo>
                  <a:pt x="1217" y="3772"/>
                </a:lnTo>
                <a:lnTo>
                  <a:pt x="1217" y="4194"/>
                </a:lnTo>
                <a:lnTo>
                  <a:pt x="2567" y="5544"/>
                </a:lnTo>
                <a:lnTo>
                  <a:pt x="4765" y="5544"/>
                </a:lnTo>
                <a:lnTo>
                  <a:pt x="4765" y="3787"/>
                </a:lnTo>
                <a:lnTo>
                  <a:pt x="5982" y="3787"/>
                </a:lnTo>
                <a:lnTo>
                  <a:pt x="5982" y="1299"/>
                </a:lnTo>
                <a:lnTo>
                  <a:pt x="5982" y="1284"/>
                </a:lnTo>
                <a:lnTo>
                  <a:pt x="5981" y="1269"/>
                </a:lnTo>
                <a:lnTo>
                  <a:pt x="5979" y="1255"/>
                </a:lnTo>
                <a:lnTo>
                  <a:pt x="5976" y="1240"/>
                </a:lnTo>
                <a:lnTo>
                  <a:pt x="5973" y="1227"/>
                </a:lnTo>
                <a:lnTo>
                  <a:pt x="5969" y="1212"/>
                </a:lnTo>
                <a:lnTo>
                  <a:pt x="5964" y="1199"/>
                </a:lnTo>
                <a:lnTo>
                  <a:pt x="5959" y="1186"/>
                </a:lnTo>
                <a:lnTo>
                  <a:pt x="5953" y="1173"/>
                </a:lnTo>
                <a:lnTo>
                  <a:pt x="5946" y="1160"/>
                </a:lnTo>
                <a:lnTo>
                  <a:pt x="5940" y="1148"/>
                </a:lnTo>
                <a:lnTo>
                  <a:pt x="5932" y="1137"/>
                </a:lnTo>
                <a:lnTo>
                  <a:pt x="5924" y="1125"/>
                </a:lnTo>
                <a:lnTo>
                  <a:pt x="5915" y="1114"/>
                </a:lnTo>
                <a:lnTo>
                  <a:pt x="5896" y="1093"/>
                </a:lnTo>
                <a:lnTo>
                  <a:pt x="5876" y="1074"/>
                </a:lnTo>
                <a:lnTo>
                  <a:pt x="5865" y="1066"/>
                </a:lnTo>
                <a:lnTo>
                  <a:pt x="5854" y="1057"/>
                </a:lnTo>
                <a:lnTo>
                  <a:pt x="5841" y="1051"/>
                </a:lnTo>
                <a:lnTo>
                  <a:pt x="5829" y="1043"/>
                </a:lnTo>
                <a:lnTo>
                  <a:pt x="5817" y="1037"/>
                </a:lnTo>
                <a:lnTo>
                  <a:pt x="5804" y="1031"/>
                </a:lnTo>
                <a:lnTo>
                  <a:pt x="5791" y="1026"/>
                </a:lnTo>
                <a:lnTo>
                  <a:pt x="5777" y="1021"/>
                </a:lnTo>
                <a:lnTo>
                  <a:pt x="5763" y="1017"/>
                </a:lnTo>
                <a:lnTo>
                  <a:pt x="5749" y="1014"/>
                </a:lnTo>
                <a:lnTo>
                  <a:pt x="5735" y="1012"/>
                </a:lnTo>
                <a:lnTo>
                  <a:pt x="5720" y="1009"/>
                </a:lnTo>
                <a:lnTo>
                  <a:pt x="5705" y="1008"/>
                </a:lnTo>
                <a:lnTo>
                  <a:pt x="5691" y="1008"/>
                </a:lnTo>
                <a:close/>
                <a:moveTo>
                  <a:pt x="1559" y="342"/>
                </a:moveTo>
                <a:lnTo>
                  <a:pt x="4423" y="342"/>
                </a:lnTo>
                <a:lnTo>
                  <a:pt x="4423" y="1008"/>
                </a:lnTo>
                <a:lnTo>
                  <a:pt x="1559" y="1008"/>
                </a:lnTo>
                <a:lnTo>
                  <a:pt x="1559" y="342"/>
                </a:lnTo>
                <a:close/>
                <a:moveTo>
                  <a:pt x="5104" y="3310"/>
                </a:moveTo>
                <a:lnTo>
                  <a:pt x="4765" y="3310"/>
                </a:lnTo>
                <a:lnTo>
                  <a:pt x="4765" y="2632"/>
                </a:lnTo>
                <a:lnTo>
                  <a:pt x="4423" y="2632"/>
                </a:lnTo>
                <a:lnTo>
                  <a:pt x="4423" y="5202"/>
                </a:lnTo>
                <a:lnTo>
                  <a:pt x="3016" y="5202"/>
                </a:lnTo>
                <a:lnTo>
                  <a:pt x="2992" y="5201"/>
                </a:lnTo>
                <a:lnTo>
                  <a:pt x="2970" y="5198"/>
                </a:lnTo>
                <a:lnTo>
                  <a:pt x="2949" y="5194"/>
                </a:lnTo>
                <a:lnTo>
                  <a:pt x="2929" y="5188"/>
                </a:lnTo>
                <a:lnTo>
                  <a:pt x="2910" y="5181"/>
                </a:lnTo>
                <a:lnTo>
                  <a:pt x="2892" y="5172"/>
                </a:lnTo>
                <a:lnTo>
                  <a:pt x="2874" y="5162"/>
                </a:lnTo>
                <a:lnTo>
                  <a:pt x="2859" y="5150"/>
                </a:lnTo>
                <a:lnTo>
                  <a:pt x="2843" y="5136"/>
                </a:lnTo>
                <a:lnTo>
                  <a:pt x="2829" y="5123"/>
                </a:lnTo>
                <a:lnTo>
                  <a:pt x="2815" y="5107"/>
                </a:lnTo>
                <a:lnTo>
                  <a:pt x="2803" y="5090"/>
                </a:lnTo>
                <a:lnTo>
                  <a:pt x="2791" y="5073"/>
                </a:lnTo>
                <a:lnTo>
                  <a:pt x="2779" y="5054"/>
                </a:lnTo>
                <a:lnTo>
                  <a:pt x="2769" y="5034"/>
                </a:lnTo>
                <a:lnTo>
                  <a:pt x="2759" y="5012"/>
                </a:lnTo>
                <a:lnTo>
                  <a:pt x="2752" y="4991"/>
                </a:lnTo>
                <a:lnTo>
                  <a:pt x="2743" y="4969"/>
                </a:lnTo>
                <a:lnTo>
                  <a:pt x="2736" y="4945"/>
                </a:lnTo>
                <a:lnTo>
                  <a:pt x="2729" y="4922"/>
                </a:lnTo>
                <a:lnTo>
                  <a:pt x="2723" y="4896"/>
                </a:lnTo>
                <a:lnTo>
                  <a:pt x="2718" y="4872"/>
                </a:lnTo>
                <a:lnTo>
                  <a:pt x="2709" y="4819"/>
                </a:lnTo>
                <a:lnTo>
                  <a:pt x="2701" y="4766"/>
                </a:lnTo>
                <a:lnTo>
                  <a:pt x="2697" y="4710"/>
                </a:lnTo>
                <a:lnTo>
                  <a:pt x="2695" y="4654"/>
                </a:lnTo>
                <a:lnTo>
                  <a:pt x="2694" y="4598"/>
                </a:lnTo>
                <a:lnTo>
                  <a:pt x="2694" y="4542"/>
                </a:lnTo>
                <a:lnTo>
                  <a:pt x="2695" y="4485"/>
                </a:lnTo>
                <a:lnTo>
                  <a:pt x="2698" y="4430"/>
                </a:lnTo>
                <a:lnTo>
                  <a:pt x="2701" y="4377"/>
                </a:lnTo>
                <a:lnTo>
                  <a:pt x="2706" y="4324"/>
                </a:lnTo>
                <a:lnTo>
                  <a:pt x="2710" y="4274"/>
                </a:lnTo>
                <a:lnTo>
                  <a:pt x="2721" y="4183"/>
                </a:lnTo>
                <a:lnTo>
                  <a:pt x="2733" y="4106"/>
                </a:lnTo>
                <a:lnTo>
                  <a:pt x="2743" y="4047"/>
                </a:lnTo>
                <a:lnTo>
                  <a:pt x="2752" y="3994"/>
                </a:lnTo>
                <a:lnTo>
                  <a:pt x="2701" y="4005"/>
                </a:lnTo>
                <a:lnTo>
                  <a:pt x="2643" y="4018"/>
                </a:lnTo>
                <a:lnTo>
                  <a:pt x="2567" y="4031"/>
                </a:lnTo>
                <a:lnTo>
                  <a:pt x="2478" y="4044"/>
                </a:lnTo>
                <a:lnTo>
                  <a:pt x="2429" y="4051"/>
                </a:lnTo>
                <a:lnTo>
                  <a:pt x="2379" y="4057"/>
                </a:lnTo>
                <a:lnTo>
                  <a:pt x="2325" y="4061"/>
                </a:lnTo>
                <a:lnTo>
                  <a:pt x="2272" y="4065"/>
                </a:lnTo>
                <a:lnTo>
                  <a:pt x="2217" y="4069"/>
                </a:lnTo>
                <a:lnTo>
                  <a:pt x="2161" y="4070"/>
                </a:lnTo>
                <a:lnTo>
                  <a:pt x="2106" y="4070"/>
                </a:lnTo>
                <a:lnTo>
                  <a:pt x="2051" y="4068"/>
                </a:lnTo>
                <a:lnTo>
                  <a:pt x="1996" y="4064"/>
                </a:lnTo>
                <a:lnTo>
                  <a:pt x="1943" y="4058"/>
                </a:lnTo>
                <a:lnTo>
                  <a:pt x="1917" y="4054"/>
                </a:lnTo>
                <a:lnTo>
                  <a:pt x="1891" y="4050"/>
                </a:lnTo>
                <a:lnTo>
                  <a:pt x="1867" y="4044"/>
                </a:lnTo>
                <a:lnTo>
                  <a:pt x="1842" y="4039"/>
                </a:lnTo>
                <a:lnTo>
                  <a:pt x="1819" y="4032"/>
                </a:lnTo>
                <a:lnTo>
                  <a:pt x="1796" y="4025"/>
                </a:lnTo>
                <a:lnTo>
                  <a:pt x="1773" y="4016"/>
                </a:lnTo>
                <a:lnTo>
                  <a:pt x="1752" y="4007"/>
                </a:lnTo>
                <a:lnTo>
                  <a:pt x="1731" y="3999"/>
                </a:lnTo>
                <a:lnTo>
                  <a:pt x="1712" y="3987"/>
                </a:lnTo>
                <a:lnTo>
                  <a:pt x="1693" y="3976"/>
                </a:lnTo>
                <a:lnTo>
                  <a:pt x="1675" y="3964"/>
                </a:lnTo>
                <a:lnTo>
                  <a:pt x="1658" y="3952"/>
                </a:lnTo>
                <a:lnTo>
                  <a:pt x="1643" y="3937"/>
                </a:lnTo>
                <a:lnTo>
                  <a:pt x="1628" y="3923"/>
                </a:lnTo>
                <a:lnTo>
                  <a:pt x="1615" y="3906"/>
                </a:lnTo>
                <a:lnTo>
                  <a:pt x="1603" y="3889"/>
                </a:lnTo>
                <a:lnTo>
                  <a:pt x="1593" y="3871"/>
                </a:lnTo>
                <a:lnTo>
                  <a:pt x="1583" y="3852"/>
                </a:lnTo>
                <a:lnTo>
                  <a:pt x="1575" y="3832"/>
                </a:lnTo>
                <a:lnTo>
                  <a:pt x="1569" y="3811"/>
                </a:lnTo>
                <a:lnTo>
                  <a:pt x="1564" y="3789"/>
                </a:lnTo>
                <a:lnTo>
                  <a:pt x="1561" y="3765"/>
                </a:lnTo>
                <a:lnTo>
                  <a:pt x="1559" y="3741"/>
                </a:lnTo>
                <a:lnTo>
                  <a:pt x="1559" y="2632"/>
                </a:lnTo>
                <a:lnTo>
                  <a:pt x="1217" y="2632"/>
                </a:lnTo>
                <a:lnTo>
                  <a:pt x="1217" y="3296"/>
                </a:lnTo>
                <a:lnTo>
                  <a:pt x="876" y="3296"/>
                </a:lnTo>
                <a:lnTo>
                  <a:pt x="876" y="2141"/>
                </a:lnTo>
                <a:lnTo>
                  <a:pt x="5104" y="2141"/>
                </a:lnTo>
                <a:lnTo>
                  <a:pt x="5104" y="3310"/>
                </a:lnTo>
                <a:close/>
                <a:moveTo>
                  <a:pt x="5350" y="1722"/>
                </a:moveTo>
                <a:lnTo>
                  <a:pt x="5350" y="1722"/>
                </a:lnTo>
                <a:lnTo>
                  <a:pt x="5325" y="1721"/>
                </a:lnTo>
                <a:lnTo>
                  <a:pt x="5303" y="1718"/>
                </a:lnTo>
                <a:lnTo>
                  <a:pt x="5280" y="1712"/>
                </a:lnTo>
                <a:lnTo>
                  <a:pt x="5258" y="1704"/>
                </a:lnTo>
                <a:lnTo>
                  <a:pt x="5238" y="1694"/>
                </a:lnTo>
                <a:lnTo>
                  <a:pt x="5219" y="1682"/>
                </a:lnTo>
                <a:lnTo>
                  <a:pt x="5201" y="1669"/>
                </a:lnTo>
                <a:lnTo>
                  <a:pt x="5184" y="1654"/>
                </a:lnTo>
                <a:lnTo>
                  <a:pt x="5169" y="1637"/>
                </a:lnTo>
                <a:lnTo>
                  <a:pt x="5155" y="1619"/>
                </a:lnTo>
                <a:lnTo>
                  <a:pt x="5144" y="1601"/>
                </a:lnTo>
                <a:lnTo>
                  <a:pt x="5134" y="1579"/>
                </a:lnTo>
                <a:lnTo>
                  <a:pt x="5126" y="1558"/>
                </a:lnTo>
                <a:lnTo>
                  <a:pt x="5121" y="1536"/>
                </a:lnTo>
                <a:lnTo>
                  <a:pt x="5117" y="1512"/>
                </a:lnTo>
                <a:lnTo>
                  <a:pt x="5116" y="1489"/>
                </a:lnTo>
                <a:lnTo>
                  <a:pt x="5117" y="1466"/>
                </a:lnTo>
                <a:lnTo>
                  <a:pt x="5121" y="1442"/>
                </a:lnTo>
                <a:lnTo>
                  <a:pt x="5126" y="1420"/>
                </a:lnTo>
                <a:lnTo>
                  <a:pt x="5134" y="1399"/>
                </a:lnTo>
                <a:lnTo>
                  <a:pt x="5144" y="1379"/>
                </a:lnTo>
                <a:lnTo>
                  <a:pt x="5155" y="1359"/>
                </a:lnTo>
                <a:lnTo>
                  <a:pt x="5169" y="1341"/>
                </a:lnTo>
                <a:lnTo>
                  <a:pt x="5184" y="1324"/>
                </a:lnTo>
                <a:lnTo>
                  <a:pt x="5201" y="1309"/>
                </a:lnTo>
                <a:lnTo>
                  <a:pt x="5219" y="1296"/>
                </a:lnTo>
                <a:lnTo>
                  <a:pt x="5238" y="1284"/>
                </a:lnTo>
                <a:lnTo>
                  <a:pt x="5258" y="1275"/>
                </a:lnTo>
                <a:lnTo>
                  <a:pt x="5280" y="1267"/>
                </a:lnTo>
                <a:lnTo>
                  <a:pt x="5303" y="1261"/>
                </a:lnTo>
                <a:lnTo>
                  <a:pt x="5325" y="1257"/>
                </a:lnTo>
                <a:lnTo>
                  <a:pt x="5350" y="1256"/>
                </a:lnTo>
                <a:lnTo>
                  <a:pt x="5373" y="1257"/>
                </a:lnTo>
                <a:lnTo>
                  <a:pt x="5396" y="1261"/>
                </a:lnTo>
                <a:lnTo>
                  <a:pt x="5419" y="1267"/>
                </a:lnTo>
                <a:lnTo>
                  <a:pt x="5440" y="1275"/>
                </a:lnTo>
                <a:lnTo>
                  <a:pt x="5460" y="1284"/>
                </a:lnTo>
                <a:lnTo>
                  <a:pt x="5479" y="1296"/>
                </a:lnTo>
                <a:lnTo>
                  <a:pt x="5497" y="1309"/>
                </a:lnTo>
                <a:lnTo>
                  <a:pt x="5513" y="1324"/>
                </a:lnTo>
                <a:lnTo>
                  <a:pt x="5529" y="1341"/>
                </a:lnTo>
                <a:lnTo>
                  <a:pt x="5542" y="1359"/>
                </a:lnTo>
                <a:lnTo>
                  <a:pt x="5554" y="1379"/>
                </a:lnTo>
                <a:lnTo>
                  <a:pt x="5564" y="1399"/>
                </a:lnTo>
                <a:lnTo>
                  <a:pt x="5571" y="1420"/>
                </a:lnTo>
                <a:lnTo>
                  <a:pt x="5577" y="1442"/>
                </a:lnTo>
                <a:lnTo>
                  <a:pt x="5580" y="1466"/>
                </a:lnTo>
                <a:lnTo>
                  <a:pt x="5582" y="1489"/>
                </a:lnTo>
                <a:lnTo>
                  <a:pt x="5580" y="1512"/>
                </a:lnTo>
                <a:lnTo>
                  <a:pt x="5577" y="1536"/>
                </a:lnTo>
                <a:lnTo>
                  <a:pt x="5571" y="1558"/>
                </a:lnTo>
                <a:lnTo>
                  <a:pt x="5564" y="1579"/>
                </a:lnTo>
                <a:lnTo>
                  <a:pt x="5554" y="1601"/>
                </a:lnTo>
                <a:lnTo>
                  <a:pt x="5542" y="1619"/>
                </a:lnTo>
                <a:lnTo>
                  <a:pt x="5529" y="1637"/>
                </a:lnTo>
                <a:lnTo>
                  <a:pt x="5513" y="1654"/>
                </a:lnTo>
                <a:lnTo>
                  <a:pt x="5497" y="1669"/>
                </a:lnTo>
                <a:lnTo>
                  <a:pt x="5479" y="1682"/>
                </a:lnTo>
                <a:lnTo>
                  <a:pt x="5460" y="1694"/>
                </a:lnTo>
                <a:lnTo>
                  <a:pt x="5440" y="1704"/>
                </a:lnTo>
                <a:lnTo>
                  <a:pt x="5419" y="1712"/>
                </a:lnTo>
                <a:lnTo>
                  <a:pt x="5396" y="1718"/>
                </a:lnTo>
                <a:lnTo>
                  <a:pt x="5373" y="1721"/>
                </a:lnTo>
                <a:lnTo>
                  <a:pt x="5350" y="1722"/>
                </a:lnTo>
                <a:close/>
                <a:moveTo>
                  <a:pt x="4016" y="2679"/>
                </a:moveTo>
                <a:lnTo>
                  <a:pt x="2045" y="2679"/>
                </a:lnTo>
                <a:lnTo>
                  <a:pt x="2045" y="3023"/>
                </a:lnTo>
                <a:lnTo>
                  <a:pt x="4016" y="3023"/>
                </a:lnTo>
                <a:lnTo>
                  <a:pt x="4016" y="2679"/>
                </a:lnTo>
                <a:close/>
                <a:moveTo>
                  <a:pt x="2045" y="3695"/>
                </a:moveTo>
                <a:lnTo>
                  <a:pt x="4016" y="3695"/>
                </a:lnTo>
                <a:lnTo>
                  <a:pt x="4016" y="3352"/>
                </a:lnTo>
                <a:lnTo>
                  <a:pt x="2045" y="3352"/>
                </a:lnTo>
                <a:lnTo>
                  <a:pt x="2045" y="36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</a:endParaRPr>
          </a:p>
        </p:txBody>
      </p:sp>
      <p:sp>
        <p:nvSpPr>
          <p:cNvPr id="36" name="KSO_Shape"/>
          <p:cNvSpPr>
            <a:spLocks/>
          </p:cNvSpPr>
          <p:nvPr/>
        </p:nvSpPr>
        <p:spPr bwMode="auto">
          <a:xfrm>
            <a:off x="4778754" y="4924050"/>
            <a:ext cx="573058" cy="568284"/>
          </a:xfrm>
          <a:custGeom>
            <a:avLst/>
            <a:gdLst>
              <a:gd name="T0" fmla="*/ 0 w 1438275"/>
              <a:gd name="T1" fmla="*/ 2252360 h 1425575"/>
              <a:gd name="T2" fmla="*/ 365180 w 1438275"/>
              <a:gd name="T3" fmla="*/ 2252360 h 1425575"/>
              <a:gd name="T4" fmla="*/ 365180 w 1438275"/>
              <a:gd name="T5" fmla="*/ 2946274 h 1425575"/>
              <a:gd name="T6" fmla="*/ 2979731 w 1438275"/>
              <a:gd name="T7" fmla="*/ 2946274 h 1425575"/>
              <a:gd name="T8" fmla="*/ 2979731 w 1438275"/>
              <a:gd name="T9" fmla="*/ 2252360 h 1425575"/>
              <a:gd name="T10" fmla="*/ 3341959 w 1438275"/>
              <a:gd name="T11" fmla="*/ 2252360 h 1425575"/>
              <a:gd name="T12" fmla="*/ 3341959 w 1438275"/>
              <a:gd name="T13" fmla="*/ 3315771 h 1425575"/>
              <a:gd name="T14" fmla="*/ 0 w 1438275"/>
              <a:gd name="T15" fmla="*/ 3315771 h 1425575"/>
              <a:gd name="T16" fmla="*/ 1209893 w 1438275"/>
              <a:gd name="T17" fmla="*/ 0 h 1425575"/>
              <a:gd name="T18" fmla="*/ 2154199 w 1438275"/>
              <a:gd name="T19" fmla="*/ 0 h 1425575"/>
              <a:gd name="T20" fmla="*/ 2154199 w 1438275"/>
              <a:gd name="T21" fmla="*/ 1183932 h 1425575"/>
              <a:gd name="T22" fmla="*/ 2725946 w 1438275"/>
              <a:gd name="T23" fmla="*/ 1183932 h 1425575"/>
              <a:gd name="T24" fmla="*/ 1682783 w 1438275"/>
              <a:gd name="T25" fmla="*/ 2632679 h 1425575"/>
              <a:gd name="T26" fmla="*/ 1681307 w 1438275"/>
              <a:gd name="T27" fmla="*/ 2632679 h 1425575"/>
              <a:gd name="T28" fmla="*/ 638144 w 1438275"/>
              <a:gd name="T29" fmla="*/ 1183932 h 1425575"/>
              <a:gd name="T30" fmla="*/ 1209893 w 1438275"/>
              <a:gd name="T31" fmla="*/ 1183932 h 142557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438275" h="1425575">
                <a:moveTo>
                  <a:pt x="0" y="968375"/>
                </a:moveTo>
                <a:lnTo>
                  <a:pt x="157162" y="968375"/>
                </a:lnTo>
                <a:lnTo>
                  <a:pt x="157162" y="1266715"/>
                </a:lnTo>
                <a:lnTo>
                  <a:pt x="1282383" y="1266715"/>
                </a:lnTo>
                <a:lnTo>
                  <a:pt x="1282383" y="968375"/>
                </a:lnTo>
                <a:lnTo>
                  <a:pt x="1438275" y="968375"/>
                </a:lnTo>
                <a:lnTo>
                  <a:pt x="1438275" y="1425575"/>
                </a:lnTo>
                <a:lnTo>
                  <a:pt x="0" y="1425575"/>
                </a:lnTo>
                <a:lnTo>
                  <a:pt x="0" y="968375"/>
                </a:lnTo>
                <a:close/>
                <a:moveTo>
                  <a:pt x="520700" y="0"/>
                </a:moveTo>
                <a:lnTo>
                  <a:pt x="927100" y="0"/>
                </a:lnTo>
                <a:lnTo>
                  <a:pt x="927100" y="509017"/>
                </a:lnTo>
                <a:lnTo>
                  <a:pt x="1173162" y="509017"/>
                </a:lnTo>
                <a:lnTo>
                  <a:pt x="724217" y="1131888"/>
                </a:lnTo>
                <a:lnTo>
                  <a:pt x="723582" y="1131888"/>
                </a:lnTo>
                <a:lnTo>
                  <a:pt x="274637" y="509017"/>
                </a:lnTo>
                <a:lnTo>
                  <a:pt x="520700" y="509017"/>
                </a:lnTo>
                <a:lnTo>
                  <a:pt x="5207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</a:endParaRPr>
          </a:p>
        </p:txBody>
      </p:sp>
      <p:sp>
        <p:nvSpPr>
          <p:cNvPr id="53" name="圆角矩形 52"/>
          <p:cNvSpPr/>
          <p:nvPr/>
        </p:nvSpPr>
        <p:spPr>
          <a:xfrm flipH="1">
            <a:off x="3907536" y="5102867"/>
            <a:ext cx="26887" cy="1116000"/>
          </a:xfrm>
          <a:prstGeom prst="roundRect">
            <a:avLst/>
          </a:prstGeom>
          <a:gradFill>
            <a:gsLst>
              <a:gs pos="0">
                <a:srgbClr val="73E14F"/>
              </a:gs>
              <a:gs pos="100000">
                <a:srgbClr val="1F203F"/>
              </a:gs>
              <a:gs pos="21000">
                <a:srgbClr val="73E14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4" name="圆角矩形 53"/>
          <p:cNvSpPr/>
          <p:nvPr/>
        </p:nvSpPr>
        <p:spPr>
          <a:xfrm flipH="1">
            <a:off x="4911338" y="2395565"/>
            <a:ext cx="26887" cy="1116000"/>
          </a:xfrm>
          <a:prstGeom prst="roundRect">
            <a:avLst/>
          </a:prstGeom>
          <a:gradFill>
            <a:gsLst>
              <a:gs pos="0">
                <a:srgbClr val="ED1E79"/>
              </a:gs>
              <a:gs pos="100000">
                <a:srgbClr val="1F203F"/>
              </a:gs>
              <a:gs pos="21000">
                <a:srgbClr val="ED1E79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 flipH="1">
            <a:off x="6864411" y="5387612"/>
            <a:ext cx="26887" cy="1116000"/>
          </a:xfrm>
          <a:prstGeom prst="roundRect">
            <a:avLst/>
          </a:prstGeom>
          <a:gradFill>
            <a:gsLst>
              <a:gs pos="0">
                <a:srgbClr val="FBCB1D"/>
              </a:gs>
              <a:gs pos="100000">
                <a:srgbClr val="1F203F"/>
              </a:gs>
              <a:gs pos="21000">
                <a:srgbClr val="FBCB1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966549" y="4093801"/>
            <a:ext cx="992038" cy="992038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003553" y="3092910"/>
            <a:ext cx="1171234" cy="117123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95698" y="4466599"/>
            <a:ext cx="1511350" cy="1511348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905971" y="2658730"/>
            <a:ext cx="1896020" cy="1896018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48" name="矩形 47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1183484" y="410578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待解决问题</a:t>
            </a:r>
          </a:p>
        </p:txBody>
      </p:sp>
    </p:spTree>
    <p:extLst>
      <p:ext uri="{BB962C8B-B14F-4D97-AF65-F5344CB8AC3E}">
        <p14:creationId xmlns:p14="http://schemas.microsoft.com/office/powerpoint/2010/main" val="4942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5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5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25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5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8" presetClass="emph" presetSubtype="0" fill="hold" grpId="1" nodeType="withEffect">
                                  <p:stCondLst>
                                    <p:cond delay="125"/>
                                  </p:stCondLst>
                                  <p:childTnLst>
                                    <p:animRot by="21600000">
                                      <p:cBhvr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" presetID="21" presetClass="entr" presetSubtype="1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8" presetClass="emph" presetSubtype="0" fill="hold" grpId="1" nodeType="withEffect">
                                  <p:stCondLst>
                                    <p:cond delay="425"/>
                                  </p:stCondLst>
                                  <p:childTnLst>
                                    <p:animRot by="21600000">
                                      <p:cBhvr>
                                        <p:cTn id="1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0" grpId="0" animBg="1"/>
      <p:bldP spid="11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53" grpId="0" animBg="1"/>
      <p:bldP spid="54" grpId="0" animBg="1"/>
      <p:bldP spid="56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/>
          <p:cNvSpPr/>
          <p:nvPr/>
        </p:nvSpPr>
        <p:spPr>
          <a:xfrm>
            <a:off x="5356395" y="5772279"/>
            <a:ext cx="1844108" cy="1814744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 rot="10800000">
            <a:off x="5749147" y="1487533"/>
            <a:ext cx="3422117" cy="3946128"/>
            <a:chOff x="5005428" y="2771466"/>
            <a:chExt cx="3422117" cy="3946128"/>
          </a:xfrm>
        </p:grpSpPr>
        <p:sp>
          <p:nvSpPr>
            <p:cNvPr id="83" name="等腰三角形 82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6" name="等腰三角形 85"/>
            <p:cNvSpPr/>
            <p:nvPr/>
          </p:nvSpPr>
          <p:spPr>
            <a:xfrm rot="6510591">
              <a:off x="4963117" y="2813777"/>
              <a:ext cx="237910" cy="153288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等腰三角形 86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9" name="等腰三角形 88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1" name="等腰三角形 90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2" name="等腰三角形 91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椭圆 15"/>
          <p:cNvSpPr>
            <a:spLocks noChangeAspect="1"/>
          </p:cNvSpPr>
          <p:nvPr/>
        </p:nvSpPr>
        <p:spPr>
          <a:xfrm rot="18000000">
            <a:off x="2413218" y="2918886"/>
            <a:ext cx="7901276" cy="790127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>
            <a:spLocks noChangeAspect="1"/>
          </p:cNvSpPr>
          <p:nvPr/>
        </p:nvSpPr>
        <p:spPr>
          <a:xfrm rot="19842885">
            <a:off x="4143957" y="4455686"/>
            <a:ext cx="4421184" cy="442118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>
            <a:spLocks noChangeAspect="1"/>
          </p:cNvSpPr>
          <p:nvPr/>
        </p:nvSpPr>
        <p:spPr>
          <a:xfrm rot="19800000">
            <a:off x="4692718" y="5073841"/>
            <a:ext cx="3176354" cy="3176350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>
            <a:spLocks noChangeAspect="1"/>
          </p:cNvSpPr>
          <p:nvPr/>
        </p:nvSpPr>
        <p:spPr>
          <a:xfrm rot="18522828">
            <a:off x="3359117" y="3670847"/>
            <a:ext cx="5990864" cy="5990862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rgbClr val="FBC91B"/>
                </a:gs>
                <a:gs pos="34000">
                  <a:srgbClr val="FBC91B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853544" y="4128827"/>
            <a:ext cx="1400252" cy="1400252"/>
            <a:chOff x="3909333" y="2043501"/>
            <a:chExt cx="2020498" cy="2020498"/>
          </a:xfrm>
        </p:grpSpPr>
        <p:sp>
          <p:nvSpPr>
            <p:cNvPr id="53" name="椭圆 52"/>
            <p:cNvSpPr/>
            <p:nvPr/>
          </p:nvSpPr>
          <p:spPr>
            <a:xfrm>
              <a:off x="3909333" y="2043501"/>
              <a:ext cx="2020498" cy="2020498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4167120" y="2301289"/>
              <a:ext cx="1504922" cy="1504922"/>
            </a:xfrm>
            <a:prstGeom prst="ellipse">
              <a:avLst/>
            </a:prstGeom>
            <a:gradFill>
              <a:gsLst>
                <a:gs pos="0">
                  <a:srgbClr val="73E14F"/>
                </a:gs>
                <a:gs pos="100000">
                  <a:srgbClr val="0FA51E"/>
                </a:gs>
                <a:gs pos="64000">
                  <a:srgbClr val="41C5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87</a:t>
              </a:r>
              <a:r>
                <a:rPr lang="en-US" altLang="zh-CN" sz="1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endParaRPr lang="zh-CN" altLang="en-US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椭圆 55"/>
          <p:cNvSpPr/>
          <p:nvPr/>
        </p:nvSpPr>
        <p:spPr>
          <a:xfrm>
            <a:off x="9295294" y="5147295"/>
            <a:ext cx="1400252" cy="1400252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473946" y="5325948"/>
            <a:ext cx="1042946" cy="1042946"/>
          </a:xfrm>
          <a:prstGeom prst="ellipse">
            <a:avLst/>
          </a:prstGeom>
          <a:gradFill>
            <a:gsLst>
              <a:gs pos="0">
                <a:srgbClr val="57D3FF"/>
              </a:gs>
              <a:gs pos="100000">
                <a:srgbClr val="5D63FE"/>
              </a:gs>
              <a:gs pos="64000">
                <a:srgbClr val="44ADFE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674858" y="5567637"/>
            <a:ext cx="692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r>
              <a:rPr lang="en-US" altLang="zh-CN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781151" y="5170532"/>
            <a:ext cx="1400252" cy="1400252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59803" y="5349185"/>
            <a:ext cx="1042946" cy="1042946"/>
            <a:chOff x="2959803" y="5349185"/>
            <a:chExt cx="1042946" cy="1042946"/>
          </a:xfrm>
        </p:grpSpPr>
        <p:sp>
          <p:nvSpPr>
            <p:cNvPr id="63" name="椭圆 62"/>
            <p:cNvSpPr/>
            <p:nvPr/>
          </p:nvSpPr>
          <p:spPr>
            <a:xfrm>
              <a:off x="2959803" y="5349185"/>
              <a:ext cx="1042946" cy="1042946"/>
            </a:xfrm>
            <a:prstGeom prst="ellipse">
              <a:avLst/>
            </a:prstGeom>
            <a:gradFill>
              <a:gsLst>
                <a:gs pos="0">
                  <a:srgbClr val="FCD320"/>
                </a:gs>
                <a:gs pos="100000">
                  <a:srgbClr val="F07D0D"/>
                </a:gs>
                <a:gs pos="64000">
                  <a:srgbClr val="FABA15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3134867" y="5583798"/>
              <a:ext cx="6928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r>
                <a:rPr lang="en-US" altLang="zh-CN" sz="1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%</a:t>
              </a:r>
              <a:endParaRPr lang="zh-CN" altLang="en-US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椭圆 67"/>
          <p:cNvSpPr/>
          <p:nvPr/>
        </p:nvSpPr>
        <p:spPr>
          <a:xfrm>
            <a:off x="4947656" y="4788931"/>
            <a:ext cx="1120508" cy="1120508"/>
          </a:xfrm>
          <a:prstGeom prst="ellipse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5090617" y="4931892"/>
            <a:ext cx="834585" cy="834585"/>
          </a:xfrm>
          <a:prstGeom prst="ellipse">
            <a:avLst/>
          </a:prstGeom>
          <a:solidFill>
            <a:srgbClr val="ED1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173687" y="5054374"/>
            <a:ext cx="692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en-US" altLang="zh-CN" sz="1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2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563091" y="593520"/>
            <a:ext cx="2557493" cy="1862048"/>
            <a:chOff x="6254414" y="72009"/>
            <a:chExt cx="2557493" cy="1862048"/>
          </a:xfrm>
        </p:grpSpPr>
        <p:sp>
          <p:nvSpPr>
            <p:cNvPr id="33" name="矩形 32"/>
            <p:cNvSpPr/>
            <p:nvPr/>
          </p:nvSpPr>
          <p:spPr>
            <a:xfrm>
              <a:off x="6254414" y="72009"/>
              <a:ext cx="1659429" cy="1862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缺</a:t>
              </a:r>
              <a:endParaRPr lang="zh-CN" altLang="en-US" sz="60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104587" y="804506"/>
              <a:ext cx="170732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缺点</a:t>
              </a:r>
              <a:r>
                <a:rPr lang="en-US" altLang="zh-CN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7497619" y="2342392"/>
            <a:ext cx="314890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技术不成熟</a:t>
            </a:r>
            <a:endParaRPr lang="en-US" altLang="zh-CN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功能不完善</a:t>
            </a:r>
            <a:endParaRPr lang="en-US" altLang="zh-CN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响应速度慢</a:t>
            </a:r>
            <a:endParaRPr lang="en-US" altLang="zh-CN" sz="2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5786" y="3112347"/>
            <a:ext cx="3638348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利息低</a:t>
            </a:r>
            <a:endParaRPr lang="en-US" altLang="zh-CN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界面简洁</a:t>
            </a:r>
            <a:endParaRPr lang="en-US" altLang="zh-CN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操作简单</a:t>
            </a:r>
            <a:endParaRPr lang="en-US" altLang="zh-CN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开发成本低</a:t>
            </a:r>
            <a:endParaRPr lang="en-US" altLang="zh-CN" sz="28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44729" y="1376933"/>
            <a:ext cx="2415074" cy="1862048"/>
            <a:chOff x="6314041" y="-325525"/>
            <a:chExt cx="2415074" cy="1862048"/>
          </a:xfrm>
        </p:grpSpPr>
        <p:sp>
          <p:nvSpPr>
            <p:cNvPr id="38" name="矩形 37"/>
            <p:cNvSpPr/>
            <p:nvPr/>
          </p:nvSpPr>
          <p:spPr>
            <a:xfrm>
              <a:off x="6314041" y="-325525"/>
              <a:ext cx="1659429" cy="1862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7206690" y="536413"/>
              <a:ext cx="152242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优 点</a:t>
              </a:r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965024" y="2003324"/>
            <a:ext cx="2307558" cy="3174960"/>
            <a:chOff x="5650588" y="1448539"/>
            <a:chExt cx="2307558" cy="3174960"/>
          </a:xfrm>
        </p:grpSpPr>
        <p:sp>
          <p:nvSpPr>
            <p:cNvPr id="75" name="等腰三角形 74"/>
            <p:cNvSpPr/>
            <p:nvPr/>
          </p:nvSpPr>
          <p:spPr>
            <a:xfrm rot="10110591">
              <a:off x="6544491" y="23118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/>
            <p:cNvSpPr/>
            <p:nvPr/>
          </p:nvSpPr>
          <p:spPr>
            <a:xfrm rot="10110591">
              <a:off x="5650588" y="163874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/>
            <p:cNvSpPr/>
            <p:nvPr/>
          </p:nvSpPr>
          <p:spPr>
            <a:xfrm rot="10110591">
              <a:off x="7544518" y="1448539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/>
            <p:cNvSpPr/>
            <p:nvPr/>
          </p:nvSpPr>
          <p:spPr>
            <a:xfrm rot="3810591">
              <a:off x="5653535" y="4391816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/>
            <p:cNvSpPr/>
            <p:nvPr/>
          </p:nvSpPr>
          <p:spPr>
            <a:xfrm rot="10110591">
              <a:off x="7389048" y="3216201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45" name="矩形 44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089742" y="429637"/>
            <a:ext cx="4783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优缺点分析</a:t>
            </a:r>
          </a:p>
        </p:txBody>
      </p:sp>
    </p:spTree>
    <p:extLst>
      <p:ext uri="{BB962C8B-B14F-4D97-AF65-F5344CB8AC3E}">
        <p14:creationId xmlns:p14="http://schemas.microsoft.com/office/powerpoint/2010/main" val="312104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36" fill="hold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7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4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23" presetClass="entr" presetSubtype="27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35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椭圆 68"/>
          <p:cNvSpPr/>
          <p:nvPr/>
        </p:nvSpPr>
        <p:spPr>
          <a:xfrm>
            <a:off x="5353799" y="-1077783"/>
            <a:ext cx="1844108" cy="1814744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4139767" y="5720470"/>
            <a:ext cx="709724" cy="709724"/>
          </a:xfrm>
          <a:prstGeom prst="ellipse">
            <a:avLst/>
          </a:prstGeom>
          <a:gradFill>
            <a:gsLst>
              <a:gs pos="0">
                <a:srgbClr val="73E14F"/>
              </a:gs>
              <a:gs pos="100000">
                <a:srgbClr val="0FA51E"/>
              </a:gs>
              <a:gs pos="64000">
                <a:srgbClr val="41C52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6932056" y="4271724"/>
            <a:ext cx="709724" cy="709724"/>
          </a:xfrm>
          <a:prstGeom prst="ellipse">
            <a:avLst/>
          </a:prstGeom>
          <a:gradFill>
            <a:gsLst>
              <a:gs pos="0">
                <a:srgbClr val="57D3FF"/>
              </a:gs>
              <a:gs pos="100000">
                <a:srgbClr val="5D63FE"/>
              </a:gs>
              <a:gs pos="64000">
                <a:srgbClr val="44ADFE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4656490" y="4234589"/>
            <a:ext cx="709724" cy="709724"/>
          </a:xfrm>
          <a:prstGeom prst="ellipse">
            <a:avLst/>
          </a:prstGeom>
          <a:gradFill>
            <a:gsLst>
              <a:gs pos="2000">
                <a:srgbClr val="FC9BE8"/>
              </a:gs>
              <a:gs pos="69000">
                <a:srgbClr val="ED1E79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 flipV="1">
            <a:off x="2425325" y="-3935886"/>
            <a:ext cx="7901274" cy="7901276"/>
            <a:chOff x="2565619" y="3071285"/>
            <a:chExt cx="7901274" cy="7901276"/>
          </a:xfrm>
        </p:grpSpPr>
        <p:sp>
          <p:nvSpPr>
            <p:cNvPr id="59" name="椭圆 58"/>
            <p:cNvSpPr>
              <a:spLocks noChangeAspect="1"/>
            </p:cNvSpPr>
            <p:nvPr/>
          </p:nvSpPr>
          <p:spPr>
            <a:xfrm rot="18000000">
              <a:off x="2565618" y="3071286"/>
              <a:ext cx="7901276" cy="7901274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0">
                    <a:srgbClr val="4DBEFE"/>
                  </a:gs>
                  <a:gs pos="34000">
                    <a:srgbClr val="4DBEFE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椭圆 60"/>
            <p:cNvSpPr>
              <a:spLocks noChangeAspect="1"/>
            </p:cNvSpPr>
            <p:nvPr/>
          </p:nvSpPr>
          <p:spPr>
            <a:xfrm rot="19842885">
              <a:off x="4296357" y="4608086"/>
              <a:ext cx="4421184" cy="4421184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0">
                    <a:srgbClr val="73E14F"/>
                  </a:gs>
                  <a:gs pos="34000">
                    <a:srgbClr val="73E14F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椭圆 63"/>
            <p:cNvSpPr>
              <a:spLocks noChangeAspect="1"/>
            </p:cNvSpPr>
            <p:nvPr/>
          </p:nvSpPr>
          <p:spPr>
            <a:xfrm rot="19800000">
              <a:off x="4845118" y="5358072"/>
              <a:ext cx="3176354" cy="3176350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0">
                    <a:srgbClr val="ED1E79"/>
                  </a:gs>
                  <a:gs pos="34000">
                    <a:srgbClr val="ED1E79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椭圆 64"/>
            <p:cNvSpPr>
              <a:spLocks noChangeAspect="1"/>
            </p:cNvSpPr>
            <p:nvPr/>
          </p:nvSpPr>
          <p:spPr>
            <a:xfrm rot="18522828">
              <a:off x="3511517" y="3823247"/>
              <a:ext cx="5990864" cy="5990862"/>
            </a:xfrm>
            <a:prstGeom prst="ellipse">
              <a:avLst/>
            </a:prstGeom>
            <a:noFill/>
            <a:ln w="19050">
              <a:gradFill flip="none" rotWithShape="1">
                <a:gsLst>
                  <a:gs pos="0">
                    <a:srgbClr val="FBC91B"/>
                  </a:gs>
                  <a:gs pos="34000">
                    <a:srgbClr val="FBC91B"/>
                  </a:gs>
                  <a:gs pos="65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矩形 70"/>
          <p:cNvSpPr/>
          <p:nvPr/>
        </p:nvSpPr>
        <p:spPr>
          <a:xfrm>
            <a:off x="4830940" y="4265253"/>
            <a:ext cx="3273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I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51315" y="4382927"/>
            <a:ext cx="3251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24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界面需优化</a:t>
            </a:r>
            <a:endParaRPr lang="en-US" altLang="zh-CN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526284" y="3974423"/>
            <a:ext cx="982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ED1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界  面</a:t>
            </a:r>
            <a:endParaRPr lang="en-US" altLang="zh-CN" sz="2400" b="1" dirty="0">
              <a:solidFill>
                <a:srgbClr val="ED1E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7053520" y="4316858"/>
            <a:ext cx="4667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F</a:t>
            </a:r>
            <a:endParaRPr lang="zh-CN" altLang="en-US" sz="1600" dirty="0">
              <a:solidFill>
                <a:prstClr val="white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885941" y="4473684"/>
            <a:ext cx="3251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完善系统功能</a:t>
            </a:r>
            <a:endParaRPr lang="en-US" altLang="zh-CN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57094" y="4017665"/>
            <a:ext cx="1074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EC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功  能</a:t>
            </a:r>
            <a:r>
              <a:rPr lang="en-US" altLang="zh-CN" sz="2400" b="1" dirty="0">
                <a:solidFill>
                  <a:srgbClr val="FFC00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1" name="椭圆 100"/>
          <p:cNvSpPr/>
          <p:nvPr/>
        </p:nvSpPr>
        <p:spPr>
          <a:xfrm>
            <a:off x="7445681" y="5722338"/>
            <a:ext cx="720000" cy="720000"/>
          </a:xfrm>
          <a:prstGeom prst="ellipse">
            <a:avLst/>
          </a:prstGeom>
          <a:gradFill>
            <a:gsLst>
              <a:gs pos="0">
                <a:srgbClr val="FCD320"/>
              </a:gs>
              <a:gs pos="100000">
                <a:srgbClr val="F07D0D"/>
              </a:gs>
              <a:gs pos="64000">
                <a:srgbClr val="FABA15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7542627" y="5732883"/>
            <a:ext cx="52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A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8381814" y="5849544"/>
            <a:ext cx="3251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优化算法，减少系统响应时间</a:t>
            </a:r>
            <a:endParaRPr lang="en-US" altLang="zh-CN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381814" y="5407062"/>
            <a:ext cx="1032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  法</a:t>
            </a:r>
            <a:endParaRPr lang="en-US" altLang="zh-CN" sz="2400" b="1" dirty="0">
              <a:solidFill>
                <a:srgbClr val="FBCB1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231576" y="5724255"/>
            <a:ext cx="52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000" dirty="0">
                <a:solidFill>
                  <a:prstClr val="white"/>
                </a:solidFill>
                <a:latin typeface="Arial" panose="020B0604020202020204" pitchFamily="34" charset="0"/>
                <a:ea typeface="经典行楷繁" panose="02010609000101010101" pitchFamily="49" charset="-122"/>
                <a:cs typeface="Arial" panose="020B0604020202020204" pitchFamily="34" charset="0"/>
              </a:rPr>
              <a:t>P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64202" y="5821695"/>
            <a:ext cx="3251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24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性能待提高，尽量把加载放在后台</a:t>
            </a:r>
            <a:endParaRPr lang="en-US" altLang="zh-CN" sz="240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3045431" y="5402700"/>
            <a:ext cx="982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3E1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性  能</a:t>
            </a:r>
            <a:endParaRPr lang="en-US" altLang="zh-CN" sz="2400" b="1" dirty="0">
              <a:solidFill>
                <a:srgbClr val="73E1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9369384" y="1633281"/>
            <a:ext cx="2520834" cy="1862048"/>
            <a:chOff x="6370528" y="118446"/>
            <a:chExt cx="2520834" cy="1862048"/>
          </a:xfrm>
        </p:grpSpPr>
        <p:sp>
          <p:nvSpPr>
            <p:cNvPr id="112" name="矩形 111"/>
            <p:cNvSpPr/>
            <p:nvPr/>
          </p:nvSpPr>
          <p:spPr>
            <a:xfrm>
              <a:off x="6370528" y="118446"/>
              <a:ext cx="2095445" cy="1862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改</a:t>
              </a:r>
              <a:r>
                <a:rPr lang="en-US" altLang="zh-CN" sz="11500" dirty="0">
                  <a:solidFill>
                    <a:prstClr val="white">
                      <a:alpha val="27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lang="zh-CN" altLang="en-US" sz="6000" dirty="0">
                <a:solidFill>
                  <a:prstClr val="white">
                    <a:alpha val="27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7122908" y="817239"/>
              <a:ext cx="17684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改 进 </a:t>
              </a:r>
              <a:r>
                <a:rPr lang="en-US" altLang="zh-CN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 rot="8100000">
            <a:off x="5026727" y="3873846"/>
            <a:ext cx="3536264" cy="2446928"/>
            <a:chOff x="2565080" y="2929680"/>
            <a:chExt cx="3716269" cy="2571483"/>
          </a:xfrm>
        </p:grpSpPr>
        <p:sp>
          <p:nvSpPr>
            <p:cNvPr id="116" name="等腰三角形 115"/>
            <p:cNvSpPr/>
            <p:nvPr/>
          </p:nvSpPr>
          <p:spPr>
            <a:xfrm rot="10110591">
              <a:off x="4947908" y="458645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等腰三角形 117"/>
            <p:cNvSpPr/>
            <p:nvPr/>
          </p:nvSpPr>
          <p:spPr>
            <a:xfrm rot="10110591">
              <a:off x="5138696" y="292968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等腰三角形 118"/>
            <p:cNvSpPr/>
            <p:nvPr/>
          </p:nvSpPr>
          <p:spPr>
            <a:xfrm rot="10110591">
              <a:off x="4849527" y="3798414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等腰三角形 120"/>
            <p:cNvSpPr/>
            <p:nvPr/>
          </p:nvSpPr>
          <p:spPr>
            <a:xfrm rot="10110591">
              <a:off x="2565080" y="5144586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等腰三角形 121"/>
            <p:cNvSpPr/>
            <p:nvPr/>
          </p:nvSpPr>
          <p:spPr>
            <a:xfrm rot="10110591">
              <a:off x="5867721" y="378955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 rot="10800000">
            <a:off x="1496190" y="1663331"/>
            <a:ext cx="6471916" cy="1547937"/>
            <a:chOff x="2377292" y="5191266"/>
            <a:chExt cx="6471916" cy="1547937"/>
          </a:xfrm>
        </p:grpSpPr>
        <p:sp>
          <p:nvSpPr>
            <p:cNvPr id="124" name="等腰三角形 123"/>
            <p:cNvSpPr/>
            <p:nvPr/>
          </p:nvSpPr>
          <p:spPr>
            <a:xfrm rot="6510591">
              <a:off x="7009899" y="5370056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5" name="等腰三角形 124"/>
            <p:cNvSpPr/>
            <p:nvPr/>
          </p:nvSpPr>
          <p:spPr>
            <a:xfrm rot="6510591">
              <a:off x="2364146" y="6561728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8" name="等腰三角形 127"/>
            <p:cNvSpPr/>
            <p:nvPr/>
          </p:nvSpPr>
          <p:spPr>
            <a:xfrm rot="10110591">
              <a:off x="6147257" y="6014552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0" name="等腰三角形 129"/>
            <p:cNvSpPr/>
            <p:nvPr/>
          </p:nvSpPr>
          <p:spPr>
            <a:xfrm rot="10110591">
              <a:off x="4341370" y="519126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2" name="等腰三角形 131"/>
            <p:cNvSpPr/>
            <p:nvPr/>
          </p:nvSpPr>
          <p:spPr>
            <a:xfrm rot="10110591">
              <a:off x="8235964" y="578043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3" name="椭圆 42"/>
          <p:cNvSpPr/>
          <p:nvPr/>
        </p:nvSpPr>
        <p:spPr>
          <a:xfrm>
            <a:off x="7327263" y="5603920"/>
            <a:ext cx="956836" cy="956836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4537933" y="4116032"/>
            <a:ext cx="946839" cy="946839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4021210" y="5601913"/>
            <a:ext cx="946839" cy="946839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6813499" y="4153167"/>
            <a:ext cx="946839" cy="946839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40323" y="266998"/>
            <a:ext cx="828000" cy="923330"/>
            <a:chOff x="2568284" y="1415206"/>
            <a:chExt cx="1873715" cy="2089445"/>
          </a:xfrm>
        </p:grpSpPr>
        <p:sp>
          <p:nvSpPr>
            <p:cNvPr id="50" name="矩形 49"/>
            <p:cNvSpPr/>
            <p:nvPr/>
          </p:nvSpPr>
          <p:spPr>
            <a:xfrm>
              <a:off x="2904426" y="1415206"/>
              <a:ext cx="1201431" cy="2089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5400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5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 rot="13500000">
              <a:off x="2568283" y="1548172"/>
              <a:ext cx="1873718" cy="1873715"/>
            </a:xfrm>
            <a:prstGeom prst="ellipse">
              <a:avLst/>
            </a:prstGeom>
            <a:noFill/>
            <a:ln w="31750">
              <a:gradFill flip="none" rotWithShape="1">
                <a:gsLst>
                  <a:gs pos="0">
                    <a:schemeClr val="bg1"/>
                  </a:gs>
                  <a:gs pos="34000">
                    <a:schemeClr val="bg1"/>
                  </a:gs>
                  <a:gs pos="81000">
                    <a:srgbClr val="1F203F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1080397" y="438589"/>
            <a:ext cx="408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reesiaUPC" panose="020B0604020202020204" pitchFamily="34" charset="-34"/>
              </a:rPr>
              <a:t>后期改进</a:t>
            </a:r>
          </a:p>
        </p:txBody>
      </p:sp>
    </p:spTree>
    <p:extLst>
      <p:ext uri="{BB962C8B-B14F-4D97-AF65-F5344CB8AC3E}">
        <p14:creationId xmlns:p14="http://schemas.microsoft.com/office/powerpoint/2010/main" val="109014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 tmFilter="0,0; .5, 1; 1, 1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 tmFilter="0,0; .5, 1; 1, 1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 tmFilter="0,0; .5, 1; 1, 1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 tmFilter="0,0; .5, 1; 1, 1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 tmFilter="0,0; .5, 1; 1, 1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 tmFilter="0,0; .5, 1; 1, 1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 tmFilter="0,0; .5, 1; 1, 1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3" presetClass="entr" presetSubtype="36" fill="hold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1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8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21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8" presetClass="emph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10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6" grpId="0" animBg="1"/>
      <p:bldP spid="67" grpId="0" animBg="1"/>
      <p:bldP spid="94" grpId="0"/>
      <p:bldP spid="95" grpId="0"/>
      <p:bldP spid="99" grpId="0"/>
      <p:bldP spid="100" grpId="0"/>
      <p:bldP spid="101" grpId="0" animBg="1"/>
      <p:bldP spid="104" grpId="0"/>
      <p:bldP spid="105" grpId="0"/>
      <p:bldP spid="109" grpId="0"/>
      <p:bldP spid="110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/>
          <p:cNvSpPr/>
          <p:nvPr/>
        </p:nvSpPr>
        <p:spPr>
          <a:xfrm>
            <a:off x="7776305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4DBEFE"/>
                </a:gs>
                <a:gs pos="34000">
                  <a:srgbClr val="4DBEFE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372395" y="6200778"/>
            <a:ext cx="254858" cy="254858"/>
            <a:chOff x="6534676" y="6012294"/>
            <a:chExt cx="497608" cy="497608"/>
          </a:xfrm>
        </p:grpSpPr>
        <p:sp>
          <p:nvSpPr>
            <p:cNvPr id="49" name="椭圆 48"/>
            <p:cNvSpPr/>
            <p:nvPr/>
          </p:nvSpPr>
          <p:spPr>
            <a:xfrm>
              <a:off x="6534676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6625866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FCD320"/>
                </a:gs>
                <a:gs pos="100000">
                  <a:srgbClr val="F07D0D"/>
                </a:gs>
                <a:gs pos="64000">
                  <a:srgbClr val="FABA15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127017" y="6200778"/>
            <a:ext cx="254858" cy="254858"/>
            <a:chOff x="7615142" y="6012294"/>
            <a:chExt cx="497608" cy="497608"/>
          </a:xfrm>
        </p:grpSpPr>
        <p:sp>
          <p:nvSpPr>
            <p:cNvPr id="52" name="椭圆 51"/>
            <p:cNvSpPr/>
            <p:nvPr/>
          </p:nvSpPr>
          <p:spPr>
            <a:xfrm>
              <a:off x="7615142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706333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57D3FF"/>
                </a:gs>
                <a:gs pos="100000">
                  <a:srgbClr val="5D63FE"/>
                </a:gs>
                <a:gs pos="64000">
                  <a:srgbClr val="44ADF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617774" y="6200778"/>
            <a:ext cx="254858" cy="254858"/>
            <a:chOff x="5363019" y="6012294"/>
            <a:chExt cx="497608" cy="497608"/>
          </a:xfrm>
        </p:grpSpPr>
        <p:sp>
          <p:nvSpPr>
            <p:cNvPr id="55" name="椭圆 54"/>
            <p:cNvSpPr/>
            <p:nvPr/>
          </p:nvSpPr>
          <p:spPr>
            <a:xfrm>
              <a:off x="5363019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5454210" y="6103485"/>
              <a:ext cx="315226" cy="315226"/>
            </a:xfrm>
            <a:prstGeom prst="ellipse">
              <a:avLst/>
            </a:prstGeom>
            <a:gradFill>
              <a:gsLst>
                <a:gs pos="0">
                  <a:srgbClr val="73E14F"/>
                </a:gs>
                <a:gs pos="100000">
                  <a:srgbClr val="0FA51E"/>
                </a:gs>
                <a:gs pos="64000">
                  <a:srgbClr val="41C52D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2437137" y="3613152"/>
            <a:ext cx="7591220" cy="1653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6000" spc="600" dirty="0">
                <a:solidFill>
                  <a:srgbClr val="ED1E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致谢</a:t>
            </a:r>
            <a:endParaRPr lang="en-US" altLang="zh-CN" sz="6000" spc="600" dirty="0">
              <a:solidFill>
                <a:srgbClr val="ED1E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000" spc="600" dirty="0" err="1">
                <a:solidFill>
                  <a:srgbClr val="4DBE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xxxxxxxxxxxxxxxxxxxxxxxxxxxxxx</a:t>
            </a:r>
            <a:endParaRPr lang="zh-CN" altLang="en-US" sz="2000" spc="600" dirty="0">
              <a:solidFill>
                <a:srgbClr val="4DBEF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519880" y="5769862"/>
            <a:ext cx="3192469" cy="453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软酷</a:t>
            </a:r>
            <a:r>
              <a:rPr lang="en-US" altLang="zh-CN" sz="20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0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  <a:r>
              <a:rPr lang="en-US" altLang="zh-CN" sz="20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rgbClr val="FBCB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</a:t>
            </a:r>
          </a:p>
        </p:txBody>
      </p:sp>
      <p:sp>
        <p:nvSpPr>
          <p:cNvPr id="59" name="矩形 58"/>
          <p:cNvSpPr/>
          <p:nvPr/>
        </p:nvSpPr>
        <p:spPr>
          <a:xfrm>
            <a:off x="2546774" y="1932874"/>
            <a:ext cx="14157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ED1E79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软</a:t>
            </a:r>
          </a:p>
        </p:txBody>
      </p:sp>
      <p:sp>
        <p:nvSpPr>
          <p:cNvPr id="60" name="矩形 59"/>
          <p:cNvSpPr/>
          <p:nvPr/>
        </p:nvSpPr>
        <p:spPr>
          <a:xfrm>
            <a:off x="4430419" y="1988183"/>
            <a:ext cx="14157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60D74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酷</a:t>
            </a:r>
            <a:endParaRPr lang="zh-CN" altLang="en-US" sz="96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90900" y="1772976"/>
            <a:ext cx="960519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0" b="1" dirty="0">
                <a:solidFill>
                  <a:srgbClr val="FBCB1D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endParaRPr lang="zh-CN" altLang="en-US" sz="120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165635" y="1957642"/>
            <a:ext cx="14157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600" b="1" dirty="0">
                <a:solidFill>
                  <a:srgbClr val="4DBEFE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贷</a:t>
            </a:r>
            <a:endParaRPr lang="zh-CN" altLang="en-US" sz="96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863153" y="6200778"/>
            <a:ext cx="254858" cy="254858"/>
            <a:chOff x="4191362" y="6012294"/>
            <a:chExt cx="497608" cy="497608"/>
          </a:xfrm>
        </p:grpSpPr>
        <p:sp>
          <p:nvSpPr>
            <p:cNvPr id="64" name="椭圆 63"/>
            <p:cNvSpPr/>
            <p:nvPr/>
          </p:nvSpPr>
          <p:spPr>
            <a:xfrm>
              <a:off x="4191362" y="6012294"/>
              <a:ext cx="497608" cy="497608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4282553" y="6103485"/>
              <a:ext cx="315707" cy="315707"/>
            </a:xfrm>
            <a:prstGeom prst="ellipse">
              <a:avLst/>
            </a:prstGeom>
            <a:gradFill>
              <a:gsLst>
                <a:gs pos="0">
                  <a:srgbClr val="FC9BE8"/>
                </a:gs>
                <a:gs pos="98000">
                  <a:srgbClr val="ED1E79"/>
                </a:gs>
                <a:gs pos="43000">
                  <a:srgbClr val="FC61CE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椭圆 65"/>
          <p:cNvSpPr/>
          <p:nvPr/>
        </p:nvSpPr>
        <p:spPr>
          <a:xfrm>
            <a:off x="5894267" y="1772976"/>
            <a:ext cx="2112048" cy="2112048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FBCB1D"/>
                </a:gs>
                <a:gs pos="34000">
                  <a:srgbClr val="FBCB1D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4034295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73E14F"/>
                </a:gs>
                <a:gs pos="34000">
                  <a:srgbClr val="73E14F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2174323" y="1772976"/>
            <a:ext cx="2089982" cy="2089980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rgbClr val="ED1E79"/>
                </a:gs>
                <a:gs pos="34000">
                  <a:srgbClr val="ED1E79"/>
                </a:gs>
                <a:gs pos="65000">
                  <a:srgbClr val="1F203F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 rot="6300000">
            <a:off x="-702919" y="4320984"/>
            <a:ext cx="1932245" cy="3116676"/>
            <a:chOff x="5567770" y="1506822"/>
            <a:chExt cx="1932245" cy="3116676"/>
          </a:xfrm>
        </p:grpSpPr>
        <p:sp>
          <p:nvSpPr>
            <p:cNvPr id="29" name="等腰三角形 28"/>
            <p:cNvSpPr/>
            <p:nvPr/>
          </p:nvSpPr>
          <p:spPr>
            <a:xfrm rot="6510591" flipV="1">
              <a:off x="5642029" y="1538846"/>
              <a:ext cx="234194" cy="170145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0110591">
              <a:off x="6195798" y="2364753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6510591" flipV="1">
              <a:off x="7275814" y="2354672"/>
              <a:ext cx="240808" cy="207595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110591">
              <a:off x="5567770" y="2343063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3810591">
              <a:off x="5653535" y="4391815"/>
              <a:ext cx="248844" cy="214521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等腰三角形 35"/>
            <p:cNvSpPr/>
            <p:nvPr/>
          </p:nvSpPr>
          <p:spPr>
            <a:xfrm rot="10110591">
              <a:off x="6458960" y="154973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>
            <a:xfrm rot="10110591">
              <a:off x="6626144" y="3109100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14400000">
            <a:off x="10175956" y="-496741"/>
            <a:ext cx="3130315" cy="3002665"/>
            <a:chOff x="5297230" y="3714929"/>
            <a:chExt cx="3130315" cy="3002665"/>
          </a:xfrm>
        </p:grpSpPr>
        <p:sp>
          <p:nvSpPr>
            <p:cNvPr id="39" name="等腰三角形 38"/>
            <p:cNvSpPr/>
            <p:nvPr/>
          </p:nvSpPr>
          <p:spPr>
            <a:xfrm rot="6510591">
              <a:off x="7006963" y="4912120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等腰三角形 39"/>
            <p:cNvSpPr/>
            <p:nvPr/>
          </p:nvSpPr>
          <p:spPr>
            <a:xfrm rot="6510591">
              <a:off x="8240365" y="4133729"/>
              <a:ext cx="190621" cy="164329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rot="10110591">
              <a:off x="5432127" y="433606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10110591">
              <a:off x="6616125" y="6361017"/>
              <a:ext cx="413628" cy="356577"/>
            </a:xfrm>
            <a:prstGeom prst="triangle">
              <a:avLst>
                <a:gd name="adj" fmla="val 37166"/>
              </a:avLst>
            </a:prstGeom>
            <a:solidFill>
              <a:srgbClr val="FBCB1D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等腰三角形 42"/>
            <p:cNvSpPr/>
            <p:nvPr/>
          </p:nvSpPr>
          <p:spPr>
            <a:xfrm rot="3810591">
              <a:off x="7577708" y="5881425"/>
              <a:ext cx="157911" cy="136130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rot="10110591">
              <a:off x="6223097" y="5278982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rot="10110591">
              <a:off x="5297230" y="6084810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4EC0F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10110591">
              <a:off x="7814301" y="5660216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73E14F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/>
            <p:cNvSpPr/>
            <p:nvPr/>
          </p:nvSpPr>
          <p:spPr>
            <a:xfrm rot="10110591">
              <a:off x="7220974" y="3714929"/>
              <a:ext cx="613244" cy="528664"/>
            </a:xfrm>
            <a:prstGeom prst="triangle">
              <a:avLst>
                <a:gd name="adj" fmla="val 37166"/>
              </a:avLst>
            </a:prstGeom>
            <a:solidFill>
              <a:srgbClr val="ED1E79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36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0" presetClass="entr" presetSubtype="0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3" presetClass="entr" presetSubtype="3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57" grpId="0"/>
      <p:bldP spid="58" grpId="0"/>
      <p:bldP spid="59" grpId="0"/>
      <p:bldP spid="60" grpId="0"/>
      <p:bldP spid="61" grpId="0"/>
      <p:bldP spid="62" grpId="0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df9bd132afbef469e35a46b685941d6814c1b7f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2577</TotalTime>
  <Words>597</Words>
  <Application>Microsoft Office PowerPoint</Application>
  <PresentationFormat>宽屏</PresentationFormat>
  <Paragraphs>173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 Unicode MS</vt:lpstr>
      <vt:lpstr>黑体</vt:lpstr>
      <vt:lpstr>微软雅黑</vt:lpstr>
      <vt:lpstr>Agency FB</vt:lpstr>
      <vt:lpstr>Arial</vt:lpstr>
      <vt:lpstr>Calibri</vt:lpstr>
      <vt:lpstr>Calibri Light</vt:lpstr>
      <vt:lpstr>FreesiaUPC</vt:lpstr>
      <vt:lpstr>Impact</vt:lpstr>
      <vt:lpstr>Times New Roman</vt:lpstr>
      <vt:lpstr>1_Office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孙 剑桥</cp:lastModifiedBy>
  <cp:revision>113</cp:revision>
  <dcterms:created xsi:type="dcterms:W3CDTF">2016-04-28T15:43:26Z</dcterms:created>
  <dcterms:modified xsi:type="dcterms:W3CDTF">2023-08-11T00:40:20Z</dcterms:modified>
</cp:coreProperties>
</file>